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0" r:id="rId1"/>
  </p:sldMasterIdLst>
  <p:notesMasterIdLst>
    <p:notesMasterId r:id="rId3"/>
  </p:notesMasterIdLst>
  <p:sldIdLst>
    <p:sldId id="256" r:id="rId2"/>
  </p:sldIdLst>
  <p:sldSz cx="32918400" cy="32918400"/>
  <p:notesSz cx="7004050" cy="929005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000000"/>
          </p15:clr>
        </p15:guide>
        <p15:guide id="2" pos="10368">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9B11DEB-4ABE-4F2E-9639-77D60ED71ED8}">
  <a:tblStyle styleId="{89B11DEB-4ABE-4F2E-9639-77D60ED71ED8}"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FF3E9"/>
          </a:solidFill>
        </a:fill>
      </a:tcStyle>
    </a:wholeTbl>
    <a:band1H>
      <a:tcTxStyle b="off" i="off"/>
      <a:tcStyle>
        <a:tcBdr/>
        <a:fill>
          <a:solidFill>
            <a:srgbClr val="DEE7D0"/>
          </a:solidFill>
        </a:fill>
      </a:tcStyle>
    </a:band1H>
    <a:band2H>
      <a:tcTxStyle b="off" i="off"/>
      <a:tcStyle>
        <a:tcBdr/>
      </a:tcStyle>
    </a:band2H>
    <a:band1V>
      <a:tcTxStyle b="off" i="off"/>
      <a:tcStyle>
        <a:tcBdr/>
        <a:fill>
          <a:solidFill>
            <a:srgbClr val="DEE7D0"/>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3"/>
          </a:solidFill>
        </a:fill>
      </a:tcStyle>
    </a:lastCol>
    <a:firstCol>
      <a:tcTxStyle b="on" i="off">
        <a:font>
          <a:latin typeface="Calibri"/>
          <a:ea typeface="Calibri"/>
          <a:cs typeface="Calibri"/>
        </a:font>
        <a:schemeClr val="lt1"/>
      </a:tcTxStyle>
      <a:tcStyle>
        <a:tcBdr/>
        <a:fill>
          <a:solidFill>
            <a:schemeClr val="accent3"/>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b="off" i="off"/>
      <a:tcStyle>
        <a:tcBdr/>
      </a:tcStyle>
    </a:neCell>
    <a:nwCell>
      <a:tcTxStyle b="off" i="off"/>
      <a:tcStyle>
        <a:tcBdr/>
      </a:tcStyle>
    </a:nwCell>
  </a:tblStyle>
  <a:tblStyle styleId="{DCA521C7-D5FB-4872-B174-9E1EB87AC3F8}" styleName="Table_1">
    <a:wholeTbl>
      <a:tcTxStyle b="off" i="off">
        <a:font>
          <a:latin typeface="Arial"/>
          <a:ea typeface="Arial"/>
          <a:cs typeface="Arial"/>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dk1"/>
              </a:solidFill>
              <a:prstDash val="solid"/>
              <a:round/>
              <a:headEnd type="none" w="sm" len="sm"/>
              <a:tailEnd type="none" w="sm" len="sm"/>
            </a:ln>
          </a:top>
        </a:tcBdr>
        <a:fill>
          <a:solidFill>
            <a:srgbClr val="E6E6E6"/>
          </a:solidFill>
        </a:fill>
      </a:tcStyle>
    </a:lastRow>
    <a:seCell>
      <a:tcTxStyle/>
      <a:tcStyle>
        <a:tcBdr/>
      </a:tcStyle>
    </a:seCell>
    <a:swCell>
      <a:tcTxStyle/>
      <a:tcStyle>
        <a:tcBdr/>
      </a:tcStyle>
    </a:swCell>
    <a:firstRow>
      <a:tcTxStyle b="on" i="off"/>
      <a:tcStyle>
        <a:tcBdr/>
        <a:fill>
          <a:solidFill>
            <a:srgbClr val="E6E6E6"/>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42" d="100"/>
          <a:sy n="42" d="100"/>
        </p:scale>
        <p:origin x="-1786" y="-1690"/>
      </p:cViewPr>
      <p:guideLst>
        <p:guide orient="horz" pos="10368"/>
        <p:guide pos="103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67575" y="696750"/>
            <a:ext cx="4669600" cy="3483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0400" y="4412750"/>
            <a:ext cx="5603225" cy="41805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1:notes"/>
          <p:cNvSpPr txBox="1">
            <a:spLocks noGrp="1"/>
          </p:cNvSpPr>
          <p:nvPr>
            <p:ph type="body" idx="1"/>
          </p:nvPr>
        </p:nvSpPr>
        <p:spPr>
          <a:xfrm>
            <a:off x="700400" y="4412750"/>
            <a:ext cx="5603225" cy="4180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 name="Google Shape;29;p1:notes"/>
          <p:cNvSpPr>
            <a:spLocks noGrp="1" noRot="1" noChangeAspect="1"/>
          </p:cNvSpPr>
          <p:nvPr>
            <p:ph type="sldImg" idx="2"/>
          </p:nvPr>
        </p:nvSpPr>
        <p:spPr>
          <a:xfrm>
            <a:off x="1760538" y="696913"/>
            <a:ext cx="3482975" cy="34829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sp>
        <p:nvSpPr>
          <p:cNvPr id="12" name="Google Shape;12;p2"/>
          <p:cNvSpPr/>
          <p:nvPr/>
        </p:nvSpPr>
        <p:spPr>
          <a:xfrm>
            <a:off x="32278320" y="0"/>
            <a:ext cx="640080" cy="32918400"/>
          </a:xfrm>
          <a:prstGeom prst="rect">
            <a:avLst/>
          </a:prstGeom>
          <a:solidFill>
            <a:srgbClr val="D6E3BC"/>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6400"/>
              <a:buFont typeface="Arial"/>
              <a:buNone/>
            </a:pPr>
            <a:endParaRPr sz="6400" b="0" i="0" u="none" strike="noStrike" cap="none">
              <a:solidFill>
                <a:schemeClr val="lt1"/>
              </a:solidFill>
              <a:latin typeface="Calibri"/>
              <a:ea typeface="Calibri"/>
              <a:cs typeface="Calibri"/>
              <a:sym typeface="Calibri"/>
            </a:endParaRPr>
          </a:p>
        </p:txBody>
      </p:sp>
      <p:sp>
        <p:nvSpPr>
          <p:cNvPr id="13" name="Google Shape;13;p2"/>
          <p:cNvSpPr/>
          <p:nvPr/>
        </p:nvSpPr>
        <p:spPr>
          <a:xfrm>
            <a:off x="-2" y="0"/>
            <a:ext cx="640080" cy="32918400"/>
          </a:xfrm>
          <a:prstGeom prst="rect">
            <a:avLst/>
          </a:prstGeom>
          <a:solidFill>
            <a:srgbClr val="D6E3BC"/>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6400"/>
              <a:buFont typeface="Arial"/>
              <a:buNone/>
            </a:pPr>
            <a:endParaRPr sz="6400" b="0" i="0" u="none" strike="noStrike" cap="none">
              <a:solidFill>
                <a:schemeClr val="lt1"/>
              </a:solidFill>
              <a:latin typeface="Calibri"/>
              <a:ea typeface="Calibri"/>
              <a:cs typeface="Calibri"/>
              <a:sym typeface="Calibri"/>
            </a:endParaRPr>
          </a:p>
        </p:txBody>
      </p:sp>
      <p:sp>
        <p:nvSpPr>
          <p:cNvPr id="14" name="Google Shape;14;p2"/>
          <p:cNvSpPr/>
          <p:nvPr/>
        </p:nvSpPr>
        <p:spPr>
          <a:xfrm>
            <a:off x="0" y="0"/>
            <a:ext cx="32918400" cy="4114800"/>
          </a:xfrm>
          <a:prstGeom prst="rect">
            <a:avLst/>
          </a:prstGeom>
          <a:solidFill>
            <a:srgbClr val="366092"/>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6400"/>
              <a:buFont typeface="Arial"/>
              <a:buNone/>
            </a:pPr>
            <a:endParaRPr sz="6400" b="0" i="0" u="none" strike="noStrike" cap="none">
              <a:solidFill>
                <a:schemeClr val="lt1"/>
              </a:solidFill>
              <a:latin typeface="Calibri"/>
              <a:ea typeface="Calibri"/>
              <a:cs typeface="Calibri"/>
              <a:sym typeface="Calibri"/>
            </a:endParaRPr>
          </a:p>
        </p:txBody>
      </p:sp>
      <p:sp>
        <p:nvSpPr>
          <p:cNvPr id="15" name="Google Shape;15;p2"/>
          <p:cNvSpPr/>
          <p:nvPr/>
        </p:nvSpPr>
        <p:spPr>
          <a:xfrm>
            <a:off x="0" y="28803600"/>
            <a:ext cx="32918400" cy="4114800"/>
          </a:xfrm>
          <a:prstGeom prst="rect">
            <a:avLst/>
          </a:prstGeom>
          <a:solidFill>
            <a:srgbClr val="B7CCE4"/>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6400"/>
              <a:buFont typeface="Arial"/>
              <a:buNone/>
            </a:pPr>
            <a:endParaRPr sz="6400" b="0" i="0" u="none" strike="noStrike" cap="none">
              <a:solidFill>
                <a:schemeClr val="lt1"/>
              </a:solidFill>
              <a:latin typeface="Calibri"/>
              <a:ea typeface="Calibri"/>
              <a:cs typeface="Calibri"/>
              <a:sym typeface="Calibri"/>
            </a:endParaRPr>
          </a:p>
        </p:txBody>
      </p:sp>
      <p:sp>
        <p:nvSpPr>
          <p:cNvPr id="16" name="Google Shape;16;p2"/>
          <p:cNvSpPr/>
          <p:nvPr/>
        </p:nvSpPr>
        <p:spPr>
          <a:xfrm>
            <a:off x="-10287000" y="0"/>
            <a:ext cx="9601200" cy="32918400"/>
          </a:xfrm>
          <a:prstGeom prst="rect">
            <a:avLst/>
          </a:prstGeom>
          <a:solidFill>
            <a:srgbClr val="D8D8D8"/>
          </a:solidFill>
          <a:ln>
            <a:noFill/>
          </a:ln>
        </p:spPr>
        <p:txBody>
          <a:bodyPr spcFirstLastPara="1" wrap="square" lIns="171400" tIns="171400" rIns="171400" bIns="171400" anchor="t" anchorCtr="0">
            <a:noAutofit/>
          </a:bodyPr>
          <a:lstStyle/>
          <a:p>
            <a:pPr marL="0" marR="0" lvl="0" indent="0" algn="l" rtl="0">
              <a:lnSpc>
                <a:spcPct val="100000"/>
              </a:lnSpc>
              <a:spcBef>
                <a:spcPts val="0"/>
              </a:spcBef>
              <a:spcAft>
                <a:spcPts val="0"/>
              </a:spcAft>
              <a:buClr>
                <a:srgbClr val="000000"/>
              </a:buClr>
              <a:buSzPts val="7200"/>
              <a:buFont typeface="Arial"/>
              <a:buNone/>
            </a:pPr>
            <a:r>
              <a:rPr lang="en-US" sz="7200" b="0" i="0" u="none" strike="noStrike" cap="none">
                <a:solidFill>
                  <a:srgbClr val="7F7F7F"/>
                </a:solidFill>
                <a:latin typeface="Calibri"/>
                <a:ea typeface="Calibri"/>
                <a:cs typeface="Calibri"/>
                <a:sym typeface="Calibri"/>
              </a:rPr>
              <a:t>Poster Print Size:</a:t>
            </a:r>
            <a:endParaRPr sz="7200" b="0" i="0" u="none" strike="noStrike" cap="none">
              <a:solidFill>
                <a:srgbClr val="7F7F7F"/>
              </a:solidFill>
              <a:latin typeface="Calibri"/>
              <a:ea typeface="Calibri"/>
              <a:cs typeface="Calibri"/>
              <a:sym typeface="Calibri"/>
            </a:endParaRPr>
          </a:p>
          <a:p>
            <a:pPr marL="0" marR="0" lvl="0" indent="0" algn="l" rtl="0">
              <a:lnSpc>
                <a:spcPct val="100000"/>
              </a:lnSpc>
              <a:spcBef>
                <a:spcPts val="1800"/>
              </a:spcBef>
              <a:spcAft>
                <a:spcPts val="0"/>
              </a:spcAft>
              <a:buClr>
                <a:srgbClr val="000000"/>
              </a:buClr>
              <a:buSzPts val="4900"/>
              <a:buFont typeface="Arial"/>
              <a:buNone/>
            </a:pPr>
            <a:r>
              <a:rPr lang="en-US" sz="4900" b="0" i="0" u="none" strike="noStrike" cap="none">
                <a:solidFill>
                  <a:srgbClr val="7F7F7F"/>
                </a:solidFill>
                <a:latin typeface="Calibri"/>
                <a:ea typeface="Calibri"/>
                <a:cs typeface="Calibri"/>
                <a:sym typeface="Calibri"/>
              </a:rPr>
              <a:t>This poster template is 36” high by 36” wide. It can be used to print any poster with a 1:1 aspect ratio.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000000"/>
              </a:buClr>
              <a:buSzPts val="7200"/>
              <a:buFont typeface="Arial"/>
              <a:buNone/>
            </a:pPr>
            <a:r>
              <a:rPr lang="en-US" sz="7200" b="0" i="0" u="none" strike="noStrike" cap="none">
                <a:solidFill>
                  <a:srgbClr val="7F7F7F"/>
                </a:solidFill>
                <a:latin typeface="Calibri"/>
                <a:ea typeface="Calibri"/>
                <a:cs typeface="Calibri"/>
                <a:sym typeface="Calibri"/>
              </a:rPr>
              <a:t>Placeholders:</a:t>
            </a:r>
            <a:endParaRPr sz="7200" b="0" i="0" u="none" strike="noStrike" cap="none">
              <a:solidFill>
                <a:srgbClr val="7F7F7F"/>
              </a:solidFill>
              <a:latin typeface="Calibri"/>
              <a:ea typeface="Calibri"/>
              <a:cs typeface="Calibri"/>
              <a:sym typeface="Calibri"/>
            </a:endParaRPr>
          </a:p>
          <a:p>
            <a:pPr marL="0" marR="0" lvl="0" indent="0" algn="l" rtl="0">
              <a:lnSpc>
                <a:spcPct val="100000"/>
              </a:lnSpc>
              <a:spcBef>
                <a:spcPts val="1800"/>
              </a:spcBef>
              <a:spcAft>
                <a:spcPts val="0"/>
              </a:spcAft>
              <a:buClr>
                <a:srgbClr val="000000"/>
              </a:buClr>
              <a:buSzPts val="4900"/>
              <a:buFont typeface="Arial"/>
              <a:buNone/>
            </a:pPr>
            <a:r>
              <a:rPr lang="en-US" sz="4900" b="0" i="0" u="none" strike="noStrike" cap="none">
                <a:solidFill>
                  <a:srgbClr val="7F7F7F"/>
                </a:solidFill>
                <a:latin typeface="Calibri"/>
                <a:ea typeface="Calibri"/>
                <a:cs typeface="Calibri"/>
                <a:sym typeface="Calibri"/>
              </a:rP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000000"/>
              </a:buClr>
              <a:buSzPts val="7200"/>
              <a:buFont typeface="Arial"/>
              <a:buNone/>
            </a:pPr>
            <a:r>
              <a:rPr lang="en-US" sz="7200" b="0" i="0" u="none" strike="noStrike" cap="none">
                <a:solidFill>
                  <a:srgbClr val="7F7F7F"/>
                </a:solidFill>
                <a:latin typeface="Calibri"/>
                <a:ea typeface="Calibri"/>
                <a:cs typeface="Calibri"/>
                <a:sym typeface="Calibri"/>
              </a:rPr>
              <a:t>Image Quality: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000000"/>
              </a:buClr>
              <a:buSzPts val="4900"/>
              <a:buFont typeface="Arial"/>
              <a:buNone/>
            </a:pPr>
            <a:r>
              <a:rPr lang="en-US" sz="4900" b="0" i="0" u="none" strike="noStrike" cap="none">
                <a:solidFill>
                  <a:srgbClr val="7F7F7F"/>
                </a:solidFill>
                <a:latin typeface="Calibri"/>
                <a:ea typeface="Calibri"/>
                <a:cs typeface="Calibri"/>
                <a:sym typeface="Calibri"/>
              </a:rPr>
              <a:t>You can place digital photos or logo art in your poster file by selecting the </a:t>
            </a:r>
            <a:r>
              <a:rPr lang="en-US" sz="4900" b="1" i="0" u="none" strike="noStrike" cap="none">
                <a:solidFill>
                  <a:srgbClr val="7F7F7F"/>
                </a:solidFill>
                <a:latin typeface="Calibri"/>
                <a:ea typeface="Calibri"/>
                <a:cs typeface="Calibri"/>
                <a:sym typeface="Calibri"/>
              </a:rPr>
              <a:t>Insert, Picture</a:t>
            </a:r>
            <a:r>
              <a:rPr lang="en-US" sz="4900" b="0" i="0" u="none" strike="noStrike" cap="none">
                <a:solidFill>
                  <a:srgbClr val="7F7F7F"/>
                </a:solidFill>
                <a:latin typeface="Calibri"/>
                <a:ea typeface="Calibri"/>
                <a:cs typeface="Calibri"/>
                <a:sym typeface="Calibri"/>
              </a:rPr>
              <a:t> command, or by using standard copy &amp; paste. For best results, all graphic elements should be at least </a:t>
            </a:r>
            <a:r>
              <a:rPr lang="en-US" sz="4900" b="1" i="0" u="none" strike="noStrike" cap="none">
                <a:solidFill>
                  <a:srgbClr val="7F7F7F"/>
                </a:solidFill>
                <a:latin typeface="Calibri"/>
                <a:ea typeface="Calibri"/>
                <a:cs typeface="Calibri"/>
                <a:sym typeface="Calibri"/>
              </a:rPr>
              <a:t>150-200 pixels per inch in their final printed size</a:t>
            </a:r>
            <a:r>
              <a:rPr lang="en-US" sz="4900" b="0" i="0" u="none" strike="noStrike" cap="none">
                <a:solidFill>
                  <a:srgbClr val="7F7F7F"/>
                </a:solidFill>
                <a:latin typeface="Calibri"/>
                <a:ea typeface="Calibri"/>
                <a:cs typeface="Calibri"/>
                <a:sym typeface="Calibri"/>
              </a:rPr>
              <a:t>. For instance, a 1600 x 1200 pixel photo will usually look fine up to 8“-10” wide on your printed poster.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000000"/>
              </a:buClr>
              <a:buSzPts val="4900"/>
              <a:buFont typeface="Arial"/>
              <a:buNone/>
            </a:pPr>
            <a:r>
              <a:rPr lang="en-US" sz="4900" b="0" i="0" u="none" strike="noStrike" cap="none">
                <a:solidFill>
                  <a:srgbClr val="7F7F7F"/>
                </a:solidFill>
                <a:latin typeface="Calibri"/>
                <a:ea typeface="Calibri"/>
                <a:cs typeface="Calibri"/>
                <a:sym typeface="Calibri"/>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000000"/>
              </a:buClr>
              <a:buSzPts val="4900"/>
              <a:buFont typeface="Arial"/>
              <a:buNone/>
            </a:pPr>
            <a:r>
              <a:rPr lang="en-US" sz="4900" b="0" i="0" u="none" strike="noStrike" cap="none">
                <a:solidFill>
                  <a:srgbClr val="7F7F7F"/>
                </a:solidFill>
                <a:latin typeface="Calibri"/>
                <a:ea typeface="Calibri"/>
                <a:cs typeface="Calibri"/>
                <a:sym typeface="Calibri"/>
              </a:rPr>
              <a:t>Please note that graphics from websites (such as the logo on your hospital's or university's home page) will only be 72dpi and not suitable for printing.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1800"/>
              </a:spcBef>
              <a:spcAft>
                <a:spcPts val="0"/>
              </a:spcAft>
              <a:buClr>
                <a:srgbClr val="000000"/>
              </a:buClr>
              <a:buSzPts val="3600"/>
              <a:buFont typeface="Arial"/>
              <a:buNone/>
            </a:pPr>
            <a:r>
              <a:rPr lang="en-US" sz="3600" b="0" i="0" u="none" strike="noStrike" cap="none">
                <a:solidFill>
                  <a:srgbClr val="7F7F7F"/>
                </a:solidFill>
                <a:latin typeface="Calibri"/>
                <a:ea typeface="Calibri"/>
                <a:cs typeface="Calibri"/>
                <a:sym typeface="Calibri"/>
              </a:rPr>
              <a:t/>
            </a:r>
            <a:br>
              <a:rPr lang="en-US" sz="3600" b="0" i="0" u="none" strike="noStrike" cap="none">
                <a:solidFill>
                  <a:srgbClr val="7F7F7F"/>
                </a:solidFill>
                <a:latin typeface="Calibri"/>
                <a:ea typeface="Calibri"/>
                <a:cs typeface="Calibri"/>
                <a:sym typeface="Calibri"/>
              </a:rPr>
            </a:br>
            <a:r>
              <a:rPr lang="en-US" sz="3600" b="0" i="0" u="none" strike="noStrike" cap="none">
                <a:solidFill>
                  <a:srgbClr val="7F7F7F"/>
                </a:solidFill>
                <a:latin typeface="Calibri"/>
                <a:ea typeface="Calibri"/>
                <a:cs typeface="Calibri"/>
                <a:sym typeface="Calibri"/>
              </a:rPr>
              <a:t>[This sidebar area does not print.]</a:t>
            </a:r>
            <a:endParaRPr sz="1400" b="0" i="0" u="none" strike="noStrike" cap="none">
              <a:solidFill>
                <a:srgbClr val="000000"/>
              </a:solidFill>
              <a:latin typeface="Arial"/>
              <a:ea typeface="Arial"/>
              <a:cs typeface="Arial"/>
              <a:sym typeface="Arial"/>
            </a:endParaRPr>
          </a:p>
        </p:txBody>
      </p:sp>
      <p:grpSp>
        <p:nvGrpSpPr>
          <p:cNvPr id="17" name="Google Shape;17;p2"/>
          <p:cNvGrpSpPr/>
          <p:nvPr/>
        </p:nvGrpSpPr>
        <p:grpSpPr>
          <a:xfrm>
            <a:off x="33604200" y="0"/>
            <a:ext cx="9601200" cy="32918400"/>
            <a:chOff x="33832800" y="0"/>
            <a:chExt cx="12801600" cy="43891200"/>
          </a:xfrm>
        </p:grpSpPr>
        <p:sp>
          <p:nvSpPr>
            <p:cNvPr id="18" name="Google Shape;18;p2"/>
            <p:cNvSpPr/>
            <p:nvPr/>
          </p:nvSpPr>
          <p:spPr>
            <a:xfrm>
              <a:off x="33832800" y="0"/>
              <a:ext cx="12801600" cy="43891200"/>
            </a:xfrm>
            <a:prstGeom prst="rect">
              <a:avLst/>
            </a:prstGeom>
            <a:solidFill>
              <a:srgbClr val="D8D8D8"/>
            </a:solidFill>
            <a:ln>
              <a:noFill/>
            </a:ln>
          </p:spPr>
          <p:txBody>
            <a:bodyPr spcFirstLastPara="1" wrap="square" lIns="228600" tIns="228600" rIns="228600" bIns="228600" anchor="t" anchorCtr="0">
              <a:noAutofit/>
            </a:bodyPr>
            <a:lstStyle/>
            <a:p>
              <a:pPr marL="0" marR="0" lvl="0" indent="0" algn="l" rtl="0">
                <a:lnSpc>
                  <a:spcPct val="100000"/>
                </a:lnSpc>
                <a:spcBef>
                  <a:spcPts val="0"/>
                </a:spcBef>
                <a:spcAft>
                  <a:spcPts val="0"/>
                </a:spcAft>
                <a:buClr>
                  <a:srgbClr val="000000"/>
                </a:buClr>
                <a:buSzPts val="7200"/>
                <a:buFont typeface="Arial"/>
                <a:buNone/>
              </a:pPr>
              <a:r>
                <a:rPr lang="en-US" sz="7200" b="0" i="0" u="none" strike="noStrike" cap="none">
                  <a:solidFill>
                    <a:srgbClr val="7F7F7F"/>
                  </a:solidFill>
                  <a:latin typeface="Calibri"/>
                  <a:ea typeface="Calibri"/>
                  <a:cs typeface="Calibri"/>
                  <a:sym typeface="Calibri"/>
                </a:rPr>
                <a:t>Change Color Theme:</a:t>
              </a:r>
              <a:endParaRPr sz="7200" b="0" i="0" u="none" strike="noStrike" cap="none">
                <a:solidFill>
                  <a:srgbClr val="7F7F7F"/>
                </a:solidFill>
                <a:latin typeface="Calibri"/>
                <a:ea typeface="Calibri"/>
                <a:cs typeface="Calibri"/>
                <a:sym typeface="Calibri"/>
              </a:endParaRPr>
            </a:p>
            <a:p>
              <a:pPr marL="0" marR="0" lvl="0" indent="0" algn="l" rtl="0">
                <a:lnSpc>
                  <a:spcPct val="100000"/>
                </a:lnSpc>
                <a:spcBef>
                  <a:spcPts val="1800"/>
                </a:spcBef>
                <a:spcAft>
                  <a:spcPts val="0"/>
                </a:spcAft>
                <a:buClr>
                  <a:srgbClr val="000000"/>
                </a:buClr>
                <a:buSzPts val="4900"/>
                <a:buFont typeface="Arial"/>
                <a:buNone/>
              </a:pPr>
              <a:r>
                <a:rPr lang="en-US" sz="4900" b="0" i="0" u="none" strike="noStrike" cap="none">
                  <a:solidFill>
                    <a:srgbClr val="7F7F7F"/>
                  </a:solidFill>
                  <a:latin typeface="Calibri"/>
                  <a:ea typeface="Calibri"/>
                  <a:cs typeface="Calibri"/>
                  <a:sym typeface="Calibri"/>
                </a:rPr>
                <a:t>This template is designed to use the built-in color themes in the newer versions of PowerPoint.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000000"/>
                </a:buClr>
                <a:buSzPts val="4900"/>
                <a:buFont typeface="Arial"/>
                <a:buNone/>
              </a:pPr>
              <a:r>
                <a:rPr lang="en-US" sz="4900" b="0" i="0" u="none" strike="noStrike" cap="none">
                  <a:solidFill>
                    <a:srgbClr val="7F7F7F"/>
                  </a:solidFill>
                  <a:latin typeface="Calibri"/>
                  <a:ea typeface="Calibri"/>
                  <a:cs typeface="Calibri"/>
                  <a:sym typeface="Calibri"/>
                </a:rPr>
                <a:t>To change the color theme, select the </a:t>
              </a:r>
              <a:r>
                <a:rPr lang="en-US" sz="4900" b="1" i="0" u="none" strike="noStrike" cap="none">
                  <a:solidFill>
                    <a:srgbClr val="7F7F7F"/>
                  </a:solidFill>
                  <a:latin typeface="Calibri"/>
                  <a:ea typeface="Calibri"/>
                  <a:cs typeface="Calibri"/>
                  <a:sym typeface="Calibri"/>
                </a:rPr>
                <a:t>Design</a:t>
              </a:r>
              <a:r>
                <a:rPr lang="en-US" sz="4900" b="0" i="0" u="none" strike="noStrike" cap="none">
                  <a:solidFill>
                    <a:srgbClr val="7F7F7F"/>
                  </a:solidFill>
                  <a:latin typeface="Calibri"/>
                  <a:ea typeface="Calibri"/>
                  <a:cs typeface="Calibri"/>
                  <a:sym typeface="Calibri"/>
                </a:rPr>
                <a:t> tab, then select the </a:t>
              </a:r>
              <a:r>
                <a:rPr lang="en-US" sz="4900" b="1" i="0" u="none" strike="noStrike" cap="none">
                  <a:solidFill>
                    <a:srgbClr val="7F7F7F"/>
                  </a:solidFill>
                  <a:latin typeface="Calibri"/>
                  <a:ea typeface="Calibri"/>
                  <a:cs typeface="Calibri"/>
                  <a:sym typeface="Calibri"/>
                </a:rPr>
                <a:t>Colors</a:t>
              </a:r>
              <a:r>
                <a:rPr lang="en-US" sz="4900" b="0" i="0" u="none" strike="noStrike" cap="none">
                  <a:solidFill>
                    <a:srgbClr val="7F7F7F"/>
                  </a:solidFill>
                  <a:latin typeface="Calibri"/>
                  <a:ea typeface="Calibri"/>
                  <a:cs typeface="Calibri"/>
                  <a:sym typeface="Calibri"/>
                </a:rPr>
                <a:t> drop-down list.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000000"/>
                </a:buClr>
                <a:buSzPts val="4900"/>
                <a:buFont typeface="Arial"/>
                <a:buNone/>
              </a:pPr>
              <a:endParaRPr sz="4900" b="0" i="0" u="none" strike="noStrike" cap="none">
                <a:solidFill>
                  <a:srgbClr val="7F7F7F"/>
                </a:solidFill>
                <a:latin typeface="Calibri"/>
                <a:ea typeface="Calibri"/>
                <a:cs typeface="Calibri"/>
                <a:sym typeface="Calibri"/>
              </a:endParaRPr>
            </a:p>
            <a:p>
              <a:pPr marL="0" marR="0" lvl="0" indent="0" algn="l" rtl="0">
                <a:lnSpc>
                  <a:spcPct val="100000"/>
                </a:lnSpc>
                <a:spcBef>
                  <a:spcPts val="1800"/>
                </a:spcBef>
                <a:spcAft>
                  <a:spcPts val="0"/>
                </a:spcAft>
                <a:buClr>
                  <a:srgbClr val="000000"/>
                </a:buClr>
                <a:buSzPts val="4900"/>
                <a:buFont typeface="Arial"/>
                <a:buNone/>
              </a:pPr>
              <a:endParaRPr sz="4900" b="0" i="0" u="none" strike="noStrike" cap="none">
                <a:solidFill>
                  <a:srgbClr val="7F7F7F"/>
                </a:solidFill>
                <a:latin typeface="Calibri"/>
                <a:ea typeface="Calibri"/>
                <a:cs typeface="Calibri"/>
                <a:sym typeface="Calibri"/>
              </a:endParaRPr>
            </a:p>
            <a:p>
              <a:pPr marL="0" marR="0" lvl="0" indent="0" algn="l" rtl="0">
                <a:lnSpc>
                  <a:spcPct val="100000"/>
                </a:lnSpc>
                <a:spcBef>
                  <a:spcPts val="1800"/>
                </a:spcBef>
                <a:spcAft>
                  <a:spcPts val="0"/>
                </a:spcAft>
                <a:buClr>
                  <a:srgbClr val="000000"/>
                </a:buClr>
                <a:buSzPts val="4900"/>
                <a:buFont typeface="Arial"/>
                <a:buNone/>
              </a:pPr>
              <a:endParaRPr sz="4900" b="0" i="0" u="none" strike="noStrike" cap="none">
                <a:solidFill>
                  <a:srgbClr val="7F7F7F"/>
                </a:solidFill>
                <a:latin typeface="Calibri"/>
                <a:ea typeface="Calibri"/>
                <a:cs typeface="Calibri"/>
                <a:sym typeface="Calibri"/>
              </a:endParaRPr>
            </a:p>
            <a:p>
              <a:pPr marL="0" marR="0" lvl="0" indent="0" algn="l" rtl="0">
                <a:lnSpc>
                  <a:spcPct val="100000"/>
                </a:lnSpc>
                <a:spcBef>
                  <a:spcPts val="1800"/>
                </a:spcBef>
                <a:spcAft>
                  <a:spcPts val="0"/>
                </a:spcAft>
                <a:buClr>
                  <a:srgbClr val="000000"/>
                </a:buClr>
                <a:buSzPts val="4900"/>
                <a:buFont typeface="Arial"/>
                <a:buNone/>
              </a:pPr>
              <a:endParaRPr sz="4900" b="0" i="0" u="none" strike="noStrike" cap="none">
                <a:solidFill>
                  <a:srgbClr val="7F7F7F"/>
                </a:solidFill>
                <a:latin typeface="Calibri"/>
                <a:ea typeface="Calibri"/>
                <a:cs typeface="Calibri"/>
                <a:sym typeface="Calibri"/>
              </a:endParaRPr>
            </a:p>
            <a:p>
              <a:pPr marL="0" marR="0" lvl="0" indent="0" algn="l" rtl="0">
                <a:lnSpc>
                  <a:spcPct val="100000"/>
                </a:lnSpc>
                <a:spcBef>
                  <a:spcPts val="1800"/>
                </a:spcBef>
                <a:spcAft>
                  <a:spcPts val="0"/>
                </a:spcAft>
                <a:buClr>
                  <a:srgbClr val="000000"/>
                </a:buClr>
                <a:buSzPts val="4900"/>
                <a:buFont typeface="Arial"/>
                <a:buNone/>
              </a:pPr>
              <a:endParaRPr sz="4900" b="0" i="0" u="none" strike="noStrike" cap="none">
                <a:solidFill>
                  <a:srgbClr val="7F7F7F"/>
                </a:solidFill>
                <a:latin typeface="Calibri"/>
                <a:ea typeface="Calibri"/>
                <a:cs typeface="Calibri"/>
                <a:sym typeface="Calibri"/>
              </a:endParaRPr>
            </a:p>
            <a:p>
              <a:pPr marL="0" marR="0" lvl="0" indent="0" algn="l" rtl="0">
                <a:lnSpc>
                  <a:spcPct val="100000"/>
                </a:lnSpc>
                <a:spcBef>
                  <a:spcPts val="1800"/>
                </a:spcBef>
                <a:spcAft>
                  <a:spcPts val="0"/>
                </a:spcAft>
                <a:buClr>
                  <a:srgbClr val="000000"/>
                </a:buClr>
                <a:buSzPts val="4900"/>
                <a:buFont typeface="Arial"/>
                <a:buNone/>
              </a:pPr>
              <a:endParaRPr sz="4900" b="0" i="0" u="none" strike="noStrike" cap="none">
                <a:solidFill>
                  <a:srgbClr val="7F7F7F"/>
                </a:solidFill>
                <a:latin typeface="Calibri"/>
                <a:ea typeface="Calibri"/>
                <a:cs typeface="Calibri"/>
                <a:sym typeface="Calibri"/>
              </a:endParaRPr>
            </a:p>
            <a:p>
              <a:pPr marL="0" marR="0" lvl="0" indent="0" algn="l" rtl="0">
                <a:lnSpc>
                  <a:spcPct val="100000"/>
                </a:lnSpc>
                <a:spcBef>
                  <a:spcPts val="1800"/>
                </a:spcBef>
                <a:spcAft>
                  <a:spcPts val="0"/>
                </a:spcAft>
                <a:buClr>
                  <a:srgbClr val="000000"/>
                </a:buClr>
                <a:buSzPts val="4900"/>
                <a:buFont typeface="Arial"/>
                <a:buNone/>
              </a:pPr>
              <a:endParaRPr sz="4900" b="0" i="0" u="none" strike="noStrike" cap="none">
                <a:solidFill>
                  <a:srgbClr val="7F7F7F"/>
                </a:solidFill>
                <a:latin typeface="Calibri"/>
                <a:ea typeface="Calibri"/>
                <a:cs typeface="Calibri"/>
                <a:sym typeface="Calibri"/>
              </a:endParaRPr>
            </a:p>
            <a:p>
              <a:pPr marL="0" marR="0" lvl="0" indent="0" algn="l" rtl="0">
                <a:lnSpc>
                  <a:spcPct val="100000"/>
                </a:lnSpc>
                <a:spcBef>
                  <a:spcPts val="1800"/>
                </a:spcBef>
                <a:spcAft>
                  <a:spcPts val="0"/>
                </a:spcAft>
                <a:buClr>
                  <a:srgbClr val="000000"/>
                </a:buClr>
                <a:buSzPts val="4900"/>
                <a:buFont typeface="Arial"/>
                <a:buNone/>
              </a:pPr>
              <a:endParaRPr sz="4900" b="0" i="0" u="none" strike="noStrike" cap="none">
                <a:solidFill>
                  <a:srgbClr val="7F7F7F"/>
                </a:solidFill>
                <a:latin typeface="Calibri"/>
                <a:ea typeface="Calibri"/>
                <a:cs typeface="Calibri"/>
                <a:sym typeface="Calibri"/>
              </a:endParaRPr>
            </a:p>
            <a:p>
              <a:pPr marL="0" marR="0" lvl="0" indent="0" algn="l" rtl="0">
                <a:lnSpc>
                  <a:spcPct val="100000"/>
                </a:lnSpc>
                <a:spcBef>
                  <a:spcPts val="1800"/>
                </a:spcBef>
                <a:spcAft>
                  <a:spcPts val="0"/>
                </a:spcAft>
                <a:buClr>
                  <a:srgbClr val="000000"/>
                </a:buClr>
                <a:buSzPts val="4900"/>
                <a:buFont typeface="Arial"/>
                <a:buNone/>
              </a:pPr>
              <a:endParaRPr sz="4900" b="0" i="0" u="none" strike="noStrike" cap="none">
                <a:solidFill>
                  <a:srgbClr val="7F7F7F"/>
                </a:solidFill>
                <a:latin typeface="Calibri"/>
                <a:ea typeface="Calibri"/>
                <a:cs typeface="Calibri"/>
                <a:sym typeface="Calibri"/>
              </a:endParaRPr>
            </a:p>
            <a:p>
              <a:pPr marL="0" marR="0" lvl="0" indent="0" algn="l" rtl="0">
                <a:lnSpc>
                  <a:spcPct val="100000"/>
                </a:lnSpc>
                <a:spcBef>
                  <a:spcPts val="1800"/>
                </a:spcBef>
                <a:spcAft>
                  <a:spcPts val="0"/>
                </a:spcAft>
                <a:buClr>
                  <a:srgbClr val="000000"/>
                </a:buClr>
                <a:buSzPts val="4900"/>
                <a:buFont typeface="Arial"/>
                <a:buNone/>
              </a:pPr>
              <a:r>
                <a:rPr lang="en-US" sz="4900" b="0" i="0" u="none" strike="noStrike" cap="none">
                  <a:solidFill>
                    <a:srgbClr val="7F7F7F"/>
                  </a:solidFill>
                  <a:latin typeface="Calibri"/>
                  <a:ea typeface="Calibri"/>
                  <a:cs typeface="Calibri"/>
                  <a:sym typeface="Calibri"/>
                </a:rPr>
                <a:t>The default color theme for this template is “Office”, so you can always return to that after trying some of the alternatives.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000000"/>
                </a:buClr>
                <a:buSzPts val="7200"/>
                <a:buFont typeface="Arial"/>
                <a:buNone/>
              </a:pPr>
              <a:r>
                <a:rPr lang="en-US" sz="7200" b="0" i="0" u="none" strike="noStrike" cap="none">
                  <a:solidFill>
                    <a:srgbClr val="7F7F7F"/>
                  </a:solidFill>
                  <a:latin typeface="Calibri"/>
                  <a:ea typeface="Calibri"/>
                  <a:cs typeface="Calibri"/>
                  <a:sym typeface="Calibri"/>
                </a:rPr>
                <a:t>Printing Your Poster: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000000"/>
                </a:buClr>
                <a:buSzPts val="4900"/>
                <a:buFont typeface="Arial"/>
                <a:buNone/>
              </a:pPr>
              <a:r>
                <a:rPr lang="en-US" sz="4900" b="0" i="0" u="none" strike="noStrike" cap="none">
                  <a:solidFill>
                    <a:srgbClr val="7F7F7F"/>
                  </a:solidFill>
                  <a:latin typeface="Calibri"/>
                  <a:ea typeface="Calibri"/>
                  <a:cs typeface="Calibri"/>
                  <a:sym typeface="Calibri"/>
                </a:rPr>
                <a:t>Once your poster file is ready, visit </a:t>
              </a:r>
              <a:r>
                <a:rPr lang="en-US" sz="4900" b="1" i="0" u="none" strike="noStrike" cap="none">
                  <a:solidFill>
                    <a:srgbClr val="7F7F7F"/>
                  </a:solidFill>
                  <a:latin typeface="Calibri"/>
                  <a:ea typeface="Calibri"/>
                  <a:cs typeface="Calibri"/>
                  <a:sym typeface="Calibri"/>
                </a:rPr>
                <a:t>www.genigraphics.com</a:t>
              </a:r>
              <a:r>
                <a:rPr lang="en-US" sz="4900" b="0" i="0" u="none" strike="noStrike" cap="none">
                  <a:solidFill>
                    <a:srgbClr val="7F7F7F"/>
                  </a:solidFill>
                  <a:latin typeface="Calibri"/>
                  <a:ea typeface="Calibri"/>
                  <a:cs typeface="Calibri"/>
                  <a:sym typeface="Calibri"/>
                </a:rPr>
                <a:t> to order a high-quality, affordable poster print. Every order receives a free design review and we can deliver as fast as next business day within the US and Canada.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000000"/>
                </a:buClr>
                <a:buSzPts val="4900"/>
                <a:buFont typeface="Arial"/>
                <a:buNone/>
              </a:pPr>
              <a:r>
                <a:rPr lang="en-US" sz="4900" b="0" i="0" u="none" strike="noStrike" cap="none">
                  <a:solidFill>
                    <a:srgbClr val="7F7F7F"/>
                  </a:solidFill>
                  <a:latin typeface="Calibri"/>
                  <a:ea typeface="Calibri"/>
                  <a:cs typeface="Calibri"/>
                  <a:sym typeface="Calibri"/>
                </a:rPr>
                <a:t>Genigraphics® has been producing output from PowerPoint® longer than anyone in the industry; dating back to when we helped Microsoft® design the PowerPoint® software.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000000"/>
                </a:buClr>
                <a:buSzPts val="4900"/>
                <a:buFont typeface="Arial"/>
                <a:buNone/>
              </a:pPr>
              <a:endParaRPr sz="4900" b="0" i="0" u="none" strike="noStrike" cap="none">
                <a:solidFill>
                  <a:srgbClr val="7F7F7F"/>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4900"/>
                <a:buFont typeface="Arial"/>
                <a:buNone/>
              </a:pPr>
              <a:r>
                <a:rPr lang="en-US" sz="4900" b="0" i="0" u="none" strike="noStrike" cap="none">
                  <a:solidFill>
                    <a:srgbClr val="7F7F7F"/>
                  </a:solidFill>
                  <a:latin typeface="Calibri"/>
                  <a:ea typeface="Calibri"/>
                  <a:cs typeface="Calibri"/>
                  <a:sym typeface="Calibri"/>
                </a:rPr>
                <a:t>US and Canada:  1-800-790-4001</a:t>
              </a:r>
              <a:br>
                <a:rPr lang="en-US" sz="4900" b="0" i="0" u="none" strike="noStrike" cap="none">
                  <a:solidFill>
                    <a:srgbClr val="7F7F7F"/>
                  </a:solidFill>
                  <a:latin typeface="Calibri"/>
                  <a:ea typeface="Calibri"/>
                  <a:cs typeface="Calibri"/>
                  <a:sym typeface="Calibri"/>
                </a:rPr>
              </a:br>
              <a:r>
                <a:rPr lang="en-US" sz="4900" b="0" i="0" u="none" strike="noStrike" cap="none">
                  <a:solidFill>
                    <a:srgbClr val="7F7F7F"/>
                  </a:solidFill>
                  <a:latin typeface="Calibri"/>
                  <a:ea typeface="Calibri"/>
                  <a:cs typeface="Calibri"/>
                  <a:sym typeface="Calibri"/>
                </a:rPr>
                <a:t>Email: info@genigraphics.com</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7F7F7F"/>
                  </a:solidFill>
                  <a:latin typeface="Calibri"/>
                  <a:ea typeface="Calibri"/>
                  <a:cs typeface="Calibri"/>
                  <a:sym typeface="Calibri"/>
                </a:rPr>
                <a:t/>
              </a:r>
              <a:br>
                <a:rPr lang="en-US" sz="3600" b="0" i="0" u="none" strike="noStrike" cap="none">
                  <a:solidFill>
                    <a:srgbClr val="7F7F7F"/>
                  </a:solidFill>
                  <a:latin typeface="Calibri"/>
                  <a:ea typeface="Calibri"/>
                  <a:cs typeface="Calibri"/>
                  <a:sym typeface="Calibri"/>
                </a:rPr>
              </a:br>
              <a:r>
                <a:rPr lang="en-US" sz="3600" b="0" i="0" u="none" strike="noStrike" cap="none">
                  <a:solidFill>
                    <a:srgbClr val="7F7F7F"/>
                  </a:solidFill>
                  <a:latin typeface="Calibri"/>
                  <a:ea typeface="Calibri"/>
                  <a:cs typeface="Calibri"/>
                  <a:sym typeface="Calibri"/>
                </a:rPr>
                <a:t>[This sidebar area does not print.]</a:t>
              </a:r>
              <a:endParaRPr sz="1400" b="0" i="0" u="none" strike="noStrike" cap="none">
                <a:solidFill>
                  <a:srgbClr val="000000"/>
                </a:solidFill>
                <a:latin typeface="Arial"/>
                <a:ea typeface="Arial"/>
                <a:cs typeface="Arial"/>
                <a:sym typeface="Arial"/>
              </a:endParaRPr>
            </a:p>
          </p:txBody>
        </p:sp>
        <p:pic>
          <p:nvPicPr>
            <p:cNvPr id="19" name="Google Shape;19;p2"/>
            <p:cNvPicPr preferRelativeResize="0"/>
            <p:nvPr/>
          </p:nvPicPr>
          <p:blipFill rotWithShape="1">
            <a:blip r:embed="rId2">
              <a:alphaModFix/>
            </a:blip>
            <a:srcRect/>
            <a:stretch/>
          </p:blipFill>
          <p:spPr>
            <a:xfrm>
              <a:off x="34281342" y="9260274"/>
              <a:ext cx="11904515" cy="10246926"/>
            </a:xfrm>
            <a:prstGeom prst="rect">
              <a:avLst/>
            </a:prstGeom>
            <a:noFill/>
            <a:ln>
              <a:noFill/>
            </a:ln>
          </p:spPr>
        </p:pic>
      </p:grpSp>
      <p:pic>
        <p:nvPicPr>
          <p:cNvPr id="20" name="Google Shape;20;p2"/>
          <p:cNvPicPr preferRelativeResize="0"/>
          <p:nvPr/>
        </p:nvPicPr>
        <p:blipFill rotWithShape="1">
          <a:blip r:embed="rId3">
            <a:alphaModFix/>
          </a:blip>
          <a:srcRect/>
          <a:stretch/>
        </p:blipFill>
        <p:spPr>
          <a:xfrm>
            <a:off x="27432000" y="32613600"/>
            <a:ext cx="5297435" cy="18592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1645920" y="1318262"/>
            <a:ext cx="29626560" cy="5486400"/>
          </a:xfrm>
          <a:prstGeom prst="rect">
            <a:avLst/>
          </a:prstGeom>
          <a:noFill/>
          <a:ln>
            <a:noFill/>
          </a:ln>
        </p:spPr>
        <p:txBody>
          <a:bodyPr spcFirstLastPara="1" wrap="square" lIns="329125" tIns="164550" rIns="329125" bIns="16455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1645920" y="7680963"/>
            <a:ext cx="29626560" cy="21724623"/>
          </a:xfrm>
          <a:prstGeom prst="rect">
            <a:avLst/>
          </a:prstGeom>
          <a:noFill/>
          <a:ln>
            <a:noFill/>
          </a:ln>
        </p:spPr>
        <p:txBody>
          <a:bodyPr spcFirstLastPara="1" wrap="square" lIns="329125" tIns="164550" rIns="329125" bIns="16455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1645920" y="30510483"/>
            <a:ext cx="7680960" cy="1752600"/>
          </a:xfrm>
          <a:prstGeom prst="rect">
            <a:avLst/>
          </a:prstGeom>
          <a:noFill/>
          <a:ln>
            <a:noFill/>
          </a:ln>
        </p:spPr>
        <p:txBody>
          <a:bodyPr spcFirstLastPara="1" wrap="square" lIns="329125" tIns="164550" rIns="329125" bIns="16455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11247120" y="30510483"/>
            <a:ext cx="10424160" cy="1752600"/>
          </a:xfrm>
          <a:prstGeom prst="rect">
            <a:avLst/>
          </a:prstGeom>
          <a:noFill/>
          <a:ln>
            <a:noFill/>
          </a:ln>
        </p:spPr>
        <p:txBody>
          <a:bodyPr spcFirstLastPara="1" wrap="square" lIns="329125" tIns="164550" rIns="329125" bIns="16455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23591520" y="30510483"/>
            <a:ext cx="7680960" cy="1752600"/>
          </a:xfrm>
          <a:prstGeom prst="rect">
            <a:avLst/>
          </a:prstGeom>
          <a:noFill/>
          <a:ln>
            <a:noFill/>
          </a:ln>
        </p:spPr>
        <p:txBody>
          <a:bodyPr spcFirstLastPara="1" wrap="square" lIns="329125" tIns="164550" rIns="329125" bIns="164550" anchor="ctr" anchorCtr="0">
            <a:noAutofit/>
          </a:bodyPr>
          <a:lstStyle>
            <a:lvl1pPr marL="0" marR="0" lvl="0" indent="0" algn="r">
              <a:lnSpc>
                <a:spcPct val="100000"/>
              </a:lnSpc>
              <a:spcBef>
                <a:spcPts val="0"/>
              </a:spcBef>
              <a:spcAft>
                <a:spcPts val="0"/>
              </a:spcAft>
              <a:buClr>
                <a:srgbClr val="000000"/>
              </a:buClr>
              <a:buSzPts val="4400"/>
              <a:buFont typeface="Arial"/>
              <a:buNone/>
              <a:defRPr sz="44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400"/>
              <a:buFont typeface="Arial"/>
              <a:buNone/>
              <a:defRPr sz="44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400"/>
              <a:buFont typeface="Arial"/>
              <a:buNone/>
              <a:defRPr sz="44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400"/>
              <a:buFont typeface="Arial"/>
              <a:buNone/>
              <a:defRPr sz="44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400"/>
              <a:buFont typeface="Arial"/>
              <a:buNone/>
              <a:defRPr sz="44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400"/>
              <a:buFont typeface="Arial"/>
              <a:buNone/>
              <a:defRPr sz="44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400"/>
              <a:buFont typeface="Arial"/>
              <a:buNone/>
              <a:defRPr sz="44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400"/>
              <a:buFont typeface="Arial"/>
              <a:buNone/>
              <a:defRPr sz="44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400"/>
              <a:buFont typeface="Arial"/>
              <a:buNone/>
              <a:defRPr sz="44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645920" y="1318262"/>
            <a:ext cx="29626560" cy="5486400"/>
          </a:xfrm>
          <a:prstGeom prst="rect">
            <a:avLst/>
          </a:prstGeom>
          <a:noFill/>
          <a:ln>
            <a:noFill/>
          </a:ln>
        </p:spPr>
        <p:txBody>
          <a:bodyPr spcFirstLastPara="1" wrap="square" lIns="329125" tIns="164550" rIns="329125" bIns="164550" anchor="ctr" anchorCtr="0">
            <a:normAutofit/>
          </a:bodyPr>
          <a:lstStyle>
            <a:lvl1pPr marR="0" lvl="0" algn="ctr" rtl="0">
              <a:lnSpc>
                <a:spcPct val="10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1645920" y="7680963"/>
            <a:ext cx="29626560" cy="21724623"/>
          </a:xfrm>
          <a:prstGeom prst="rect">
            <a:avLst/>
          </a:prstGeom>
          <a:noFill/>
          <a:ln>
            <a:noFill/>
          </a:ln>
        </p:spPr>
        <p:txBody>
          <a:bodyPr spcFirstLastPara="1" wrap="square" lIns="329125" tIns="164550" rIns="329125" bIns="164550" anchor="t" anchorCtr="0">
            <a:normAutofit/>
          </a:bodyPr>
          <a:lstStyle>
            <a:lvl1pPr marL="457200" marR="0" lvl="0" indent="-400050" algn="l" rtl="0">
              <a:lnSpc>
                <a:spcPct val="100000"/>
              </a:lnSpc>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1pPr>
            <a:lvl2pPr marL="914400" marR="0" lvl="1" indent="-400050" algn="l" rtl="0">
              <a:lnSpc>
                <a:spcPct val="100000"/>
              </a:lnSpc>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2pPr>
            <a:lvl3pPr marL="1371600" marR="0" lvl="2" indent="-400050" algn="l" rtl="0">
              <a:lnSpc>
                <a:spcPct val="100000"/>
              </a:lnSpc>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3pPr>
            <a:lvl4pPr marL="1828800" marR="0" lvl="3" indent="-400050" algn="l" rtl="0">
              <a:lnSpc>
                <a:spcPct val="100000"/>
              </a:lnSpc>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4pPr>
            <a:lvl5pPr marL="2286000" marR="0" lvl="4" indent="-400050" algn="l" rtl="0">
              <a:lnSpc>
                <a:spcPct val="100000"/>
              </a:lnSpc>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5pPr>
            <a:lvl6pPr marL="2743200" marR="0" lvl="5" indent="-685800" algn="l" rtl="0">
              <a:lnSpc>
                <a:spcPct val="100000"/>
              </a:lnSpc>
              <a:spcBef>
                <a:spcPts val="144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6pPr>
            <a:lvl7pPr marL="3200400" marR="0" lvl="6" indent="-685800" algn="l" rtl="0">
              <a:lnSpc>
                <a:spcPct val="100000"/>
              </a:lnSpc>
              <a:spcBef>
                <a:spcPts val="144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7pPr>
            <a:lvl8pPr marL="3657600" marR="0" lvl="7" indent="-685800" algn="l" rtl="0">
              <a:lnSpc>
                <a:spcPct val="100000"/>
              </a:lnSpc>
              <a:spcBef>
                <a:spcPts val="144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8pPr>
            <a:lvl9pPr marL="4114800" marR="0" lvl="8" indent="-685800" algn="l" rtl="0">
              <a:lnSpc>
                <a:spcPct val="100000"/>
              </a:lnSpc>
              <a:spcBef>
                <a:spcPts val="144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1645920" y="30510483"/>
            <a:ext cx="7680960" cy="1752600"/>
          </a:xfrm>
          <a:prstGeom prst="rect">
            <a:avLst/>
          </a:prstGeom>
          <a:noFill/>
          <a:ln>
            <a:noFill/>
          </a:ln>
        </p:spPr>
        <p:txBody>
          <a:bodyPr spcFirstLastPara="1" wrap="square" lIns="329125" tIns="164550" rIns="329125" bIns="164550" anchor="ctr" anchorCtr="0">
            <a:noAutofit/>
          </a:bodyPr>
          <a:lstStyle>
            <a:lvl1pPr marR="0" lvl="0" algn="l" rtl="0">
              <a:lnSpc>
                <a:spcPct val="100000"/>
              </a:lnSpc>
              <a:spcBef>
                <a:spcPts val="0"/>
              </a:spcBef>
              <a:spcAft>
                <a:spcPts val="0"/>
              </a:spcAft>
              <a:buClr>
                <a:srgbClr val="000000"/>
              </a:buClr>
              <a:buSzPts val="1400"/>
              <a:buFont typeface="Arial"/>
              <a:buNone/>
              <a:defRPr sz="44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11247120" y="30510483"/>
            <a:ext cx="10424160" cy="1752600"/>
          </a:xfrm>
          <a:prstGeom prst="rect">
            <a:avLst/>
          </a:prstGeom>
          <a:noFill/>
          <a:ln>
            <a:noFill/>
          </a:ln>
        </p:spPr>
        <p:txBody>
          <a:bodyPr spcFirstLastPara="1" wrap="square" lIns="329125" tIns="164550" rIns="329125" bIns="164550"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23591520" y="30510483"/>
            <a:ext cx="7680960" cy="1752600"/>
          </a:xfrm>
          <a:prstGeom prst="rect">
            <a:avLst/>
          </a:prstGeom>
          <a:noFill/>
          <a:ln>
            <a:noFill/>
          </a:ln>
        </p:spPr>
        <p:txBody>
          <a:bodyPr spcFirstLastPara="1" wrap="square" lIns="329125" tIns="164550" rIns="329125" bIns="164550" anchor="ctr" anchorCtr="0">
            <a:noAutofit/>
          </a:bodyPr>
          <a:lstStyle>
            <a:lvl1pPr marL="0" marR="0" lvl="0" indent="0" algn="r" rtl="0">
              <a:lnSpc>
                <a:spcPct val="100000"/>
              </a:lnSpc>
              <a:spcBef>
                <a:spcPts val="0"/>
              </a:spcBef>
              <a:spcAft>
                <a:spcPts val="0"/>
              </a:spcAft>
              <a:buClr>
                <a:srgbClr val="000000"/>
              </a:buClr>
              <a:buSzPts val="4400"/>
              <a:buFont typeface="Arial"/>
              <a:buNone/>
              <a:defRPr sz="44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4400"/>
              <a:buFont typeface="Arial"/>
              <a:buNone/>
              <a:defRPr sz="44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4400"/>
              <a:buFont typeface="Arial"/>
              <a:buNone/>
              <a:defRPr sz="44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4400"/>
              <a:buFont typeface="Arial"/>
              <a:buNone/>
              <a:defRPr sz="44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4400"/>
              <a:buFont typeface="Arial"/>
              <a:buNone/>
              <a:defRPr sz="44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4400"/>
              <a:buFont typeface="Arial"/>
              <a:buNone/>
              <a:defRPr sz="44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4400"/>
              <a:buFont typeface="Arial"/>
              <a:buNone/>
              <a:defRPr sz="44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4400"/>
              <a:buFont typeface="Arial"/>
              <a:buNone/>
              <a:defRPr sz="44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4400"/>
              <a:buFont typeface="Arial"/>
              <a:buNone/>
              <a:defRPr sz="44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
        <p:cNvGrpSpPr/>
        <p:nvPr/>
      </p:nvGrpSpPr>
      <p:grpSpPr>
        <a:xfrm>
          <a:off x="0" y="0"/>
          <a:ext cx="0" cy="0"/>
          <a:chOff x="0" y="0"/>
          <a:chExt cx="0" cy="0"/>
        </a:xfrm>
      </p:grpSpPr>
      <p:sp>
        <p:nvSpPr>
          <p:cNvPr id="31" name="Google Shape;31;p4"/>
          <p:cNvSpPr txBox="1"/>
          <p:nvPr/>
        </p:nvSpPr>
        <p:spPr>
          <a:xfrm>
            <a:off x="8237356" y="121636"/>
            <a:ext cx="21945600" cy="1692620"/>
          </a:xfrm>
          <a:prstGeom prst="rect">
            <a:avLst/>
          </a:prstGeom>
          <a:noFill/>
          <a:ln>
            <a:noFill/>
          </a:ln>
        </p:spPr>
        <p:txBody>
          <a:bodyPr spcFirstLastPara="1" wrap="square" lIns="137125" tIns="342825" rIns="137125" bIns="342825" anchor="ctr" anchorCtr="0">
            <a:spAutoFit/>
          </a:bodyPr>
          <a:lstStyle/>
          <a:p>
            <a:pPr marL="0" marR="0" lvl="0" indent="0" algn="ctr" rtl="0">
              <a:lnSpc>
                <a:spcPct val="100000"/>
              </a:lnSpc>
              <a:spcBef>
                <a:spcPts val="0"/>
              </a:spcBef>
              <a:spcAft>
                <a:spcPts val="0"/>
              </a:spcAft>
              <a:buNone/>
            </a:pPr>
            <a:r>
              <a:rPr lang="en-IN" sz="6500" b="0" i="0" u="none" strike="noStrike" cap="none" dirty="0" smtClean="0">
                <a:solidFill>
                  <a:schemeClr val="lt1"/>
                </a:solidFill>
                <a:latin typeface="Arial"/>
                <a:ea typeface="Arial"/>
                <a:cs typeface="Arial"/>
                <a:sym typeface="Arial"/>
              </a:rPr>
              <a:t>Detection of Atrial Fibrillation Using PPG</a:t>
            </a:r>
            <a:endParaRPr sz="6500" b="0" i="0" u="none" strike="noStrike" cap="none" dirty="0">
              <a:solidFill>
                <a:schemeClr val="lt1"/>
              </a:solidFill>
              <a:latin typeface="Arial"/>
              <a:ea typeface="Arial"/>
              <a:cs typeface="Arial"/>
              <a:sym typeface="Arial"/>
            </a:endParaRPr>
          </a:p>
        </p:txBody>
      </p:sp>
      <p:sp>
        <p:nvSpPr>
          <p:cNvPr id="32" name="Google Shape;32;p4"/>
          <p:cNvSpPr txBox="1"/>
          <p:nvPr/>
        </p:nvSpPr>
        <p:spPr>
          <a:xfrm>
            <a:off x="6615949" y="1771832"/>
            <a:ext cx="21945600" cy="1714500"/>
          </a:xfrm>
          <a:prstGeom prst="rect">
            <a:avLst/>
          </a:prstGeom>
          <a:noFill/>
          <a:ln>
            <a:noFill/>
          </a:ln>
        </p:spPr>
        <p:txBody>
          <a:bodyPr spcFirstLastPara="1" wrap="square" lIns="137125" tIns="137125" rIns="137125" bIns="137125" anchor="ctr" anchorCtr="0">
            <a:noAutofit/>
          </a:bodyPr>
          <a:lstStyle/>
          <a:p>
            <a:pPr lvl="0" algn="ctr"/>
            <a:r>
              <a:rPr lang="en-US" sz="4000" dirty="0">
                <a:solidFill>
                  <a:srgbClr val="EAF1DD"/>
                </a:solidFill>
                <a:latin typeface="Times New Roman" panose="02020603050405020304" pitchFamily="18" charset="0"/>
                <a:ea typeface="Calibri"/>
                <a:cs typeface="Times New Roman" panose="02020603050405020304" pitchFamily="18" charset="0"/>
                <a:sym typeface="Calibri"/>
              </a:rPr>
              <a:t>Team: </a:t>
            </a:r>
            <a:r>
              <a:rPr lang="en-US" sz="4000" dirty="0" smtClean="0">
                <a:solidFill>
                  <a:srgbClr val="EAF1DD"/>
                </a:solidFill>
                <a:latin typeface="Times New Roman" panose="02020603050405020304" pitchFamily="18" charset="0"/>
                <a:ea typeface="Calibri"/>
                <a:cs typeface="Times New Roman" panose="02020603050405020304" pitchFamily="18" charset="0"/>
                <a:sym typeface="Calibri"/>
              </a:rPr>
              <a:t>Yashwanth</a:t>
            </a:r>
            <a:r>
              <a:rPr lang="en-US" sz="4000" b="0" i="0" u="none" strike="noStrike" cap="none" dirty="0" smtClean="0">
                <a:solidFill>
                  <a:srgbClr val="EAF1DD"/>
                </a:solidFill>
                <a:latin typeface="Times New Roman" panose="02020603050405020304" pitchFamily="18" charset="0"/>
                <a:ea typeface="Calibri"/>
                <a:cs typeface="Times New Roman" panose="02020603050405020304" pitchFamily="18" charset="0"/>
                <a:sym typeface="Calibri"/>
              </a:rPr>
              <a:t>,B.Tech </a:t>
            </a:r>
            <a:r>
              <a:rPr lang="en-US" sz="4000" b="0" i="0" u="none" strike="noStrike" cap="none" dirty="0">
                <a:solidFill>
                  <a:srgbClr val="EAF1DD"/>
                </a:solidFill>
                <a:latin typeface="Times New Roman" panose="02020603050405020304" pitchFamily="18" charset="0"/>
                <a:ea typeface="Calibri"/>
                <a:cs typeface="Times New Roman" panose="02020603050405020304" pitchFamily="18" charset="0"/>
                <a:sym typeface="Calibri"/>
              </a:rPr>
              <a:t>CSE</a:t>
            </a:r>
            <a:r>
              <a:rPr lang="en-US" sz="4000" dirty="0">
                <a:solidFill>
                  <a:srgbClr val="EAF1DD"/>
                </a:solidFill>
                <a:latin typeface="Times New Roman" panose="02020603050405020304" pitchFamily="18" charset="0"/>
                <a:ea typeface="Calibri"/>
                <a:cs typeface="Times New Roman" panose="02020603050405020304" pitchFamily="18" charset="0"/>
                <a:sym typeface="Calibri"/>
              </a:rPr>
              <a:t>;</a:t>
            </a:r>
            <a:r>
              <a:rPr lang="en-US" sz="4000" b="0" i="0" u="none" strike="noStrike" cap="none" dirty="0">
                <a:solidFill>
                  <a:srgbClr val="EAF1DD"/>
                </a:solidFill>
                <a:latin typeface="Times New Roman" panose="02020603050405020304" pitchFamily="18" charset="0"/>
                <a:ea typeface="Calibri"/>
                <a:cs typeface="Times New Roman" panose="02020603050405020304" pitchFamily="18" charset="0"/>
                <a:sym typeface="Calibri"/>
              </a:rPr>
              <a:t> </a:t>
            </a:r>
            <a:r>
              <a:rPr lang="en-US" sz="4000" dirty="0" smtClean="0">
                <a:solidFill>
                  <a:srgbClr val="EAF1DD"/>
                </a:solidFill>
                <a:latin typeface="Times New Roman" panose="02020603050405020304" pitchFamily="18" charset="0"/>
                <a:ea typeface="Calibri"/>
                <a:cs typeface="Times New Roman" panose="02020603050405020304" pitchFamily="18" charset="0"/>
                <a:sym typeface="Calibri"/>
              </a:rPr>
              <a:t>Ravi Kiran</a:t>
            </a:r>
            <a:r>
              <a:rPr lang="en-US" sz="4000" b="0" i="0" u="none" strike="noStrike" cap="none" dirty="0" smtClean="0">
                <a:solidFill>
                  <a:srgbClr val="EAF1DD"/>
                </a:solidFill>
                <a:latin typeface="Times New Roman" panose="02020603050405020304" pitchFamily="18" charset="0"/>
                <a:ea typeface="Calibri"/>
                <a:cs typeface="Times New Roman" panose="02020603050405020304" pitchFamily="18" charset="0"/>
                <a:sym typeface="Calibri"/>
              </a:rPr>
              <a:t>,</a:t>
            </a:r>
            <a:r>
              <a:rPr lang="en-US" sz="4000" dirty="0" smtClean="0">
                <a:solidFill>
                  <a:srgbClr val="EAF1DD"/>
                </a:solidFill>
                <a:latin typeface="Times New Roman" panose="02020603050405020304" pitchFamily="18" charset="0"/>
                <a:ea typeface="Calibri"/>
                <a:cs typeface="Times New Roman" panose="02020603050405020304" pitchFamily="18" charset="0"/>
                <a:sym typeface="Calibri"/>
              </a:rPr>
              <a:t>B.Tech CSE</a:t>
            </a:r>
            <a:r>
              <a:rPr lang="en-US" sz="4000" dirty="0">
                <a:solidFill>
                  <a:srgbClr val="EAF1DD"/>
                </a:solidFill>
                <a:latin typeface="Times New Roman" panose="02020603050405020304" pitchFamily="18" charset="0"/>
                <a:ea typeface="Calibri"/>
                <a:cs typeface="Times New Roman" panose="02020603050405020304" pitchFamily="18" charset="0"/>
                <a:sym typeface="Calibri"/>
              </a:rPr>
              <a:t>, Dinesh, </a:t>
            </a:r>
            <a:r>
              <a:rPr lang="en-US" sz="4000" dirty="0" err="1" smtClean="0">
                <a:solidFill>
                  <a:srgbClr val="EAF1DD"/>
                </a:solidFill>
                <a:latin typeface="Times New Roman" panose="02020603050405020304" pitchFamily="18" charset="0"/>
                <a:ea typeface="Calibri"/>
                <a:cs typeface="Times New Roman" panose="02020603050405020304" pitchFamily="18" charset="0"/>
                <a:sym typeface="Calibri"/>
              </a:rPr>
              <a:t>B.Tech</a:t>
            </a:r>
            <a:r>
              <a:rPr lang="en-US" sz="4000" dirty="0" smtClean="0">
                <a:solidFill>
                  <a:srgbClr val="EAF1DD"/>
                </a:solidFill>
                <a:latin typeface="Times New Roman" panose="02020603050405020304" pitchFamily="18" charset="0"/>
                <a:ea typeface="Calibri"/>
                <a:cs typeface="Times New Roman" panose="02020603050405020304" pitchFamily="18" charset="0"/>
                <a:sym typeface="Calibri"/>
              </a:rPr>
              <a:t> </a:t>
            </a:r>
            <a:r>
              <a:rPr lang="en-US" sz="4000" dirty="0">
                <a:solidFill>
                  <a:srgbClr val="EAF1DD"/>
                </a:solidFill>
                <a:latin typeface="Times New Roman" panose="02020603050405020304" pitchFamily="18" charset="0"/>
                <a:ea typeface="Calibri"/>
                <a:cs typeface="Times New Roman" panose="02020603050405020304" pitchFamily="18" charset="0"/>
                <a:sym typeface="Calibri"/>
              </a:rPr>
              <a:t>CSE, </a:t>
            </a:r>
            <a:endParaRPr sz="4000" dirty="0">
              <a:solidFill>
                <a:srgbClr val="EAF1DD"/>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None/>
            </a:pPr>
            <a:r>
              <a:rPr lang="en-US" sz="4000" dirty="0" smtClean="0">
                <a:solidFill>
                  <a:srgbClr val="EAF1DD"/>
                </a:solidFill>
                <a:latin typeface="Times New Roman" panose="02020603050405020304" pitchFamily="18" charset="0"/>
                <a:ea typeface="Calibri"/>
                <a:cs typeface="Times New Roman" panose="02020603050405020304" pitchFamily="18" charset="0"/>
                <a:sym typeface="Calibri"/>
              </a:rPr>
              <a:t>Mentor: </a:t>
            </a:r>
            <a:r>
              <a:rPr lang="en-US" sz="4000" b="0" i="0" u="none" strike="noStrike" cap="none" dirty="0" smtClean="0">
                <a:solidFill>
                  <a:srgbClr val="EAF1DD"/>
                </a:solidFill>
                <a:latin typeface="Times New Roman" panose="02020603050405020304" pitchFamily="18" charset="0"/>
                <a:ea typeface="Calibri"/>
                <a:cs typeface="Times New Roman" panose="02020603050405020304" pitchFamily="18" charset="0"/>
                <a:sym typeface="Calibri"/>
              </a:rPr>
              <a:t>Dr</a:t>
            </a:r>
            <a:r>
              <a:rPr lang="en-US" sz="4000" dirty="0">
                <a:solidFill>
                  <a:srgbClr val="EAF1DD"/>
                </a:solidFill>
                <a:latin typeface="Times New Roman" panose="02020603050405020304" pitchFamily="18" charset="0"/>
                <a:ea typeface="Calibri"/>
                <a:cs typeface="Times New Roman" panose="02020603050405020304" pitchFamily="18" charset="0"/>
                <a:sym typeface="Calibri"/>
              </a:rPr>
              <a:t>.</a:t>
            </a:r>
            <a:r>
              <a:rPr lang="en-US" sz="4000" b="0" i="0" u="none" strike="noStrike" cap="none" dirty="0" smtClean="0">
                <a:solidFill>
                  <a:srgbClr val="EAF1DD"/>
                </a:solidFill>
                <a:latin typeface="Times New Roman" panose="02020603050405020304" pitchFamily="18" charset="0"/>
                <a:ea typeface="Calibri"/>
                <a:cs typeface="Times New Roman" panose="02020603050405020304" pitchFamily="18" charset="0"/>
                <a:sym typeface="Calibri"/>
              </a:rPr>
              <a:t>Mamta </a:t>
            </a:r>
            <a:r>
              <a:rPr lang="en-US" sz="4000" b="0" i="0" u="none" strike="noStrike" cap="none" dirty="0">
                <a:solidFill>
                  <a:srgbClr val="EAF1DD"/>
                </a:solidFill>
                <a:latin typeface="Times New Roman" panose="02020603050405020304" pitchFamily="18" charset="0"/>
                <a:ea typeface="Calibri"/>
                <a:cs typeface="Times New Roman" panose="02020603050405020304" pitchFamily="18" charset="0"/>
                <a:sym typeface="Calibri"/>
              </a:rPr>
              <a:t>Arora</a:t>
            </a:r>
            <a:r>
              <a:rPr lang="en-US" sz="4000" dirty="0">
                <a:solidFill>
                  <a:srgbClr val="EAF1DD"/>
                </a:solidFill>
                <a:latin typeface="Times New Roman" panose="02020603050405020304" pitchFamily="18" charset="0"/>
                <a:ea typeface="Calibri"/>
                <a:cs typeface="Times New Roman" panose="02020603050405020304" pitchFamily="18" charset="0"/>
                <a:sym typeface="Calibri"/>
              </a:rPr>
              <a:t> Associate Professor, Dept. </a:t>
            </a:r>
            <a:r>
              <a:rPr lang="en-US" sz="4000" dirty="0" smtClean="0">
                <a:solidFill>
                  <a:srgbClr val="EAF1DD"/>
                </a:solidFill>
                <a:latin typeface="Times New Roman" panose="02020603050405020304" pitchFamily="18" charset="0"/>
                <a:ea typeface="Calibri"/>
                <a:cs typeface="Times New Roman" panose="02020603050405020304" pitchFamily="18" charset="0"/>
                <a:sym typeface="Calibri"/>
              </a:rPr>
              <a:t>of </a:t>
            </a:r>
            <a:r>
              <a:rPr lang="en-US" sz="4000" dirty="0">
                <a:solidFill>
                  <a:srgbClr val="EAF1DD"/>
                </a:solidFill>
                <a:latin typeface="Times New Roman" panose="02020603050405020304" pitchFamily="18" charset="0"/>
                <a:ea typeface="Calibri"/>
                <a:cs typeface="Times New Roman" panose="02020603050405020304" pitchFamily="18" charset="0"/>
                <a:sym typeface="Calibri"/>
              </a:rPr>
              <a:t>CST</a:t>
            </a:r>
            <a:endParaRPr sz="4000" dirty="0">
              <a:solidFill>
                <a:srgbClr val="EAF1DD"/>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None/>
            </a:pPr>
            <a:r>
              <a:rPr lang="en-US" sz="4000" dirty="0">
                <a:solidFill>
                  <a:srgbClr val="EAF1DD"/>
                </a:solidFill>
                <a:latin typeface="Times New Roman" panose="02020603050405020304" pitchFamily="18" charset="0"/>
                <a:ea typeface="Calibri"/>
                <a:cs typeface="Times New Roman" panose="02020603050405020304" pitchFamily="18" charset="0"/>
                <a:sym typeface="Calibri"/>
              </a:rPr>
              <a:t>Manav Rachna University, Faridabad</a:t>
            </a:r>
            <a:endParaRPr sz="4000" dirty="0">
              <a:solidFill>
                <a:srgbClr val="EAF1DD"/>
              </a:solidFill>
              <a:latin typeface="Times New Roman" panose="02020603050405020304" pitchFamily="18" charset="0"/>
              <a:ea typeface="Calibri"/>
              <a:cs typeface="Times New Roman" panose="02020603050405020304" pitchFamily="18" charset="0"/>
              <a:sym typeface="Calibri"/>
            </a:endParaRPr>
          </a:p>
        </p:txBody>
      </p:sp>
      <p:sp>
        <p:nvSpPr>
          <p:cNvPr id="33" name="Google Shape;33;p4"/>
          <p:cNvSpPr txBox="1"/>
          <p:nvPr/>
        </p:nvSpPr>
        <p:spPr>
          <a:xfrm>
            <a:off x="1120511" y="5828050"/>
            <a:ext cx="9603660" cy="7201901"/>
          </a:xfrm>
          <a:prstGeom prst="rect">
            <a:avLst/>
          </a:prstGeom>
          <a:solidFill>
            <a:schemeClr val="lt1"/>
          </a:solidFill>
          <a:ln w="12700" cap="flat" cmpd="sng">
            <a:solidFill>
              <a:srgbClr val="366092"/>
            </a:solidFill>
            <a:prstDash val="solid"/>
            <a:round/>
            <a:headEnd type="none" w="sm" len="sm"/>
            <a:tailEnd type="none" w="sm" len="sm"/>
          </a:ln>
        </p:spPr>
        <p:txBody>
          <a:bodyPr spcFirstLastPara="1" wrap="square" lIns="137125" tIns="137125" rIns="137125" bIns="137125" anchor="t" anchorCtr="0">
            <a:spAutoFit/>
          </a:bodyPr>
          <a:lstStyle/>
          <a:p>
            <a:pPr lvl="0" algn="just"/>
            <a:r>
              <a:rPr lang="en-US" sz="2500" dirty="0"/>
              <a:t>Photoplethysmography (PPG) sensors are one of the widely used sensors today. From wearable bands to clinical machines, PPG is widely used to detect heart rate and rhythm. Although the origins of the components of the PPG signal are not fully understood, it is generally accepted that they can provide valuable information about the cardiovascular system. There has been a resurgence of interest in the technique in recent years, driven by the demand for low-cost, simple, and portable technology for primary care and community-based clinical settings, the wide availability of low-cost and small semiconductor components, and the advancement of computer-based pulse wave analysis techniques. PPG signal is potentially used in Atrial fibrillation (AF) detection for its convenience and similarity in physiological origin to electrocardiogram (ECG). Previous studies have shown the possibility of using the peak-to-peak interval of the PPG signal in AF detection. In this study, we implement a model that combines time-frequency analysis with deep learning and identifies AF based on PPG. </a:t>
            </a:r>
            <a:endParaRPr sz="2500" b="0" i="0" u="none" strike="noStrike" cap="none" dirty="0">
              <a:solidFill>
                <a:srgbClr val="000000"/>
              </a:solidFill>
              <a:sym typeface="Arial"/>
            </a:endParaRPr>
          </a:p>
        </p:txBody>
      </p:sp>
      <p:sp>
        <p:nvSpPr>
          <p:cNvPr id="34" name="Google Shape;34;p4"/>
          <p:cNvSpPr/>
          <p:nvPr/>
        </p:nvSpPr>
        <p:spPr>
          <a:xfrm>
            <a:off x="1031531" y="4800600"/>
            <a:ext cx="9692640" cy="685800"/>
          </a:xfrm>
          <a:prstGeom prst="rect">
            <a:avLst/>
          </a:prstGeom>
          <a:solidFill>
            <a:srgbClr val="366092"/>
          </a:solidFill>
          <a:ln w="12700" cap="flat" cmpd="sng">
            <a:solidFill>
              <a:srgbClr val="395E89"/>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1" i="0" u="none" strike="noStrike" cap="none" dirty="0">
                <a:solidFill>
                  <a:srgbClr val="EAF1DD"/>
                </a:solidFill>
                <a:latin typeface="Times New Roman" panose="02020603050405020304" pitchFamily="18" charset="0"/>
                <a:ea typeface="Calibri"/>
                <a:cs typeface="Times New Roman" panose="02020603050405020304" pitchFamily="18" charset="0"/>
                <a:sym typeface="Calibri"/>
              </a:rPr>
              <a:t>Motivation</a:t>
            </a:r>
            <a:endParaRPr dirty="0">
              <a:latin typeface="Times New Roman" panose="02020603050405020304" pitchFamily="18" charset="0"/>
              <a:cs typeface="Times New Roman" panose="02020603050405020304" pitchFamily="18" charset="0"/>
            </a:endParaRPr>
          </a:p>
        </p:txBody>
      </p:sp>
      <p:sp>
        <p:nvSpPr>
          <p:cNvPr id="35" name="Google Shape;35;p4"/>
          <p:cNvSpPr/>
          <p:nvPr/>
        </p:nvSpPr>
        <p:spPr>
          <a:xfrm>
            <a:off x="996572" y="12955989"/>
            <a:ext cx="9692640" cy="685800"/>
          </a:xfrm>
          <a:prstGeom prst="rect">
            <a:avLst/>
          </a:prstGeom>
          <a:solidFill>
            <a:srgbClr val="366092"/>
          </a:solidFill>
          <a:ln w="12700" cap="flat" cmpd="sng">
            <a:solidFill>
              <a:srgbClr val="395E89"/>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1" i="0" u="none" strike="noStrike" cap="none" dirty="0">
                <a:solidFill>
                  <a:srgbClr val="EAF1DD"/>
                </a:solidFill>
                <a:latin typeface="Times New Roman" panose="02020603050405020304" pitchFamily="18" charset="0"/>
                <a:ea typeface="Calibri"/>
                <a:cs typeface="Times New Roman" panose="02020603050405020304" pitchFamily="18" charset="0"/>
                <a:sym typeface="Calibri"/>
              </a:rPr>
              <a:t>Introduction</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6" name="Google Shape;36;p4"/>
          <p:cNvSpPr/>
          <p:nvPr/>
        </p:nvSpPr>
        <p:spPr>
          <a:xfrm>
            <a:off x="11415024" y="4528994"/>
            <a:ext cx="20266676" cy="957406"/>
          </a:xfrm>
          <a:prstGeom prst="rect">
            <a:avLst/>
          </a:prstGeom>
          <a:solidFill>
            <a:srgbClr val="366092"/>
          </a:solidFill>
          <a:ln w="12700" cap="flat" cmpd="sng">
            <a:solidFill>
              <a:srgbClr val="395E89"/>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1" i="0" u="none" strike="noStrike" cap="none" dirty="0" err="1">
                <a:solidFill>
                  <a:srgbClr val="EAF1DD"/>
                </a:solidFill>
                <a:latin typeface="Times New Roman" panose="02020603050405020304" pitchFamily="18" charset="0"/>
                <a:ea typeface="Calibri"/>
                <a:cs typeface="Times New Roman" panose="02020603050405020304" pitchFamily="18" charset="0"/>
                <a:sym typeface="Calibri"/>
              </a:rPr>
              <a:t>Method</a:t>
            </a:r>
            <a:r>
              <a:rPr lang="en-US" sz="4400" b="1" dirty="0" err="1">
                <a:solidFill>
                  <a:srgbClr val="EAF1DD"/>
                </a:solidFill>
                <a:latin typeface="Times New Roman" panose="02020603050405020304" pitchFamily="18" charset="0"/>
                <a:ea typeface="Calibri"/>
                <a:cs typeface="Times New Roman" panose="02020603050405020304" pitchFamily="18" charset="0"/>
                <a:sym typeface="Calibri"/>
              </a:rPr>
              <a:t>odology</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7" name="Google Shape;37;p4"/>
          <p:cNvSpPr/>
          <p:nvPr/>
        </p:nvSpPr>
        <p:spPr>
          <a:xfrm>
            <a:off x="21050654" y="13125165"/>
            <a:ext cx="9692640" cy="685800"/>
          </a:xfrm>
          <a:prstGeom prst="rect">
            <a:avLst/>
          </a:prstGeom>
          <a:solidFill>
            <a:srgbClr val="366092"/>
          </a:solidFill>
          <a:ln w="12700" cap="flat" cmpd="sng">
            <a:solidFill>
              <a:srgbClr val="395E89"/>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1" dirty="0">
                <a:solidFill>
                  <a:srgbClr val="EAF1DD"/>
                </a:solidFill>
                <a:latin typeface="Times New Roman" panose="02020603050405020304" pitchFamily="18" charset="0"/>
                <a:ea typeface="Calibri"/>
                <a:cs typeface="Times New Roman" panose="02020603050405020304" pitchFamily="18" charset="0"/>
                <a:sym typeface="Calibri"/>
              </a:rPr>
              <a:t>Performance</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8" name="Google Shape;38;p4"/>
          <p:cNvSpPr txBox="1"/>
          <p:nvPr/>
        </p:nvSpPr>
        <p:spPr>
          <a:xfrm>
            <a:off x="21734134" y="22548525"/>
            <a:ext cx="9732300" cy="2908418"/>
          </a:xfrm>
          <a:prstGeom prst="rect">
            <a:avLst/>
          </a:prstGeom>
          <a:solidFill>
            <a:schemeClr val="lt1"/>
          </a:solidFill>
          <a:ln w="12700" cap="flat" cmpd="sng">
            <a:solidFill>
              <a:srgbClr val="366092"/>
            </a:solidFill>
            <a:prstDash val="solid"/>
            <a:round/>
            <a:headEnd type="none" w="sm" len="sm"/>
            <a:tailEnd type="none" w="sm" len="sm"/>
          </a:ln>
        </p:spPr>
        <p:txBody>
          <a:bodyPr spcFirstLastPara="1" wrap="square" lIns="137125" tIns="137125" rIns="137125" bIns="137125" anchor="t" anchorCtr="0">
            <a:spAutoFit/>
          </a:bodyPr>
          <a:lstStyle/>
          <a:p>
            <a:pPr marL="457200" lvl="0" indent="-457200" algn="just">
              <a:buSzPts val="2100"/>
              <a:buFont typeface="Arial"/>
              <a:buChar char="•"/>
            </a:pPr>
            <a:r>
              <a:rPr lang="en-US" sz="2500" b="0" i="0" u="none" strike="noStrike" cap="none" dirty="0">
                <a:solidFill>
                  <a:schemeClr val="dk1"/>
                </a:solidFill>
                <a:latin typeface="Times New Roman" panose="02020603050405020304" pitchFamily="18" charset="0"/>
                <a:cs typeface="Times New Roman" panose="02020603050405020304" pitchFamily="18" charset="0"/>
                <a:sym typeface="Arial"/>
              </a:rPr>
              <a:t>In conclusion, our project demonstrates effectiveness of machine learning in </a:t>
            </a:r>
            <a:r>
              <a:rPr lang="en-US" sz="2500" dirty="0" smtClean="0">
                <a:solidFill>
                  <a:schemeClr val="dk1"/>
                </a:solidFill>
                <a:latin typeface="Times New Roman" panose="02020603050405020304" pitchFamily="18" charset="0"/>
                <a:cs typeface="Times New Roman" panose="02020603050405020304" pitchFamily="18" charset="0"/>
              </a:rPr>
              <a:t>detecting and classifying dental cavity.</a:t>
            </a:r>
            <a:r>
              <a:rPr lang="en-US" sz="2500" dirty="0">
                <a:latin typeface="Times New Roman" panose="02020603050405020304" pitchFamily="18" charset="0"/>
                <a:cs typeface="Times New Roman" panose="02020603050405020304" pitchFamily="18" charset="0"/>
              </a:rPr>
              <a:t> After data augmentation, a CNN model was used to detect and classify the cavity. After many experiments and hyper parameter tuning, the highest training accuracy achieved by the model is around </a:t>
            </a:r>
            <a:r>
              <a:rPr lang="en-US" sz="2500" dirty="0" smtClean="0">
                <a:latin typeface="Times New Roman" panose="02020603050405020304" pitchFamily="18" charset="0"/>
                <a:cs typeface="Times New Roman" panose="02020603050405020304" pitchFamily="18" charset="0"/>
              </a:rPr>
              <a:t>97%.</a:t>
            </a:r>
            <a:endParaRPr sz="25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None/>
            </a:pPr>
            <a:endParaRPr sz="25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None/>
            </a:pPr>
            <a:endParaRPr sz="2100" b="0" i="0" u="none" strike="noStrike" cap="none" dirty="0">
              <a:solidFill>
                <a:schemeClr val="dk1"/>
              </a:solidFill>
              <a:latin typeface="Calibri"/>
              <a:ea typeface="Calibri"/>
              <a:cs typeface="Calibri"/>
              <a:sym typeface="Calibri"/>
            </a:endParaRPr>
          </a:p>
        </p:txBody>
      </p:sp>
      <p:sp>
        <p:nvSpPr>
          <p:cNvPr id="39" name="Google Shape;39;p4"/>
          <p:cNvSpPr/>
          <p:nvPr/>
        </p:nvSpPr>
        <p:spPr>
          <a:xfrm>
            <a:off x="21773794" y="20800198"/>
            <a:ext cx="9692640" cy="685800"/>
          </a:xfrm>
          <a:prstGeom prst="rect">
            <a:avLst/>
          </a:prstGeom>
          <a:solidFill>
            <a:srgbClr val="366092"/>
          </a:solidFill>
          <a:ln w="12700" cap="flat" cmpd="sng">
            <a:solidFill>
              <a:srgbClr val="395E89"/>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1" i="0" u="none" strike="noStrike" cap="none" dirty="0">
                <a:solidFill>
                  <a:srgbClr val="EAF1DD"/>
                </a:solidFill>
                <a:latin typeface="Times New Roman" panose="02020603050405020304" pitchFamily="18" charset="0"/>
                <a:ea typeface="Calibri"/>
                <a:cs typeface="Times New Roman" panose="02020603050405020304" pitchFamily="18" charset="0"/>
                <a:sym typeface="Calibri"/>
              </a:rPr>
              <a:t>Conclusions</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40" name="Google Shape;40;p4"/>
          <p:cNvSpPr/>
          <p:nvPr/>
        </p:nvSpPr>
        <p:spPr>
          <a:xfrm>
            <a:off x="11259541" y="19883336"/>
            <a:ext cx="9791113" cy="747751"/>
          </a:xfrm>
          <a:prstGeom prst="rect">
            <a:avLst/>
          </a:prstGeom>
          <a:solidFill>
            <a:srgbClr val="366092"/>
          </a:solidFill>
          <a:ln w="12700" cap="flat" cmpd="sng">
            <a:solidFill>
              <a:srgbClr val="395E89"/>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1" i="0" u="none" strike="noStrike" cap="none" dirty="0">
                <a:solidFill>
                  <a:srgbClr val="EAF1DD"/>
                </a:solidFill>
                <a:latin typeface="Times New Roman" panose="02020603050405020304" pitchFamily="18" charset="0"/>
                <a:ea typeface="Calibri"/>
                <a:cs typeface="Times New Roman" panose="02020603050405020304" pitchFamily="18" charset="0"/>
                <a:sym typeface="Calibri"/>
              </a:rPr>
              <a:t>Results</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41" name="Google Shape;41;p4"/>
          <p:cNvSpPr txBox="1"/>
          <p:nvPr/>
        </p:nvSpPr>
        <p:spPr>
          <a:xfrm>
            <a:off x="3335400" y="27176494"/>
            <a:ext cx="3736500" cy="453900"/>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None/>
            </a:pPr>
            <a:r>
              <a:rPr lang="en-US" sz="25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Table 1.Sample  Dataset</a:t>
            </a:r>
            <a:endParaRPr sz="25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43" name="Google Shape;43;p4"/>
          <p:cNvSpPr txBox="1"/>
          <p:nvPr/>
        </p:nvSpPr>
        <p:spPr>
          <a:xfrm>
            <a:off x="973614" y="14101774"/>
            <a:ext cx="9648117" cy="3939500"/>
          </a:xfrm>
          <a:prstGeom prst="rect">
            <a:avLst/>
          </a:prstGeom>
          <a:noFill/>
          <a:ln w="12700" cap="flat" cmpd="sng">
            <a:solidFill>
              <a:srgbClr val="4472C4"/>
            </a:solidFill>
            <a:prstDash val="solid"/>
            <a:round/>
            <a:headEnd type="none" w="sm" len="sm"/>
            <a:tailEnd type="none" w="sm" len="sm"/>
          </a:ln>
        </p:spPr>
        <p:txBody>
          <a:bodyPr spcFirstLastPara="1" wrap="square" lIns="91425" tIns="45700" rIns="91425" bIns="45700" anchor="t" anchorCtr="0">
            <a:spAutoFit/>
          </a:bodyPr>
          <a:lstStyle/>
          <a:p>
            <a:pPr marL="342900" lvl="0" indent="-209550" algn="just">
              <a:buSzPts val="2100"/>
            </a:pPr>
            <a:r>
              <a:rPr lang="en-US" sz="2500" dirty="0" smtClean="0"/>
              <a:t>  In recent years, </a:t>
            </a:r>
            <a:r>
              <a:rPr lang="en-US" sz="2500" dirty="0"/>
              <a:t>PPG has been studied for long-term monitoring </a:t>
            </a:r>
            <a:r>
              <a:rPr lang="en-US" sz="2500" dirty="0" smtClean="0"/>
              <a:t>of AF</a:t>
            </a:r>
            <a:r>
              <a:rPr lang="en-US" sz="2500" dirty="0"/>
              <a:t>, because of the ease of use and their utilization using wearable and mobile devices. PPG monitoring incorporated into wearable technologies might permit improvements in the detection rate of AF in high-risk patients. Past studies using PPG for AF detection relied on predetermined feature extractions, for example, root-mean-square of successive difference of RR intervals (RMSSD) with Shannon entropy (ShE), and machine learning techniques such as the support vector machine (SVM), artificial neural network, and k-nearest </a:t>
            </a:r>
            <a:r>
              <a:rPr lang="en-US" sz="2500" dirty="0" smtClean="0"/>
              <a:t>neighbor </a:t>
            </a:r>
            <a:r>
              <a:rPr lang="en-US" sz="2500" dirty="0"/>
              <a:t>(KNN)  </a:t>
            </a:r>
            <a:endParaRPr sz="2500" b="0" i="0" u="none" strike="noStrike" cap="none" dirty="0">
              <a:solidFill>
                <a:schemeClr val="dk1"/>
              </a:solidFill>
              <a:sym typeface="Arial"/>
            </a:endParaRPr>
          </a:p>
        </p:txBody>
      </p:sp>
      <p:graphicFrame>
        <p:nvGraphicFramePr>
          <p:cNvPr id="44" name="Google Shape;44;p4"/>
          <p:cNvGraphicFramePr/>
          <p:nvPr>
            <p:extLst>
              <p:ext uri="{D42A27DB-BD31-4B8C-83A1-F6EECF244321}">
                <p14:modId xmlns:p14="http://schemas.microsoft.com/office/powerpoint/2010/main" val="3128057499"/>
              </p:ext>
            </p:extLst>
          </p:nvPr>
        </p:nvGraphicFramePr>
        <p:xfrm>
          <a:off x="1031531" y="22923940"/>
          <a:ext cx="9898200" cy="3604640"/>
        </p:xfrm>
        <a:graphic>
          <a:graphicData uri="http://schemas.openxmlformats.org/drawingml/2006/table">
            <a:tbl>
              <a:tblPr bandRow="1">
                <a:noFill/>
                <a:tableStyleId>{89B11DEB-4ABE-4F2E-9639-77D60ED71ED8}</a:tableStyleId>
              </a:tblPr>
              <a:tblGrid>
                <a:gridCol w="3543850">
                  <a:extLst>
                    <a:ext uri="{9D8B030D-6E8A-4147-A177-3AD203B41FA5}">
                      <a16:colId xmlns:a16="http://schemas.microsoft.com/office/drawing/2014/main" val="20000"/>
                    </a:ext>
                  </a:extLst>
                </a:gridCol>
                <a:gridCol w="3064700">
                  <a:extLst>
                    <a:ext uri="{9D8B030D-6E8A-4147-A177-3AD203B41FA5}">
                      <a16:colId xmlns:a16="http://schemas.microsoft.com/office/drawing/2014/main" val="20001"/>
                    </a:ext>
                  </a:extLst>
                </a:gridCol>
                <a:gridCol w="3289650">
                  <a:extLst>
                    <a:ext uri="{9D8B030D-6E8A-4147-A177-3AD203B41FA5}">
                      <a16:colId xmlns:a16="http://schemas.microsoft.com/office/drawing/2014/main" val="20002"/>
                    </a:ext>
                  </a:extLst>
                </a:gridCol>
              </a:tblGrid>
              <a:tr h="237749">
                <a:tc>
                  <a:txBody>
                    <a:bodyPr/>
                    <a:lstStyle/>
                    <a:p>
                      <a:pPr marL="0" marR="0" lvl="0" indent="0" algn="ctr" rtl="0">
                        <a:lnSpc>
                          <a:spcPct val="100000"/>
                        </a:lnSpc>
                        <a:spcBef>
                          <a:spcPts val="0"/>
                        </a:spcBef>
                        <a:spcAft>
                          <a:spcPts val="0"/>
                        </a:spcAft>
                        <a:buNone/>
                      </a:pPr>
                      <a:r>
                        <a:rPr lang="en-US" sz="2000" b="1" u="none" strike="noStrike" cap="none" dirty="0">
                          <a:solidFill>
                            <a:schemeClr val="lt1"/>
                          </a:solidFill>
                          <a:highlight>
                            <a:srgbClr val="366092"/>
                          </a:highlight>
                          <a:latin typeface="Times New Roman" panose="02020603050405020304" pitchFamily="18" charset="0"/>
                          <a:ea typeface="Arial"/>
                          <a:cs typeface="Times New Roman" panose="02020603050405020304" pitchFamily="18" charset="0"/>
                          <a:sym typeface="Arial"/>
                        </a:rPr>
                        <a:t>classes</a:t>
                      </a:r>
                      <a:endParaRPr dirty="0">
                        <a:latin typeface="Times New Roman" panose="02020603050405020304" pitchFamily="18" charset="0"/>
                        <a:cs typeface="Times New Roman" panose="02020603050405020304" pitchFamily="18" charset="0"/>
                      </a:endParaRPr>
                    </a:p>
                  </a:txBody>
                  <a:tcPr marL="95250" marR="91450"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366092"/>
                    </a:solidFill>
                  </a:tcPr>
                </a:tc>
                <a:tc>
                  <a:txBody>
                    <a:bodyPr/>
                    <a:lstStyle/>
                    <a:p>
                      <a:pPr marL="0" marR="0" lvl="0" indent="0" algn="ctr" rtl="0">
                        <a:lnSpc>
                          <a:spcPct val="100000"/>
                        </a:lnSpc>
                        <a:spcBef>
                          <a:spcPts val="0"/>
                        </a:spcBef>
                        <a:spcAft>
                          <a:spcPts val="0"/>
                        </a:spcAft>
                        <a:buNone/>
                      </a:pPr>
                      <a:r>
                        <a:rPr lang="en-US" sz="2000" b="1" u="none" strike="noStrike" cap="none" dirty="0">
                          <a:solidFill>
                            <a:schemeClr val="lt1"/>
                          </a:solidFill>
                          <a:highlight>
                            <a:srgbClr val="366092"/>
                          </a:highlight>
                          <a:latin typeface="Times New Roman" panose="02020603050405020304" pitchFamily="18" charset="0"/>
                          <a:ea typeface="Arial"/>
                          <a:cs typeface="Times New Roman" panose="02020603050405020304" pitchFamily="18" charset="0"/>
                          <a:sym typeface="Arial"/>
                        </a:rPr>
                        <a:t>No of Images before Augmentation</a:t>
                      </a:r>
                      <a:endParaRPr sz="2000" u="none" strike="noStrike" cap="none" dirty="0">
                        <a:solidFill>
                          <a:schemeClr val="lt1"/>
                        </a:solidFill>
                        <a:highlight>
                          <a:srgbClr val="366092"/>
                        </a:highlight>
                        <a:latin typeface="Times New Roman" panose="02020603050405020304" pitchFamily="18" charset="0"/>
                        <a:ea typeface="Arial"/>
                        <a:cs typeface="Times New Roman" panose="02020603050405020304" pitchFamily="18" charset="0"/>
                        <a:sym typeface="Arial"/>
                      </a:endParaRPr>
                    </a:p>
                  </a:txBody>
                  <a:tcPr marL="95250" marR="91450"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366092"/>
                    </a:solidFill>
                  </a:tcPr>
                </a:tc>
                <a:tc>
                  <a:txBody>
                    <a:bodyPr/>
                    <a:lstStyle/>
                    <a:p>
                      <a:pPr marL="0" marR="0" lvl="0" indent="0" algn="ctr" rtl="0">
                        <a:lnSpc>
                          <a:spcPct val="100000"/>
                        </a:lnSpc>
                        <a:spcBef>
                          <a:spcPts val="0"/>
                        </a:spcBef>
                        <a:spcAft>
                          <a:spcPts val="0"/>
                        </a:spcAft>
                        <a:buNone/>
                      </a:pPr>
                      <a:r>
                        <a:rPr lang="en-US" sz="2000" b="1" u="none" strike="noStrike" cap="none" dirty="0">
                          <a:solidFill>
                            <a:schemeClr val="lt1"/>
                          </a:solidFill>
                          <a:highlight>
                            <a:srgbClr val="366092"/>
                          </a:highlight>
                          <a:latin typeface="Times New Roman" panose="02020603050405020304" pitchFamily="18" charset="0"/>
                          <a:ea typeface="Arial"/>
                          <a:cs typeface="Times New Roman" panose="02020603050405020304" pitchFamily="18" charset="0"/>
                          <a:sym typeface="Arial"/>
                        </a:rPr>
                        <a:t>No of Images after Augmentation</a:t>
                      </a:r>
                      <a:endParaRPr sz="2000" u="none" strike="noStrike" cap="none" dirty="0">
                        <a:solidFill>
                          <a:schemeClr val="lt1"/>
                        </a:solidFill>
                        <a:highlight>
                          <a:srgbClr val="366092"/>
                        </a:highlight>
                        <a:latin typeface="Times New Roman" panose="02020603050405020304" pitchFamily="18" charset="0"/>
                        <a:ea typeface="Arial"/>
                        <a:cs typeface="Times New Roman" panose="02020603050405020304" pitchFamily="18" charset="0"/>
                        <a:sym typeface="Arial"/>
                      </a:endParaRPr>
                    </a:p>
                  </a:txBody>
                  <a:tcPr marL="95250" marR="91450"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366092"/>
                    </a:solidFill>
                  </a:tcPr>
                </a:tc>
                <a:extLst>
                  <a:ext uri="{0D108BD9-81ED-4DB2-BD59-A6C34878D82A}">
                    <a16:rowId xmlns:a16="http://schemas.microsoft.com/office/drawing/2014/main" val="10000"/>
                  </a:ext>
                </a:extLst>
              </a:tr>
              <a:tr h="556622">
                <a:tc>
                  <a:txBody>
                    <a:bodyPr/>
                    <a:lstStyle/>
                    <a:p>
                      <a:pPr marL="457200" marR="0" lvl="0" indent="0" algn="l" rtl="0">
                        <a:lnSpc>
                          <a:spcPct val="100000"/>
                        </a:lnSpc>
                        <a:spcBef>
                          <a:spcPts val="0"/>
                        </a:spcBef>
                        <a:spcAft>
                          <a:spcPts val="0"/>
                        </a:spcAft>
                        <a:buNone/>
                      </a:pPr>
                      <a:r>
                        <a:rPr lang="en-US" sz="2000" u="none" strike="noStrike" cap="none" dirty="0" smtClean="0">
                          <a:latin typeface="Times New Roman" panose="02020603050405020304" pitchFamily="18" charset="0"/>
                          <a:cs typeface="Times New Roman" panose="02020603050405020304" pitchFamily="18" charset="0"/>
                          <a:sym typeface="Arial"/>
                        </a:rPr>
                        <a:t>C0</a:t>
                      </a:r>
                      <a:r>
                        <a:rPr lang="en-IN" sz="2000" u="none" strike="noStrike" cap="none" dirty="0" smtClean="0">
                          <a:latin typeface="Times New Roman" panose="02020603050405020304" pitchFamily="18" charset="0"/>
                          <a:cs typeface="Times New Roman" panose="02020603050405020304" pitchFamily="18" charset="0"/>
                          <a:sym typeface="Arial"/>
                        </a:rPr>
                        <a:t>(No cavity)</a:t>
                      </a:r>
                      <a:endParaRPr dirty="0">
                        <a:latin typeface="Times New Roman" panose="02020603050405020304" pitchFamily="18" charset="0"/>
                        <a:cs typeface="Times New Roman" panose="02020603050405020304" pitchFamily="18" charset="0"/>
                      </a:endParaRPr>
                    </a:p>
                  </a:txBody>
                  <a:tcPr marL="95250" marR="91450" marT="45725" marB="457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dirty="0" smtClean="0">
                          <a:latin typeface="Times New Roman" panose="02020603050405020304" pitchFamily="18" charset="0"/>
                          <a:cs typeface="Times New Roman" panose="02020603050405020304" pitchFamily="18" charset="0"/>
                          <a:sym typeface="Arial"/>
                        </a:rPr>
                        <a:t>20</a:t>
                      </a:r>
                      <a:endParaRPr dirty="0">
                        <a:latin typeface="Times New Roman" panose="02020603050405020304" pitchFamily="18" charset="0"/>
                        <a:cs typeface="Times New Roman" panose="02020603050405020304" pitchFamily="18" charset="0"/>
                      </a:endParaRPr>
                    </a:p>
                  </a:txBody>
                  <a:tcPr marL="95250" marR="91450" marT="45725" marB="457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dirty="0" smtClean="0">
                          <a:latin typeface="Times New Roman" panose="02020603050405020304" pitchFamily="18" charset="0"/>
                          <a:cs typeface="Times New Roman" panose="02020603050405020304" pitchFamily="18" charset="0"/>
                          <a:sym typeface="Arial"/>
                        </a:rPr>
                        <a:t>238</a:t>
                      </a:r>
                      <a:endParaRPr dirty="0">
                        <a:latin typeface="Times New Roman" panose="02020603050405020304" pitchFamily="18" charset="0"/>
                        <a:cs typeface="Times New Roman" panose="02020603050405020304" pitchFamily="18" charset="0"/>
                      </a:endParaRPr>
                    </a:p>
                  </a:txBody>
                  <a:tcPr marL="95250" marR="91450" marT="45725" marB="457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556622">
                <a:tc>
                  <a:txBody>
                    <a:bodyPr/>
                    <a:lstStyle/>
                    <a:p>
                      <a:pPr marL="457200" marR="0" lvl="0" indent="0" algn="l" rtl="0">
                        <a:lnSpc>
                          <a:spcPct val="100000"/>
                        </a:lnSpc>
                        <a:spcBef>
                          <a:spcPts val="0"/>
                        </a:spcBef>
                        <a:spcAft>
                          <a:spcPts val="0"/>
                        </a:spcAft>
                        <a:buNone/>
                      </a:pPr>
                      <a:r>
                        <a:rPr lang="en-US" sz="2000" u="none" strike="noStrike" cap="none" dirty="0" smtClean="0">
                          <a:latin typeface="Times New Roman" panose="02020603050405020304" pitchFamily="18" charset="0"/>
                          <a:ea typeface="Arial"/>
                          <a:cs typeface="Times New Roman" panose="02020603050405020304" pitchFamily="18" charset="0"/>
                          <a:sym typeface="Arial"/>
                        </a:rPr>
                        <a:t>C1(Beginning stage)</a:t>
                      </a:r>
                      <a:endParaRPr dirty="0">
                        <a:latin typeface="Times New Roman" panose="02020603050405020304" pitchFamily="18" charset="0"/>
                        <a:cs typeface="Times New Roman" panose="02020603050405020304" pitchFamily="18" charset="0"/>
                      </a:endParaRPr>
                    </a:p>
                  </a:txBody>
                  <a:tcPr marL="95250" marR="91450"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dirty="0" smtClean="0">
                          <a:latin typeface="Times New Roman" panose="02020603050405020304" pitchFamily="18" charset="0"/>
                          <a:cs typeface="Times New Roman" panose="02020603050405020304" pitchFamily="18" charset="0"/>
                          <a:sym typeface="Arial"/>
                        </a:rPr>
                        <a:t>76</a:t>
                      </a:r>
                      <a:endParaRPr dirty="0">
                        <a:latin typeface="Times New Roman" panose="02020603050405020304" pitchFamily="18" charset="0"/>
                        <a:cs typeface="Times New Roman" panose="02020603050405020304" pitchFamily="18" charset="0"/>
                      </a:endParaRPr>
                    </a:p>
                  </a:txBody>
                  <a:tcPr marL="95250" marR="91450"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dirty="0" smtClean="0">
                          <a:latin typeface="Times New Roman" panose="02020603050405020304" pitchFamily="18" charset="0"/>
                          <a:cs typeface="Times New Roman" panose="02020603050405020304" pitchFamily="18" charset="0"/>
                          <a:sym typeface="Arial"/>
                        </a:rPr>
                        <a:t>867</a:t>
                      </a:r>
                      <a:endParaRPr dirty="0">
                        <a:latin typeface="Times New Roman" panose="02020603050405020304" pitchFamily="18" charset="0"/>
                        <a:cs typeface="Times New Roman" panose="02020603050405020304" pitchFamily="18" charset="0"/>
                      </a:endParaRPr>
                    </a:p>
                  </a:txBody>
                  <a:tcPr marL="95250" marR="91450"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537965">
                <a:tc>
                  <a:txBody>
                    <a:bodyPr/>
                    <a:lstStyle/>
                    <a:p>
                      <a:pPr marL="457200" marR="0" lvl="0" indent="0" algn="l" rtl="0">
                        <a:lnSpc>
                          <a:spcPct val="100000"/>
                        </a:lnSpc>
                        <a:spcBef>
                          <a:spcPts val="0"/>
                        </a:spcBef>
                        <a:spcAft>
                          <a:spcPts val="0"/>
                        </a:spcAft>
                        <a:buNone/>
                      </a:pPr>
                      <a:r>
                        <a:rPr lang="en-US" sz="2000" u="none" strike="noStrike" cap="none" dirty="0" smtClean="0">
                          <a:latin typeface="Times New Roman" panose="02020603050405020304" pitchFamily="18" charset="0"/>
                          <a:cs typeface="Times New Roman" panose="02020603050405020304" pitchFamily="18" charset="0"/>
                          <a:sym typeface="Arial"/>
                        </a:rPr>
                        <a:t>C2(Moderate Stage)</a:t>
                      </a:r>
                      <a:endParaRPr dirty="0">
                        <a:latin typeface="Times New Roman" panose="02020603050405020304" pitchFamily="18" charset="0"/>
                        <a:cs typeface="Times New Roman" panose="02020603050405020304" pitchFamily="18" charset="0"/>
                      </a:endParaRPr>
                    </a:p>
                  </a:txBody>
                  <a:tcPr marL="95250" marR="91450"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dirty="0" smtClean="0">
                          <a:latin typeface="Times New Roman" panose="02020603050405020304" pitchFamily="18" charset="0"/>
                          <a:cs typeface="Times New Roman" panose="02020603050405020304" pitchFamily="18" charset="0"/>
                          <a:sym typeface="Arial"/>
                        </a:rPr>
                        <a:t>40</a:t>
                      </a:r>
                      <a:endParaRPr dirty="0">
                        <a:latin typeface="Times New Roman" panose="02020603050405020304" pitchFamily="18" charset="0"/>
                        <a:cs typeface="Times New Roman" panose="02020603050405020304" pitchFamily="18" charset="0"/>
                      </a:endParaRPr>
                    </a:p>
                  </a:txBody>
                  <a:tcPr marL="95250" marR="91450"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dirty="0" smtClean="0">
                          <a:latin typeface="Times New Roman" panose="02020603050405020304" pitchFamily="18" charset="0"/>
                          <a:cs typeface="Times New Roman" panose="02020603050405020304" pitchFamily="18" charset="0"/>
                          <a:sym typeface="Arial"/>
                        </a:rPr>
                        <a:t>464</a:t>
                      </a:r>
                      <a:endParaRPr dirty="0">
                        <a:latin typeface="Times New Roman" panose="02020603050405020304" pitchFamily="18" charset="0"/>
                        <a:cs typeface="Times New Roman" panose="02020603050405020304" pitchFamily="18" charset="0"/>
                      </a:endParaRPr>
                    </a:p>
                  </a:txBody>
                  <a:tcPr marL="95250" marR="91450"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556622">
                <a:tc>
                  <a:txBody>
                    <a:bodyPr/>
                    <a:lstStyle/>
                    <a:p>
                      <a:pPr marL="457200" marR="0" lvl="0" indent="0" algn="l" rtl="0">
                        <a:lnSpc>
                          <a:spcPct val="100000"/>
                        </a:lnSpc>
                        <a:spcBef>
                          <a:spcPts val="0"/>
                        </a:spcBef>
                        <a:spcAft>
                          <a:spcPts val="0"/>
                        </a:spcAft>
                        <a:buNone/>
                      </a:pPr>
                      <a:r>
                        <a:rPr lang="en-US" sz="2000" u="none" strike="noStrike" cap="none" dirty="0" smtClean="0">
                          <a:latin typeface="Times New Roman" panose="02020603050405020304" pitchFamily="18" charset="0"/>
                          <a:ea typeface="Arial"/>
                          <a:cs typeface="Times New Roman" panose="02020603050405020304" pitchFamily="18" charset="0"/>
                          <a:sym typeface="Arial"/>
                        </a:rPr>
                        <a:t>C3(Severe stage)</a:t>
                      </a:r>
                      <a:endParaRPr dirty="0">
                        <a:latin typeface="Times New Roman" panose="02020603050405020304" pitchFamily="18" charset="0"/>
                        <a:cs typeface="Times New Roman" panose="02020603050405020304" pitchFamily="18" charset="0"/>
                      </a:endParaRPr>
                    </a:p>
                  </a:txBody>
                  <a:tcPr marL="95250" marR="91450"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dirty="0" smtClean="0">
                          <a:latin typeface="Times New Roman" panose="02020603050405020304" pitchFamily="18" charset="0"/>
                          <a:cs typeface="Times New Roman" panose="02020603050405020304" pitchFamily="18" charset="0"/>
                          <a:sym typeface="Arial"/>
                        </a:rPr>
                        <a:t>52</a:t>
                      </a:r>
                      <a:endParaRPr dirty="0">
                        <a:latin typeface="Times New Roman" panose="02020603050405020304" pitchFamily="18" charset="0"/>
                        <a:cs typeface="Times New Roman" panose="02020603050405020304" pitchFamily="18" charset="0"/>
                      </a:endParaRPr>
                    </a:p>
                  </a:txBody>
                  <a:tcPr marL="95250" marR="91450"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dirty="0" smtClean="0">
                          <a:latin typeface="Times New Roman" panose="02020603050405020304" pitchFamily="18" charset="0"/>
                          <a:cs typeface="Times New Roman" panose="02020603050405020304" pitchFamily="18" charset="0"/>
                          <a:sym typeface="Arial"/>
                        </a:rPr>
                        <a:t>694</a:t>
                      </a:r>
                      <a:endParaRPr dirty="0">
                        <a:latin typeface="Times New Roman" panose="02020603050405020304" pitchFamily="18" charset="0"/>
                        <a:cs typeface="Times New Roman" panose="02020603050405020304" pitchFamily="18" charset="0"/>
                      </a:endParaRPr>
                    </a:p>
                  </a:txBody>
                  <a:tcPr marL="95250" marR="91450" marT="45725" marB="457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695759">
                <a:tc>
                  <a:txBody>
                    <a:bodyPr/>
                    <a:lstStyle/>
                    <a:p>
                      <a:pPr marL="0" marR="0" lvl="0" indent="0" algn="l" rtl="0">
                        <a:lnSpc>
                          <a:spcPct val="100000"/>
                        </a:lnSpc>
                        <a:spcBef>
                          <a:spcPts val="0"/>
                        </a:spcBef>
                        <a:spcAft>
                          <a:spcPts val="0"/>
                        </a:spcAft>
                        <a:buNone/>
                      </a:pPr>
                      <a:r>
                        <a:rPr lang="en-US" sz="2000" b="1" u="none" strike="noStrike" cap="none" dirty="0">
                          <a:solidFill>
                            <a:schemeClr val="lt1"/>
                          </a:solidFill>
                          <a:highlight>
                            <a:srgbClr val="366092"/>
                          </a:highlight>
                          <a:latin typeface="Times New Roman" panose="02020603050405020304" pitchFamily="18" charset="0"/>
                          <a:ea typeface="Arial"/>
                          <a:cs typeface="Times New Roman" panose="02020603050405020304" pitchFamily="18" charset="0"/>
                          <a:sym typeface="Arial"/>
                        </a:rPr>
                        <a:t>Total</a:t>
                      </a:r>
                      <a:endParaRPr sz="2000" u="none" strike="noStrike" cap="none" dirty="0">
                        <a:solidFill>
                          <a:schemeClr val="lt1"/>
                        </a:solidFill>
                        <a:highlight>
                          <a:srgbClr val="366092"/>
                        </a:highlight>
                        <a:latin typeface="Times New Roman" panose="02020603050405020304" pitchFamily="18" charset="0"/>
                        <a:ea typeface="Arial"/>
                        <a:cs typeface="Times New Roman" panose="02020603050405020304" pitchFamily="18" charset="0"/>
                        <a:sym typeface="Arial"/>
                      </a:endParaRPr>
                    </a:p>
                  </a:txBody>
                  <a:tcPr marL="95250" marR="91450" marT="45725" marB="45725">
                    <a:lnL w="9525" cap="flat" cmpd="sng">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366092"/>
                    </a:solidFill>
                  </a:tcPr>
                </a:tc>
                <a:tc>
                  <a:txBody>
                    <a:bodyPr/>
                    <a:lstStyle/>
                    <a:p>
                      <a:pPr marL="0" marR="0" lvl="0" indent="0" algn="ctr" rtl="0">
                        <a:lnSpc>
                          <a:spcPct val="100000"/>
                        </a:lnSpc>
                        <a:spcBef>
                          <a:spcPts val="0"/>
                        </a:spcBef>
                        <a:spcAft>
                          <a:spcPts val="0"/>
                        </a:spcAft>
                        <a:buNone/>
                      </a:pPr>
                      <a:r>
                        <a:rPr lang="en-US" sz="2000" b="1" u="none" strike="noStrike" cap="none" dirty="0" smtClean="0">
                          <a:solidFill>
                            <a:schemeClr val="lt1"/>
                          </a:solidFill>
                          <a:highlight>
                            <a:srgbClr val="366092"/>
                          </a:highlight>
                          <a:latin typeface="Times New Roman" panose="02020603050405020304" pitchFamily="18" charset="0"/>
                          <a:cs typeface="Times New Roman" panose="02020603050405020304" pitchFamily="18" charset="0"/>
                          <a:sym typeface="Arial"/>
                        </a:rPr>
                        <a:t>196</a:t>
                      </a:r>
                      <a:endParaRPr dirty="0">
                        <a:latin typeface="Times New Roman" panose="02020603050405020304" pitchFamily="18" charset="0"/>
                        <a:cs typeface="Times New Roman" panose="02020603050405020304" pitchFamily="18" charset="0"/>
                      </a:endParaRPr>
                    </a:p>
                  </a:txBody>
                  <a:tcPr marL="95250" marR="91450" marT="45725" marB="45725">
                    <a:lnL w="9525" cap="flat" cmpd="sng" algn="ctr">
                      <a:solidFill>
                        <a:srgbClr val="9E9E9E"/>
                      </a:solidFill>
                      <a:prstDash val="solid"/>
                      <a:round/>
                      <a:headEnd type="none" w="sm" len="sm"/>
                      <a:tailEnd type="none" w="sm" len="sm"/>
                    </a:lnL>
                    <a:lnR w="9525" cap="flat" cmpd="sng" algn="ctr">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36609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u="none" strike="noStrike" cap="none" dirty="0" smtClean="0">
                          <a:solidFill>
                            <a:schemeClr val="lt1"/>
                          </a:solidFill>
                          <a:highlight>
                            <a:srgbClr val="366092"/>
                          </a:highlight>
                          <a:latin typeface="Times New Roman" panose="02020603050405020304" pitchFamily="18" charset="0"/>
                          <a:cs typeface="Times New Roman" panose="02020603050405020304" pitchFamily="18" charset="0"/>
                          <a:sym typeface="Arial"/>
                        </a:rPr>
                        <a:t>2550</a:t>
                      </a:r>
                      <a:endParaRPr sz="2000" dirty="0">
                        <a:latin typeface="Times New Roman" panose="02020603050405020304" pitchFamily="18" charset="0"/>
                        <a:cs typeface="Times New Roman" panose="02020603050405020304" pitchFamily="18" charset="0"/>
                      </a:endParaRPr>
                    </a:p>
                  </a:txBody>
                  <a:tcPr marL="95250" marR="91450" marT="45725" marB="45725">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366092"/>
                    </a:solidFill>
                  </a:tcPr>
                </a:tc>
                <a:extLst>
                  <a:ext uri="{0D108BD9-81ED-4DB2-BD59-A6C34878D82A}">
                    <a16:rowId xmlns:a16="http://schemas.microsoft.com/office/drawing/2014/main" val="10009"/>
                  </a:ext>
                </a:extLst>
              </a:tr>
            </a:tbl>
          </a:graphicData>
        </a:graphic>
      </p:graphicFrame>
      <p:sp>
        <p:nvSpPr>
          <p:cNvPr id="57" name="Google Shape;57;p4"/>
          <p:cNvSpPr txBox="1"/>
          <p:nvPr/>
        </p:nvSpPr>
        <p:spPr>
          <a:xfrm>
            <a:off x="14079439" y="28181870"/>
            <a:ext cx="4499100" cy="415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100" b="1"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Figure2 : Performance of Model</a:t>
            </a:r>
            <a:endParaRPr sz="21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pic>
        <p:nvPicPr>
          <p:cNvPr id="58" name="Google Shape;58;p4"/>
          <p:cNvPicPr preferRelativeResize="0"/>
          <p:nvPr/>
        </p:nvPicPr>
        <p:blipFill rotWithShape="1">
          <a:blip r:embed="rId3">
            <a:alphaModFix/>
          </a:blip>
          <a:srcRect/>
          <a:stretch/>
        </p:blipFill>
        <p:spPr>
          <a:xfrm>
            <a:off x="155575" y="772200"/>
            <a:ext cx="9105900" cy="2486025"/>
          </a:xfrm>
          <a:prstGeom prst="rect">
            <a:avLst/>
          </a:prstGeom>
          <a:noFill/>
          <a:ln>
            <a:noFill/>
          </a:ln>
        </p:spPr>
      </p:pic>
      <p:graphicFrame>
        <p:nvGraphicFramePr>
          <p:cNvPr id="59" name="Google Shape;59;p4"/>
          <p:cNvGraphicFramePr/>
          <p:nvPr>
            <p:extLst>
              <p:ext uri="{D42A27DB-BD31-4B8C-83A1-F6EECF244321}">
                <p14:modId xmlns:p14="http://schemas.microsoft.com/office/powerpoint/2010/main" val="285674293"/>
              </p:ext>
            </p:extLst>
          </p:nvPr>
        </p:nvGraphicFramePr>
        <p:xfrm>
          <a:off x="21773794" y="14101773"/>
          <a:ext cx="9557675" cy="5438431"/>
        </p:xfrm>
        <a:graphic>
          <a:graphicData uri="http://schemas.openxmlformats.org/drawingml/2006/table">
            <a:tbl>
              <a:tblPr>
                <a:noFill/>
                <a:tableStyleId>{DCA521C7-D5FB-4872-B174-9E1EB87AC3F8}</a:tableStyleId>
              </a:tblPr>
              <a:tblGrid>
                <a:gridCol w="1575050">
                  <a:extLst>
                    <a:ext uri="{9D8B030D-6E8A-4147-A177-3AD203B41FA5}">
                      <a16:colId xmlns:a16="http://schemas.microsoft.com/office/drawing/2014/main" val="20000"/>
                    </a:ext>
                  </a:extLst>
                </a:gridCol>
                <a:gridCol w="1347350">
                  <a:extLst>
                    <a:ext uri="{9D8B030D-6E8A-4147-A177-3AD203B41FA5}">
                      <a16:colId xmlns:a16="http://schemas.microsoft.com/office/drawing/2014/main" val="20001"/>
                    </a:ext>
                  </a:extLst>
                </a:gridCol>
                <a:gridCol w="1533075">
                  <a:extLst>
                    <a:ext uri="{9D8B030D-6E8A-4147-A177-3AD203B41FA5}">
                      <a16:colId xmlns:a16="http://schemas.microsoft.com/office/drawing/2014/main" val="20002"/>
                    </a:ext>
                  </a:extLst>
                </a:gridCol>
                <a:gridCol w="1443775">
                  <a:extLst>
                    <a:ext uri="{9D8B030D-6E8A-4147-A177-3AD203B41FA5}">
                      <a16:colId xmlns:a16="http://schemas.microsoft.com/office/drawing/2014/main" val="20003"/>
                    </a:ext>
                  </a:extLst>
                </a:gridCol>
                <a:gridCol w="1837550">
                  <a:extLst>
                    <a:ext uri="{9D8B030D-6E8A-4147-A177-3AD203B41FA5}">
                      <a16:colId xmlns:a16="http://schemas.microsoft.com/office/drawing/2014/main" val="20004"/>
                    </a:ext>
                  </a:extLst>
                </a:gridCol>
                <a:gridCol w="1820875">
                  <a:extLst>
                    <a:ext uri="{9D8B030D-6E8A-4147-A177-3AD203B41FA5}">
                      <a16:colId xmlns:a16="http://schemas.microsoft.com/office/drawing/2014/main" val="20005"/>
                    </a:ext>
                  </a:extLst>
                </a:gridCol>
              </a:tblGrid>
              <a:tr h="1492334">
                <a:tc>
                  <a:txBody>
                    <a:bodyPr/>
                    <a:lstStyle/>
                    <a:p>
                      <a:pPr marL="0" marR="0" lvl="0" indent="0" algn="ctr" rtl="0">
                        <a:lnSpc>
                          <a:spcPct val="100000"/>
                        </a:lnSpc>
                        <a:spcBef>
                          <a:spcPts val="0"/>
                        </a:spcBef>
                        <a:spcAft>
                          <a:spcPts val="0"/>
                        </a:spcAft>
                        <a:buNone/>
                      </a:pPr>
                      <a:r>
                        <a:rPr lang="en-US" sz="2700" b="1" u="none" strike="noStrike" cap="none" dirty="0">
                          <a:latin typeface="Times New Roman" panose="02020603050405020304" pitchFamily="18" charset="0"/>
                          <a:cs typeface="Times New Roman" panose="02020603050405020304" pitchFamily="18" charset="0"/>
                        </a:rPr>
                        <a:t>Model</a:t>
                      </a:r>
                      <a:endParaRPr sz="2700" dirty="0">
                        <a:latin typeface="Times New Roman" panose="02020603050405020304" pitchFamily="18" charset="0"/>
                        <a:cs typeface="Times New Roman" panose="02020603050405020304" pitchFamily="18" charset="0"/>
                      </a:endParaRPr>
                    </a:p>
                  </a:txBody>
                  <a:tcPr marL="22850" marR="22850" marT="0" marB="0" anchor="b"/>
                </a:tc>
                <a:tc>
                  <a:txBody>
                    <a:bodyPr/>
                    <a:lstStyle/>
                    <a:p>
                      <a:pPr marL="0" marR="0" lvl="0" indent="0" algn="ctr" rtl="0">
                        <a:lnSpc>
                          <a:spcPct val="100000"/>
                        </a:lnSpc>
                        <a:spcBef>
                          <a:spcPts val="0"/>
                        </a:spcBef>
                        <a:spcAft>
                          <a:spcPts val="0"/>
                        </a:spcAft>
                        <a:buNone/>
                      </a:pPr>
                      <a:r>
                        <a:rPr lang="en-US" sz="2700" b="1" u="none" strike="noStrike" cap="none" dirty="0">
                          <a:latin typeface="Times New Roman" panose="02020603050405020304" pitchFamily="18" charset="0"/>
                          <a:cs typeface="Times New Roman" panose="02020603050405020304" pitchFamily="18" charset="0"/>
                        </a:rPr>
                        <a:t>Epochs</a:t>
                      </a:r>
                      <a:endParaRPr sz="2700" dirty="0">
                        <a:latin typeface="Times New Roman" panose="02020603050405020304" pitchFamily="18" charset="0"/>
                        <a:cs typeface="Times New Roman" panose="02020603050405020304" pitchFamily="18" charset="0"/>
                      </a:endParaRPr>
                    </a:p>
                  </a:txBody>
                  <a:tcPr marL="22850" marR="22850" marT="0" marB="0" anchor="b"/>
                </a:tc>
                <a:tc>
                  <a:txBody>
                    <a:bodyPr/>
                    <a:lstStyle/>
                    <a:p>
                      <a:pPr marL="0" marR="0" lvl="0" indent="0" algn="ctr" rtl="0">
                        <a:lnSpc>
                          <a:spcPct val="100000"/>
                        </a:lnSpc>
                        <a:spcBef>
                          <a:spcPts val="0"/>
                        </a:spcBef>
                        <a:spcAft>
                          <a:spcPts val="0"/>
                        </a:spcAft>
                        <a:buNone/>
                      </a:pPr>
                      <a:r>
                        <a:rPr lang="en-US" sz="2700" b="1" u="none" strike="noStrike" cap="none" dirty="0">
                          <a:latin typeface="Times New Roman" panose="02020603050405020304" pitchFamily="18" charset="0"/>
                          <a:cs typeface="Times New Roman" panose="02020603050405020304" pitchFamily="18" charset="0"/>
                        </a:rPr>
                        <a:t>Training accuracy</a:t>
                      </a:r>
                      <a:endParaRPr sz="2700" dirty="0">
                        <a:latin typeface="Times New Roman" panose="02020603050405020304" pitchFamily="18" charset="0"/>
                        <a:cs typeface="Times New Roman" panose="02020603050405020304" pitchFamily="18" charset="0"/>
                      </a:endParaRPr>
                    </a:p>
                  </a:txBody>
                  <a:tcPr marL="22850" marR="22850" marT="0" marB="0" anchor="b"/>
                </a:tc>
                <a:tc>
                  <a:txBody>
                    <a:bodyPr/>
                    <a:lstStyle/>
                    <a:p>
                      <a:pPr marL="0" marR="0" lvl="0" indent="0" algn="ctr" rtl="0">
                        <a:lnSpc>
                          <a:spcPct val="100000"/>
                        </a:lnSpc>
                        <a:spcBef>
                          <a:spcPts val="0"/>
                        </a:spcBef>
                        <a:spcAft>
                          <a:spcPts val="0"/>
                        </a:spcAft>
                        <a:buNone/>
                      </a:pPr>
                      <a:r>
                        <a:rPr lang="en-US" sz="2700" b="1" u="none" strike="noStrike" cap="none" dirty="0">
                          <a:latin typeface="Times New Roman" panose="02020603050405020304" pitchFamily="18" charset="0"/>
                          <a:cs typeface="Times New Roman" panose="02020603050405020304" pitchFamily="18" charset="0"/>
                        </a:rPr>
                        <a:t>Training Loss</a:t>
                      </a:r>
                      <a:endParaRPr sz="2700" dirty="0">
                        <a:latin typeface="Times New Roman" panose="02020603050405020304" pitchFamily="18" charset="0"/>
                        <a:cs typeface="Times New Roman" panose="02020603050405020304" pitchFamily="18" charset="0"/>
                      </a:endParaRPr>
                    </a:p>
                  </a:txBody>
                  <a:tcPr marL="22850" marR="22850" marT="0" marB="0" anchor="b"/>
                </a:tc>
                <a:tc>
                  <a:txBody>
                    <a:bodyPr/>
                    <a:lstStyle/>
                    <a:p>
                      <a:pPr marL="0" marR="0" lvl="0" indent="0" algn="ctr" rtl="0">
                        <a:lnSpc>
                          <a:spcPct val="100000"/>
                        </a:lnSpc>
                        <a:spcBef>
                          <a:spcPts val="0"/>
                        </a:spcBef>
                        <a:spcAft>
                          <a:spcPts val="0"/>
                        </a:spcAft>
                        <a:buNone/>
                      </a:pPr>
                      <a:r>
                        <a:rPr lang="en-US" sz="2700" b="1" u="none" strike="noStrike" cap="none" dirty="0">
                          <a:latin typeface="Times New Roman" panose="02020603050405020304" pitchFamily="18" charset="0"/>
                          <a:cs typeface="Times New Roman" panose="02020603050405020304" pitchFamily="18" charset="0"/>
                        </a:rPr>
                        <a:t>Validation accuracy</a:t>
                      </a:r>
                      <a:endParaRPr sz="2700" dirty="0">
                        <a:latin typeface="Times New Roman" panose="02020603050405020304" pitchFamily="18" charset="0"/>
                        <a:cs typeface="Times New Roman" panose="02020603050405020304" pitchFamily="18" charset="0"/>
                      </a:endParaRPr>
                    </a:p>
                  </a:txBody>
                  <a:tcPr marL="22850" marR="22850" marT="0" marB="0" anchor="b"/>
                </a:tc>
                <a:tc>
                  <a:txBody>
                    <a:bodyPr/>
                    <a:lstStyle/>
                    <a:p>
                      <a:pPr marL="0" marR="0" lvl="0" indent="0" algn="ctr" rtl="0">
                        <a:lnSpc>
                          <a:spcPct val="100000"/>
                        </a:lnSpc>
                        <a:spcBef>
                          <a:spcPts val="0"/>
                        </a:spcBef>
                        <a:spcAft>
                          <a:spcPts val="0"/>
                        </a:spcAft>
                        <a:buNone/>
                      </a:pPr>
                      <a:r>
                        <a:rPr lang="en-US" sz="2700" b="1" u="none" strike="noStrike" cap="none" dirty="0">
                          <a:latin typeface="Times New Roman" panose="02020603050405020304" pitchFamily="18" charset="0"/>
                          <a:cs typeface="Times New Roman" panose="02020603050405020304" pitchFamily="18" charset="0"/>
                        </a:rPr>
                        <a:t>Validation loss</a:t>
                      </a:r>
                      <a:endParaRPr sz="2700" dirty="0">
                        <a:latin typeface="Times New Roman" panose="02020603050405020304" pitchFamily="18" charset="0"/>
                        <a:cs typeface="Times New Roman" panose="02020603050405020304" pitchFamily="18" charset="0"/>
                      </a:endParaRPr>
                    </a:p>
                  </a:txBody>
                  <a:tcPr marL="22850" marR="22850" marT="0" marB="0" anchor="b"/>
                </a:tc>
                <a:extLst>
                  <a:ext uri="{0D108BD9-81ED-4DB2-BD59-A6C34878D82A}">
                    <a16:rowId xmlns:a16="http://schemas.microsoft.com/office/drawing/2014/main" val="10000"/>
                  </a:ext>
                </a:extLst>
              </a:tr>
              <a:tr h="1492334">
                <a:tc rowSpan="4">
                  <a:txBody>
                    <a:bodyPr/>
                    <a:lstStyle/>
                    <a:p>
                      <a:pPr marL="0" marR="0" lvl="0" indent="0" algn="ctr" rtl="0">
                        <a:lnSpc>
                          <a:spcPct val="100000"/>
                        </a:lnSpc>
                        <a:spcBef>
                          <a:spcPts val="0"/>
                        </a:spcBef>
                        <a:spcAft>
                          <a:spcPts val="0"/>
                        </a:spcAft>
                        <a:buNone/>
                      </a:pPr>
                      <a:r>
                        <a:rPr lang="en-US" sz="2400" b="1" u="none" strike="noStrike" cap="none" dirty="0">
                          <a:latin typeface="Times New Roman" panose="02020603050405020304" pitchFamily="18" charset="0"/>
                          <a:cs typeface="Times New Roman" panose="02020603050405020304" pitchFamily="18" charset="0"/>
                        </a:rPr>
                        <a:t>CNN</a:t>
                      </a:r>
                      <a:endParaRPr dirty="0">
                        <a:latin typeface="Times New Roman" panose="02020603050405020304" pitchFamily="18" charset="0"/>
                        <a:cs typeface="Times New Roman" panose="02020603050405020304" pitchFamily="18" charset="0"/>
                      </a:endParaRPr>
                    </a:p>
                  </a:txBody>
                  <a:tcPr marL="22850" marR="22850" marT="0" marB="0" anchor="ctr"/>
                </a:tc>
                <a:tc>
                  <a:txBody>
                    <a:bodyPr/>
                    <a:lstStyle/>
                    <a:p>
                      <a:pPr marL="0" marR="0" lvl="0" indent="0" algn="ctr" rtl="0">
                        <a:lnSpc>
                          <a:spcPct val="100000"/>
                        </a:lnSpc>
                        <a:spcBef>
                          <a:spcPts val="0"/>
                        </a:spcBef>
                        <a:spcAft>
                          <a:spcPts val="0"/>
                        </a:spcAft>
                        <a:buNone/>
                      </a:pPr>
                      <a:r>
                        <a:rPr lang="en-US" sz="2500" u="none" strike="noStrike" cap="none" dirty="0" smtClean="0"/>
                        <a:t>10</a:t>
                      </a:r>
                      <a:endParaRPr sz="2500" dirty="0"/>
                    </a:p>
                  </a:txBody>
                  <a:tcPr marL="22850" marR="22850" marT="0" marB="0" anchor="b"/>
                </a:tc>
                <a:tc>
                  <a:txBody>
                    <a:bodyPr/>
                    <a:lstStyle/>
                    <a:p>
                      <a:pPr marL="0" marR="0" lvl="0" indent="0" algn="ctr" rtl="0">
                        <a:lnSpc>
                          <a:spcPct val="100000"/>
                        </a:lnSpc>
                        <a:spcBef>
                          <a:spcPts val="0"/>
                        </a:spcBef>
                        <a:spcAft>
                          <a:spcPts val="0"/>
                        </a:spcAft>
                        <a:buNone/>
                      </a:pPr>
                      <a:r>
                        <a:rPr lang="en-US" sz="2500" u="none" strike="noStrike" cap="none" dirty="0" smtClean="0"/>
                        <a:t>0.57</a:t>
                      </a:r>
                      <a:endParaRPr sz="2500" dirty="0"/>
                    </a:p>
                  </a:txBody>
                  <a:tcPr marL="22850" marR="22850" marT="0" marB="0" anchor="b"/>
                </a:tc>
                <a:tc>
                  <a:txBody>
                    <a:bodyPr/>
                    <a:lstStyle/>
                    <a:p>
                      <a:pPr marL="0" marR="0" lvl="0" indent="0" algn="ctr" rtl="0">
                        <a:lnSpc>
                          <a:spcPct val="100000"/>
                        </a:lnSpc>
                        <a:spcBef>
                          <a:spcPts val="0"/>
                        </a:spcBef>
                        <a:spcAft>
                          <a:spcPts val="0"/>
                        </a:spcAft>
                        <a:buNone/>
                      </a:pPr>
                      <a:r>
                        <a:rPr lang="en-US" sz="2500" u="none" strike="noStrike" cap="none" dirty="0" smtClean="0"/>
                        <a:t>0.95</a:t>
                      </a:r>
                      <a:endParaRPr sz="2500" dirty="0"/>
                    </a:p>
                  </a:txBody>
                  <a:tcPr marL="22850" marR="22850" marT="0" marB="0" anchor="b"/>
                </a:tc>
                <a:tc>
                  <a:txBody>
                    <a:bodyPr/>
                    <a:lstStyle/>
                    <a:p>
                      <a:pPr marL="0" marR="0" lvl="0" indent="0" algn="ctr" rtl="0">
                        <a:lnSpc>
                          <a:spcPct val="100000"/>
                        </a:lnSpc>
                        <a:spcBef>
                          <a:spcPts val="0"/>
                        </a:spcBef>
                        <a:spcAft>
                          <a:spcPts val="0"/>
                        </a:spcAft>
                        <a:buNone/>
                      </a:pPr>
                      <a:r>
                        <a:rPr lang="en-US" sz="2500" u="none" strike="noStrike" cap="none" dirty="0" smtClean="0"/>
                        <a:t>0.61</a:t>
                      </a:r>
                      <a:endParaRPr sz="2500" dirty="0"/>
                    </a:p>
                  </a:txBody>
                  <a:tcPr marL="22850" marR="22850" marT="0" marB="0" anchor="b"/>
                </a:tc>
                <a:tc>
                  <a:txBody>
                    <a:bodyPr/>
                    <a:lstStyle/>
                    <a:p>
                      <a:pPr marL="0" marR="0" lvl="0" indent="0" algn="ctr" rtl="0">
                        <a:lnSpc>
                          <a:spcPct val="100000"/>
                        </a:lnSpc>
                        <a:spcBef>
                          <a:spcPts val="0"/>
                        </a:spcBef>
                        <a:spcAft>
                          <a:spcPts val="0"/>
                        </a:spcAft>
                        <a:buNone/>
                      </a:pPr>
                      <a:r>
                        <a:rPr lang="en-US" sz="2500" u="none" strike="noStrike" cap="none" dirty="0" smtClean="0"/>
                        <a:t>0.79</a:t>
                      </a:r>
                      <a:endParaRPr sz="2500" dirty="0"/>
                    </a:p>
                  </a:txBody>
                  <a:tcPr marL="22850" marR="22850" marT="0" marB="0" anchor="b"/>
                </a:tc>
                <a:extLst>
                  <a:ext uri="{0D108BD9-81ED-4DB2-BD59-A6C34878D82A}">
                    <a16:rowId xmlns:a16="http://schemas.microsoft.com/office/drawing/2014/main" val="10001"/>
                  </a:ext>
                </a:extLst>
              </a:tr>
              <a:tr h="991536">
                <a:tc vMerge="1">
                  <a:txBody>
                    <a:bodyPr/>
                    <a:lstStyle/>
                    <a:p>
                      <a:endParaRPr lang="en-US"/>
                    </a:p>
                  </a:txBody>
                  <a:tcPr/>
                </a:tc>
                <a:tc>
                  <a:txBody>
                    <a:bodyPr/>
                    <a:lstStyle/>
                    <a:p>
                      <a:pPr marL="0" marR="0" lvl="0" indent="0" algn="ctr" rtl="0">
                        <a:lnSpc>
                          <a:spcPct val="100000"/>
                        </a:lnSpc>
                        <a:spcBef>
                          <a:spcPts val="0"/>
                        </a:spcBef>
                        <a:spcAft>
                          <a:spcPts val="0"/>
                        </a:spcAft>
                        <a:buNone/>
                      </a:pPr>
                      <a:r>
                        <a:rPr lang="en-US" sz="2500" u="none" strike="noStrike" cap="none"/>
                        <a:t>15</a:t>
                      </a:r>
                      <a:endParaRPr sz="2500"/>
                    </a:p>
                  </a:txBody>
                  <a:tcPr marL="22850" marR="22850" marT="0" marB="0" anchor="b"/>
                </a:tc>
                <a:tc>
                  <a:txBody>
                    <a:bodyPr/>
                    <a:lstStyle/>
                    <a:p>
                      <a:pPr marL="0" marR="0" lvl="0" indent="0" algn="ctr" rtl="0">
                        <a:lnSpc>
                          <a:spcPct val="100000"/>
                        </a:lnSpc>
                        <a:spcBef>
                          <a:spcPts val="0"/>
                        </a:spcBef>
                        <a:spcAft>
                          <a:spcPts val="0"/>
                        </a:spcAft>
                        <a:buNone/>
                      </a:pPr>
                      <a:r>
                        <a:rPr lang="en-US" sz="2500" u="none" strike="noStrike" cap="none" dirty="0" smtClean="0"/>
                        <a:t>0.72</a:t>
                      </a:r>
                      <a:endParaRPr sz="2500" dirty="0"/>
                    </a:p>
                  </a:txBody>
                  <a:tcPr marL="22850" marR="22850" marT="0" marB="0" anchor="b"/>
                </a:tc>
                <a:tc>
                  <a:txBody>
                    <a:bodyPr/>
                    <a:lstStyle/>
                    <a:p>
                      <a:pPr marL="0" marR="0" lvl="0" indent="0" algn="ctr" rtl="0">
                        <a:lnSpc>
                          <a:spcPct val="100000"/>
                        </a:lnSpc>
                        <a:spcBef>
                          <a:spcPts val="0"/>
                        </a:spcBef>
                        <a:spcAft>
                          <a:spcPts val="0"/>
                        </a:spcAft>
                        <a:buNone/>
                      </a:pPr>
                      <a:r>
                        <a:rPr lang="en-US" sz="2500" u="none" strike="noStrike" cap="none" dirty="0" smtClean="0"/>
                        <a:t>0.63</a:t>
                      </a:r>
                      <a:endParaRPr sz="2500" dirty="0"/>
                    </a:p>
                  </a:txBody>
                  <a:tcPr marL="22850" marR="22850" marT="0" marB="0" anchor="b"/>
                </a:tc>
                <a:tc>
                  <a:txBody>
                    <a:bodyPr/>
                    <a:lstStyle/>
                    <a:p>
                      <a:pPr marL="0" marR="0" lvl="0" indent="0" algn="ctr" rtl="0">
                        <a:lnSpc>
                          <a:spcPct val="100000"/>
                        </a:lnSpc>
                        <a:spcBef>
                          <a:spcPts val="0"/>
                        </a:spcBef>
                        <a:spcAft>
                          <a:spcPts val="0"/>
                        </a:spcAft>
                        <a:buNone/>
                      </a:pPr>
                      <a:r>
                        <a:rPr lang="en-US" sz="2500" u="none" strike="noStrike" cap="none" dirty="0" smtClean="0"/>
                        <a:t>0.72</a:t>
                      </a:r>
                      <a:endParaRPr sz="2500" dirty="0"/>
                    </a:p>
                  </a:txBody>
                  <a:tcPr marL="22850" marR="22850" marT="0" marB="0" anchor="b"/>
                </a:tc>
                <a:tc>
                  <a:txBody>
                    <a:bodyPr/>
                    <a:lstStyle/>
                    <a:p>
                      <a:pPr marL="0" marR="0" lvl="0" indent="0" algn="ctr" rtl="0">
                        <a:lnSpc>
                          <a:spcPct val="100000"/>
                        </a:lnSpc>
                        <a:spcBef>
                          <a:spcPts val="0"/>
                        </a:spcBef>
                        <a:spcAft>
                          <a:spcPts val="0"/>
                        </a:spcAft>
                        <a:buNone/>
                      </a:pPr>
                      <a:r>
                        <a:rPr lang="en-US" sz="2500" u="none" strike="noStrike" cap="none" dirty="0" smtClean="0"/>
                        <a:t>0.62</a:t>
                      </a:r>
                      <a:endParaRPr sz="2500" dirty="0"/>
                    </a:p>
                  </a:txBody>
                  <a:tcPr marL="22850" marR="22850" marT="0" marB="0" anchor="b"/>
                </a:tc>
                <a:extLst>
                  <a:ext uri="{0D108BD9-81ED-4DB2-BD59-A6C34878D82A}">
                    <a16:rowId xmlns:a16="http://schemas.microsoft.com/office/drawing/2014/main" val="10003"/>
                  </a:ext>
                </a:extLst>
              </a:tr>
              <a:tr h="753319">
                <a:tc vMerge="1">
                  <a:txBody>
                    <a:bodyPr/>
                    <a:lstStyle/>
                    <a:p>
                      <a:endParaRPr lang="en-US"/>
                    </a:p>
                  </a:txBody>
                  <a:tcPr/>
                </a:tc>
                <a:tc>
                  <a:txBody>
                    <a:bodyPr/>
                    <a:lstStyle/>
                    <a:p>
                      <a:pPr marL="0" marR="0" lvl="0" indent="0" algn="ctr" rtl="0">
                        <a:lnSpc>
                          <a:spcPct val="100000"/>
                        </a:lnSpc>
                        <a:spcBef>
                          <a:spcPts val="0"/>
                        </a:spcBef>
                        <a:spcAft>
                          <a:spcPts val="0"/>
                        </a:spcAft>
                        <a:buNone/>
                      </a:pPr>
                      <a:r>
                        <a:rPr lang="en-US" sz="2500" u="none" strike="noStrike" cap="none" dirty="0" smtClean="0"/>
                        <a:t>45</a:t>
                      </a:r>
                      <a:endParaRPr sz="2500" dirty="0"/>
                    </a:p>
                  </a:txBody>
                  <a:tcPr marL="22850" marR="22850" marT="0" marB="0" anchor="b"/>
                </a:tc>
                <a:tc>
                  <a:txBody>
                    <a:bodyPr/>
                    <a:lstStyle/>
                    <a:p>
                      <a:pPr marL="0" marR="0" lvl="0" indent="0" algn="ctr" rtl="0">
                        <a:lnSpc>
                          <a:spcPct val="100000"/>
                        </a:lnSpc>
                        <a:spcBef>
                          <a:spcPts val="0"/>
                        </a:spcBef>
                        <a:spcAft>
                          <a:spcPts val="0"/>
                        </a:spcAft>
                        <a:buNone/>
                      </a:pPr>
                      <a:r>
                        <a:rPr lang="en-US" sz="2500" u="none" strike="noStrike" cap="none" dirty="0" smtClean="0"/>
                        <a:t>0.83</a:t>
                      </a:r>
                      <a:endParaRPr sz="2500" dirty="0"/>
                    </a:p>
                  </a:txBody>
                  <a:tcPr marL="22850" marR="22850" marT="0" marB="0" anchor="b"/>
                </a:tc>
                <a:tc>
                  <a:txBody>
                    <a:bodyPr/>
                    <a:lstStyle/>
                    <a:p>
                      <a:pPr marL="0" marR="0" lvl="0" indent="0" algn="ctr" rtl="0">
                        <a:lnSpc>
                          <a:spcPct val="100000"/>
                        </a:lnSpc>
                        <a:spcBef>
                          <a:spcPts val="0"/>
                        </a:spcBef>
                        <a:spcAft>
                          <a:spcPts val="0"/>
                        </a:spcAft>
                        <a:buNone/>
                      </a:pPr>
                      <a:r>
                        <a:rPr lang="en-US" sz="2500" u="none" strike="noStrike" cap="none" dirty="0" smtClean="0"/>
                        <a:t>0.46</a:t>
                      </a:r>
                      <a:endParaRPr sz="2500" dirty="0"/>
                    </a:p>
                  </a:txBody>
                  <a:tcPr marL="22850" marR="22850" marT="0" marB="0" anchor="b"/>
                </a:tc>
                <a:tc>
                  <a:txBody>
                    <a:bodyPr/>
                    <a:lstStyle/>
                    <a:p>
                      <a:pPr marL="0" marR="0" lvl="0" indent="0" algn="ctr" rtl="0">
                        <a:lnSpc>
                          <a:spcPct val="100000"/>
                        </a:lnSpc>
                        <a:spcBef>
                          <a:spcPts val="0"/>
                        </a:spcBef>
                        <a:spcAft>
                          <a:spcPts val="0"/>
                        </a:spcAft>
                        <a:buNone/>
                      </a:pPr>
                      <a:r>
                        <a:rPr lang="en-IN" sz="2500" dirty="0" smtClean="0"/>
                        <a:t>0.76</a:t>
                      </a:r>
                      <a:endParaRPr sz="2500" dirty="0"/>
                    </a:p>
                  </a:txBody>
                  <a:tcPr marL="22850" marR="22850" marT="0" marB="0" anchor="b"/>
                </a:tc>
                <a:tc>
                  <a:txBody>
                    <a:bodyPr/>
                    <a:lstStyle/>
                    <a:p>
                      <a:pPr marL="0" marR="0" lvl="0" indent="0" algn="ctr" rtl="0">
                        <a:lnSpc>
                          <a:spcPct val="100000"/>
                        </a:lnSpc>
                        <a:spcBef>
                          <a:spcPts val="0"/>
                        </a:spcBef>
                        <a:spcAft>
                          <a:spcPts val="0"/>
                        </a:spcAft>
                        <a:buNone/>
                      </a:pPr>
                      <a:r>
                        <a:rPr lang="en-US" sz="2500" u="none" strike="noStrike" cap="none" dirty="0" smtClean="0"/>
                        <a:t>0.55</a:t>
                      </a:r>
                      <a:endParaRPr sz="2500" dirty="0"/>
                    </a:p>
                  </a:txBody>
                  <a:tcPr marL="22850" marR="22850" marT="0" marB="0" anchor="b"/>
                </a:tc>
                <a:extLst>
                  <a:ext uri="{0D108BD9-81ED-4DB2-BD59-A6C34878D82A}">
                    <a16:rowId xmlns:a16="http://schemas.microsoft.com/office/drawing/2014/main" val="10004"/>
                  </a:ext>
                </a:extLst>
              </a:tr>
              <a:tr h="708908">
                <a:tc vMerge="1">
                  <a:txBody>
                    <a:bodyPr/>
                    <a:lstStyle/>
                    <a:p>
                      <a:endParaRPr lang="en-US"/>
                    </a:p>
                  </a:txBody>
                  <a:tcPr/>
                </a:tc>
                <a:tc>
                  <a:txBody>
                    <a:bodyPr/>
                    <a:lstStyle/>
                    <a:p>
                      <a:pPr marL="0" marR="0" lvl="0" indent="0" algn="ctr" rtl="0">
                        <a:lnSpc>
                          <a:spcPct val="100000"/>
                        </a:lnSpc>
                        <a:spcBef>
                          <a:spcPts val="0"/>
                        </a:spcBef>
                        <a:spcAft>
                          <a:spcPts val="0"/>
                        </a:spcAft>
                        <a:buNone/>
                      </a:pPr>
                      <a:r>
                        <a:rPr lang="en-US" sz="2500" u="none" strike="noStrike" cap="none" dirty="0" smtClean="0"/>
                        <a:t>100</a:t>
                      </a:r>
                      <a:endParaRPr sz="2500" dirty="0"/>
                    </a:p>
                  </a:txBody>
                  <a:tcPr marL="22850" marR="22850" marT="0" marB="0" anchor="b"/>
                </a:tc>
                <a:tc>
                  <a:txBody>
                    <a:bodyPr/>
                    <a:lstStyle/>
                    <a:p>
                      <a:pPr marL="0" marR="0" lvl="0" indent="0" algn="ctr" rtl="0">
                        <a:lnSpc>
                          <a:spcPct val="100000"/>
                        </a:lnSpc>
                        <a:spcBef>
                          <a:spcPts val="0"/>
                        </a:spcBef>
                        <a:spcAft>
                          <a:spcPts val="0"/>
                        </a:spcAft>
                        <a:buNone/>
                      </a:pPr>
                      <a:r>
                        <a:rPr lang="en-IN" sz="2500" dirty="0" smtClean="0"/>
                        <a:t>0.97</a:t>
                      </a:r>
                      <a:endParaRPr sz="2500" dirty="0"/>
                    </a:p>
                  </a:txBody>
                  <a:tcPr marL="22850" marR="22850" marT="0" marB="0" anchor="b"/>
                </a:tc>
                <a:tc>
                  <a:txBody>
                    <a:bodyPr/>
                    <a:lstStyle/>
                    <a:p>
                      <a:pPr marL="0" marR="0" lvl="0" indent="0" algn="ctr" rtl="0">
                        <a:lnSpc>
                          <a:spcPct val="100000"/>
                        </a:lnSpc>
                        <a:spcBef>
                          <a:spcPts val="0"/>
                        </a:spcBef>
                        <a:spcAft>
                          <a:spcPts val="0"/>
                        </a:spcAft>
                        <a:buNone/>
                      </a:pPr>
                      <a:r>
                        <a:rPr lang="en-US" sz="2500" u="none" strike="noStrike" cap="none" dirty="0" smtClean="0"/>
                        <a:t>0.</a:t>
                      </a:r>
                      <a:r>
                        <a:rPr lang="en-IN" sz="2500" u="none" strike="noStrike" cap="none" dirty="0" smtClean="0"/>
                        <a:t>6</a:t>
                      </a:r>
                      <a:endParaRPr sz="2500" dirty="0"/>
                    </a:p>
                  </a:txBody>
                  <a:tcPr marL="22850" marR="22850" marT="0" marB="0" anchor="b"/>
                </a:tc>
                <a:tc>
                  <a:txBody>
                    <a:bodyPr/>
                    <a:lstStyle/>
                    <a:p>
                      <a:pPr marL="0" marR="0" lvl="0" indent="0" algn="ctr" rtl="0">
                        <a:lnSpc>
                          <a:spcPct val="100000"/>
                        </a:lnSpc>
                        <a:spcBef>
                          <a:spcPts val="0"/>
                        </a:spcBef>
                        <a:spcAft>
                          <a:spcPts val="0"/>
                        </a:spcAft>
                        <a:buNone/>
                      </a:pPr>
                      <a:r>
                        <a:rPr lang="en-IN" sz="2500" dirty="0" smtClean="0"/>
                        <a:t>0.91</a:t>
                      </a:r>
                      <a:endParaRPr sz="2500" dirty="0"/>
                    </a:p>
                  </a:txBody>
                  <a:tcPr marL="22850" marR="22850" marT="0" marB="0" anchor="b"/>
                </a:tc>
                <a:tc>
                  <a:txBody>
                    <a:bodyPr/>
                    <a:lstStyle/>
                    <a:p>
                      <a:pPr marL="0" marR="0" lvl="0" indent="0" algn="ctr" rtl="0">
                        <a:lnSpc>
                          <a:spcPct val="100000"/>
                        </a:lnSpc>
                        <a:spcBef>
                          <a:spcPts val="0"/>
                        </a:spcBef>
                        <a:spcAft>
                          <a:spcPts val="0"/>
                        </a:spcAft>
                        <a:buNone/>
                      </a:pPr>
                      <a:r>
                        <a:rPr lang="en-US" sz="2500" u="none" strike="noStrike" cap="none" dirty="0" smtClean="0"/>
                        <a:t>0.29</a:t>
                      </a:r>
                      <a:endParaRPr sz="2500" dirty="0"/>
                    </a:p>
                  </a:txBody>
                  <a:tcPr marL="22850" marR="22850" marT="0" marB="0" anchor="b"/>
                </a:tc>
                <a:extLst>
                  <a:ext uri="{0D108BD9-81ED-4DB2-BD59-A6C34878D82A}">
                    <a16:rowId xmlns:a16="http://schemas.microsoft.com/office/drawing/2014/main" val="10006"/>
                  </a:ext>
                </a:extLst>
              </a:tr>
            </a:tbl>
          </a:graphicData>
        </a:graphic>
      </p:graphicFrame>
      <p:sp>
        <p:nvSpPr>
          <p:cNvPr id="60" name="Google Shape;60;p4"/>
          <p:cNvSpPr txBox="1"/>
          <p:nvPr/>
        </p:nvSpPr>
        <p:spPr>
          <a:xfrm>
            <a:off x="-26894" y="30397939"/>
            <a:ext cx="6393141" cy="17542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700" dirty="0" smtClean="0">
                <a:latin typeface="Times New Roman" panose="02020603050405020304" pitchFamily="18" charset="0"/>
                <a:cs typeface="Times New Roman" panose="02020603050405020304" pitchFamily="18" charset="0"/>
              </a:rPr>
              <a:t>Baddipadaga Yashwanth</a:t>
            </a:r>
            <a:endParaRPr sz="27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None/>
            </a:pPr>
            <a:r>
              <a:rPr lang="en-US" sz="2700" dirty="0">
                <a:latin typeface="Times New Roman" panose="02020603050405020304" pitchFamily="18" charset="0"/>
                <a:cs typeface="Times New Roman" panose="02020603050405020304" pitchFamily="18" charset="0"/>
              </a:rPr>
              <a:t>Manav Rachna </a:t>
            </a:r>
            <a:r>
              <a:rPr lang="en-US" sz="2700" dirty="0" smtClean="0">
                <a:latin typeface="Times New Roman" panose="02020603050405020304" pitchFamily="18" charset="0"/>
                <a:cs typeface="Times New Roman" panose="02020603050405020304" pitchFamily="18" charset="0"/>
              </a:rPr>
              <a:t>University Email:yashwanthreddy2616@gmail.com </a:t>
            </a:r>
            <a:endParaRPr sz="27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None/>
            </a:pPr>
            <a:r>
              <a:rPr lang="en-US" sz="2700" dirty="0">
                <a:latin typeface="Times New Roman" panose="02020603050405020304" pitchFamily="18" charset="0"/>
                <a:cs typeface="Times New Roman" panose="02020603050405020304" pitchFamily="18" charset="0"/>
              </a:rPr>
              <a:t>Phone: </a:t>
            </a:r>
            <a:r>
              <a:rPr lang="en-US" sz="2700" dirty="0" smtClean="0">
                <a:latin typeface="Times New Roman" panose="02020603050405020304" pitchFamily="18" charset="0"/>
                <a:cs typeface="Times New Roman" panose="02020603050405020304" pitchFamily="18" charset="0"/>
              </a:rPr>
              <a:t>9391303369</a:t>
            </a:r>
            <a:endParaRPr sz="2700" dirty="0">
              <a:latin typeface="Times New Roman" panose="02020603050405020304" pitchFamily="18" charset="0"/>
              <a:cs typeface="Times New Roman" panose="02020603050405020304" pitchFamily="18" charset="0"/>
            </a:endParaRPr>
          </a:p>
        </p:txBody>
      </p:sp>
      <p:sp>
        <p:nvSpPr>
          <p:cNvPr id="61" name="Google Shape;61;p4"/>
          <p:cNvSpPr txBox="1"/>
          <p:nvPr/>
        </p:nvSpPr>
        <p:spPr>
          <a:xfrm>
            <a:off x="23398950" y="29109472"/>
            <a:ext cx="9038700" cy="331042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700" b="1" dirty="0">
                <a:solidFill>
                  <a:schemeClr val="dk1"/>
                </a:solidFill>
                <a:latin typeface="Times New Roman" panose="02020603050405020304" pitchFamily="18" charset="0"/>
                <a:ea typeface="Calibri"/>
                <a:cs typeface="Times New Roman" panose="02020603050405020304" pitchFamily="18" charset="0"/>
                <a:sym typeface="Calibri"/>
              </a:rPr>
              <a:t>References</a:t>
            </a:r>
            <a:r>
              <a:rPr lang="en-US" sz="2700" b="1" dirty="0" smtClean="0">
                <a:solidFill>
                  <a:schemeClr val="dk1"/>
                </a:solidFill>
                <a:latin typeface="Times New Roman" panose="02020603050405020304" pitchFamily="18" charset="0"/>
                <a:ea typeface="Calibri"/>
                <a:cs typeface="Times New Roman" panose="02020603050405020304" pitchFamily="18" charset="0"/>
                <a:sym typeface="Calibri"/>
              </a:rPr>
              <a:t>:</a:t>
            </a:r>
          </a:p>
          <a:p>
            <a:pPr algn="just" fontAlgn="base"/>
            <a:r>
              <a:rPr lang="en-IN" dirty="0">
                <a:latin typeface="Times New Roman" panose="02020603050405020304" pitchFamily="18" charset="0"/>
                <a:cs typeface="Times New Roman" panose="02020603050405020304" pitchFamily="18" charset="0"/>
              </a:rPr>
              <a:t>​[1] N. </a:t>
            </a:r>
            <a:r>
              <a:rPr lang="en-IN" dirty="0" err="1">
                <a:latin typeface="Times New Roman" panose="02020603050405020304" pitchFamily="18" charset="0"/>
                <a:cs typeface="Times New Roman" panose="02020603050405020304" pitchFamily="18" charset="0"/>
              </a:rPr>
              <a:t>Bhattacharjee</a:t>
            </a:r>
            <a:r>
              <a:rPr lang="en-IN" dirty="0">
                <a:latin typeface="Times New Roman" panose="02020603050405020304" pitchFamily="18" charset="0"/>
                <a:cs typeface="Times New Roman" panose="02020603050405020304" pitchFamily="18" charset="0"/>
              </a:rPr>
              <a:t>, “Automated Dental Cavity Detection System Using Deep Learning and Explainable AI.” </a:t>
            </a:r>
          </a:p>
          <a:p>
            <a:pPr algn="just" fontAlgn="base"/>
            <a:r>
              <a:rPr lang="en-IN" dirty="0">
                <a:latin typeface="Times New Roman" panose="02020603050405020304" pitchFamily="18" charset="0"/>
                <a:cs typeface="Times New Roman" panose="02020603050405020304" pitchFamily="18" charset="0"/>
              </a:rPr>
              <a:t>​[2] E. Y. Park, H. Cho, S. Kang, S. </a:t>
            </a:r>
            <a:r>
              <a:rPr lang="en-IN" dirty="0" err="1">
                <a:latin typeface="Times New Roman" panose="02020603050405020304" pitchFamily="18" charset="0"/>
                <a:cs typeface="Times New Roman" panose="02020603050405020304" pitchFamily="18" charset="0"/>
              </a:rPr>
              <a:t>Jeong</a:t>
            </a:r>
            <a:r>
              <a:rPr lang="en-IN" dirty="0">
                <a:latin typeface="Times New Roman" panose="02020603050405020304" pitchFamily="18" charset="0"/>
                <a:cs typeface="Times New Roman" panose="02020603050405020304" pitchFamily="18" charset="0"/>
              </a:rPr>
              <a:t>, and E. K. Kim, “Caries detection with tooth surface segmentation on intraoral photographic images using deep learning,” </a:t>
            </a:r>
            <a:r>
              <a:rPr lang="en-IN" i="1" dirty="0">
                <a:latin typeface="Times New Roman" panose="02020603050405020304" pitchFamily="18" charset="0"/>
                <a:cs typeface="Times New Roman" panose="02020603050405020304" pitchFamily="18" charset="0"/>
              </a:rPr>
              <a:t>BMC Oral Health</a:t>
            </a:r>
            <a:r>
              <a:rPr lang="en-IN" dirty="0">
                <a:latin typeface="Times New Roman" panose="02020603050405020304" pitchFamily="18" charset="0"/>
                <a:cs typeface="Times New Roman" panose="02020603050405020304" pitchFamily="18" charset="0"/>
              </a:rPr>
              <a:t>, vol. 22, no. 1, Dec. 2022,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10.1186/s12903-022-02589-1. </a:t>
            </a:r>
          </a:p>
          <a:p>
            <a:pPr algn="just" fontAlgn="base"/>
            <a:r>
              <a:rPr lang="en-IN" dirty="0">
                <a:latin typeface="Times New Roman" panose="02020603050405020304" pitchFamily="18" charset="0"/>
                <a:cs typeface="Times New Roman" panose="02020603050405020304" pitchFamily="18" charset="0"/>
              </a:rPr>
              <a:t>​[3] International Conference on Software Engineering Advances 11. 2016 Rom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ICSEA 2016 the Eleventh International Conference on Software Engineering Advances : August 21-25, 2016, Rome, Italy</a:t>
            </a:r>
            <a:r>
              <a:rPr lang="en-IN" dirty="0">
                <a:latin typeface="Times New Roman" panose="02020603050405020304" pitchFamily="18" charset="0"/>
                <a:cs typeface="Times New Roman" panose="02020603050405020304" pitchFamily="18" charset="0"/>
              </a:rPr>
              <a:t>.  </a:t>
            </a:r>
          </a:p>
          <a:p>
            <a:pPr algn="just" fontAlgn="base"/>
            <a:r>
              <a:rPr lang="en-IN" dirty="0">
                <a:latin typeface="Times New Roman" panose="02020603050405020304" pitchFamily="18" charset="0"/>
                <a:cs typeface="Times New Roman" panose="02020603050405020304" pitchFamily="18" charset="0"/>
              </a:rPr>
              <a:t>​[4] F. </a:t>
            </a:r>
            <a:r>
              <a:rPr lang="en-IN" dirty="0" err="1">
                <a:latin typeface="Times New Roman" panose="02020603050405020304" pitchFamily="18" charset="0"/>
                <a:cs typeface="Times New Roman" panose="02020603050405020304" pitchFamily="18" charset="0"/>
              </a:rPr>
              <a:t>Casalegno</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“Caries Detection with Near-Infrared </a:t>
            </a:r>
            <a:r>
              <a:rPr lang="en-IN" dirty="0" err="1">
                <a:latin typeface="Times New Roman" panose="02020603050405020304" pitchFamily="18" charset="0"/>
                <a:cs typeface="Times New Roman" panose="02020603050405020304" pitchFamily="18" charset="0"/>
              </a:rPr>
              <a:t>Transillumination</a:t>
            </a:r>
            <a:r>
              <a:rPr lang="en-IN" dirty="0">
                <a:latin typeface="Times New Roman" panose="02020603050405020304" pitchFamily="18" charset="0"/>
                <a:cs typeface="Times New Roman" panose="02020603050405020304" pitchFamily="18" charset="0"/>
              </a:rPr>
              <a:t> Using Deep Learning,” </a:t>
            </a:r>
            <a:r>
              <a:rPr lang="en-IN" i="1" dirty="0">
                <a:latin typeface="Times New Roman" panose="02020603050405020304" pitchFamily="18" charset="0"/>
                <a:cs typeface="Times New Roman" panose="02020603050405020304" pitchFamily="18" charset="0"/>
              </a:rPr>
              <a:t>J Dent Res</a:t>
            </a:r>
            <a:r>
              <a:rPr lang="en-IN" dirty="0">
                <a:latin typeface="Times New Roman" panose="02020603050405020304" pitchFamily="18" charset="0"/>
                <a:cs typeface="Times New Roman" panose="02020603050405020304" pitchFamily="18" charset="0"/>
              </a:rPr>
              <a:t>, vol. 98, no. 11, pp. 1227–1233, Oct. 2019,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10.1177/0022034519871884. </a:t>
            </a:r>
          </a:p>
          <a:p>
            <a:pPr lvl="0" algn="just"/>
            <a:r>
              <a:rPr lang="en-IN" dirty="0"/>
              <a:t>​[5] M. T. G. </a:t>
            </a:r>
            <a:r>
              <a:rPr lang="en-IN" dirty="0" err="1"/>
              <a:t>Thanh</a:t>
            </a:r>
            <a:r>
              <a:rPr lang="en-IN" dirty="0"/>
              <a:t>, N. Van </a:t>
            </a:r>
            <a:r>
              <a:rPr lang="en-IN" dirty="0" err="1"/>
              <a:t>Toan</a:t>
            </a:r>
            <a:r>
              <a:rPr lang="en-IN" dirty="0"/>
              <a:t>, V. T. N. Ngoc, N. T. </a:t>
            </a:r>
            <a:r>
              <a:rPr lang="en-IN" dirty="0" err="1"/>
              <a:t>Tra</a:t>
            </a:r>
            <a:r>
              <a:rPr lang="en-IN" dirty="0"/>
              <a:t>, C. N. </a:t>
            </a:r>
            <a:r>
              <a:rPr lang="en-IN" dirty="0" err="1"/>
              <a:t>Giap</a:t>
            </a:r>
            <a:r>
              <a:rPr lang="en-IN" dirty="0"/>
              <a:t>, and D. M. Nguyen, “Deep Learning Application in Dental Caries Detection Using Intraoral Photos Taken by Smartphones,” </a:t>
            </a:r>
            <a:r>
              <a:rPr lang="en-IN" i="1" dirty="0"/>
              <a:t>Applied Sciences (Switzerland)</a:t>
            </a:r>
            <a:r>
              <a:rPr lang="en-IN" dirty="0"/>
              <a:t>, vol. 12, no. 11, Jun. 2022, </a:t>
            </a:r>
            <a:r>
              <a:rPr lang="en-IN" dirty="0" err="1"/>
              <a:t>doi</a:t>
            </a:r>
            <a:r>
              <a:rPr lang="en-IN" dirty="0"/>
              <a:t>: 10.3390/app12115504</a:t>
            </a:r>
            <a:r>
              <a:rPr lang="en-IN" dirty="0" smtClean="0"/>
              <a:t>., </a:t>
            </a:r>
          </a:p>
          <a:p>
            <a:pPr lvl="0" algn="just"/>
            <a:r>
              <a:rPr lang="en-IN" dirty="0"/>
              <a:t>6] S. </a:t>
            </a:r>
            <a:r>
              <a:rPr lang="en-IN" dirty="0" err="1"/>
              <a:t>Ngnamsie</a:t>
            </a:r>
            <a:r>
              <a:rPr lang="en-IN" dirty="0"/>
              <a:t> </a:t>
            </a:r>
            <a:r>
              <a:rPr lang="en-IN" dirty="0" err="1"/>
              <a:t>Njimbouom</a:t>
            </a:r>
            <a:r>
              <a:rPr lang="en-IN" dirty="0"/>
              <a:t>, K. Lee, and J. D. Kim, “MMDCP: Multi-Modal Dental Caries Prediction for Decision Support System Using Deep Learning,” </a:t>
            </a:r>
            <a:r>
              <a:rPr lang="en-IN" i="1" dirty="0" err="1"/>
              <a:t>Int</a:t>
            </a:r>
            <a:r>
              <a:rPr lang="en-IN" i="1" dirty="0"/>
              <a:t> J Environ Res Public Health</a:t>
            </a:r>
            <a:r>
              <a:rPr lang="en-IN" dirty="0"/>
              <a:t>, vol. 19, no. 17, Sep. 2022, </a:t>
            </a:r>
            <a:r>
              <a:rPr lang="en-IN" dirty="0" err="1"/>
              <a:t>doi</a:t>
            </a:r>
            <a:r>
              <a:rPr lang="en-IN" dirty="0"/>
              <a:t>: 10.3390/ijerph191710928. </a:t>
            </a:r>
            <a:r>
              <a:rPr lang="en-IN" dirty="0" err="1" smtClean="0"/>
              <a:t>etc</a:t>
            </a:r>
            <a:endParaRPr sz="2700" b="1" dirty="0">
              <a:solidFill>
                <a:schemeClr val="dk1"/>
              </a:solidFill>
              <a:latin typeface="Calibri"/>
              <a:ea typeface="Calibri"/>
              <a:cs typeface="Calibri"/>
              <a:sym typeface="Calibri"/>
            </a:endParaRPr>
          </a:p>
        </p:txBody>
      </p:sp>
      <p:sp>
        <p:nvSpPr>
          <p:cNvPr id="62" name="Google Shape;62;p4"/>
          <p:cNvSpPr txBox="1"/>
          <p:nvPr/>
        </p:nvSpPr>
        <p:spPr>
          <a:xfrm>
            <a:off x="5957093" y="30156392"/>
            <a:ext cx="5840459" cy="176989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US" sz="2700" dirty="0" smtClean="0">
                <a:solidFill>
                  <a:schemeClr val="dk1"/>
                </a:solidFill>
                <a:latin typeface="Times New Roman" panose="02020603050405020304" pitchFamily="18" charset="0"/>
                <a:cs typeface="Times New Roman" panose="02020603050405020304" pitchFamily="18" charset="0"/>
              </a:rPr>
              <a:t>Jami Ravi Kiran</a:t>
            </a:r>
            <a:endParaRPr sz="2700" dirty="0">
              <a:solidFill>
                <a:schemeClr val="dk1"/>
              </a:solidFill>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Font typeface="Arial"/>
              <a:buNone/>
            </a:pPr>
            <a:r>
              <a:rPr lang="en-US" sz="2700" dirty="0">
                <a:solidFill>
                  <a:schemeClr val="dk1"/>
                </a:solidFill>
                <a:latin typeface="Times New Roman" panose="02020603050405020304" pitchFamily="18" charset="0"/>
                <a:cs typeface="Times New Roman" panose="02020603050405020304" pitchFamily="18" charset="0"/>
              </a:rPr>
              <a:t>Manav Rachna University </a:t>
            </a:r>
            <a:r>
              <a:rPr lang="en-US" sz="2700" dirty="0" smtClean="0">
                <a:solidFill>
                  <a:schemeClr val="dk1"/>
                </a:solidFill>
                <a:latin typeface="Times New Roman" panose="02020603050405020304" pitchFamily="18" charset="0"/>
                <a:cs typeface="Times New Roman" panose="02020603050405020304" pitchFamily="18" charset="0"/>
              </a:rPr>
              <a:t>Email:ravikiran1357924680@gmail.com</a:t>
            </a:r>
            <a:endParaRPr sz="2700" dirty="0">
              <a:solidFill>
                <a:schemeClr val="dk1"/>
              </a:solidFill>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Font typeface="Arial"/>
              <a:buNone/>
            </a:pPr>
            <a:r>
              <a:rPr lang="en-US" sz="2700" dirty="0">
                <a:solidFill>
                  <a:schemeClr val="dk1"/>
                </a:solidFill>
                <a:latin typeface="Times New Roman" panose="02020603050405020304" pitchFamily="18" charset="0"/>
                <a:cs typeface="Times New Roman" panose="02020603050405020304" pitchFamily="18" charset="0"/>
              </a:rPr>
              <a:t>Phone: </a:t>
            </a:r>
            <a:r>
              <a:rPr lang="en-US" sz="2700" dirty="0" smtClean="0">
                <a:solidFill>
                  <a:schemeClr val="dk1"/>
                </a:solidFill>
                <a:latin typeface="Times New Roman" panose="02020603050405020304" pitchFamily="18" charset="0"/>
                <a:cs typeface="Times New Roman" panose="02020603050405020304" pitchFamily="18" charset="0"/>
              </a:rPr>
              <a:t>7981380305</a:t>
            </a:r>
            <a:endParaRPr sz="2700"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63" name="Google Shape;63;p4"/>
          <p:cNvSpPr txBox="1"/>
          <p:nvPr/>
        </p:nvSpPr>
        <p:spPr>
          <a:xfrm>
            <a:off x="18430541" y="30171999"/>
            <a:ext cx="5883000" cy="224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700" dirty="0">
                <a:solidFill>
                  <a:schemeClr val="dk1"/>
                </a:solidFill>
                <a:latin typeface="Times New Roman" panose="02020603050405020304" pitchFamily="18" charset="0"/>
                <a:cs typeface="Times New Roman" panose="02020603050405020304" pitchFamily="18" charset="0"/>
              </a:rPr>
              <a:t>Dr. Mamta Arora(Mentor) </a:t>
            </a:r>
            <a:endParaRPr sz="2700" dirty="0">
              <a:solidFill>
                <a:schemeClr val="dk1"/>
              </a:solidFill>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US" sz="2700" dirty="0">
                <a:solidFill>
                  <a:schemeClr val="dk1"/>
                </a:solidFill>
                <a:latin typeface="Times New Roman" panose="02020603050405020304" pitchFamily="18" charset="0"/>
                <a:cs typeface="Times New Roman" panose="02020603050405020304" pitchFamily="18" charset="0"/>
              </a:rPr>
              <a:t>Manav Rachna University</a:t>
            </a:r>
            <a:endParaRPr sz="2700" dirty="0">
              <a:solidFill>
                <a:schemeClr val="dk1"/>
              </a:solidFill>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US" sz="2700" dirty="0">
                <a:solidFill>
                  <a:schemeClr val="dk1"/>
                </a:solidFill>
                <a:latin typeface="Times New Roman" panose="02020603050405020304" pitchFamily="18" charset="0"/>
                <a:cs typeface="Times New Roman" panose="02020603050405020304" pitchFamily="18" charset="0"/>
              </a:rPr>
              <a:t> Email: mamta@mru.edu.in</a:t>
            </a:r>
            <a:endParaRPr sz="2700" dirty="0">
              <a:solidFill>
                <a:schemeClr val="dk1"/>
              </a:solidFill>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US" sz="2700" dirty="0">
                <a:solidFill>
                  <a:schemeClr val="dk1"/>
                </a:solidFill>
                <a:latin typeface="Times New Roman" panose="02020603050405020304" pitchFamily="18" charset="0"/>
                <a:cs typeface="Times New Roman" panose="02020603050405020304" pitchFamily="18" charset="0"/>
              </a:rPr>
              <a:t>Phone: 9873599315</a:t>
            </a:r>
            <a:endParaRPr sz="2700" dirty="0">
              <a:solidFill>
                <a:schemeClr val="dk1"/>
              </a:solidFill>
              <a:latin typeface="Times New Roman" panose="02020603050405020304" pitchFamily="18" charset="0"/>
              <a:cs typeface="Times New Roman" panose="02020603050405020304" pitchFamily="18" charset="0"/>
            </a:endParaRPr>
          </a:p>
        </p:txBody>
      </p:sp>
      <p:sp>
        <p:nvSpPr>
          <p:cNvPr id="64" name="Google Shape;64;p4"/>
          <p:cNvSpPr txBox="1"/>
          <p:nvPr/>
        </p:nvSpPr>
        <p:spPr>
          <a:xfrm>
            <a:off x="1466850" y="29368750"/>
            <a:ext cx="3736800" cy="68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US" sz="3000" b="1" dirty="0">
                <a:solidFill>
                  <a:schemeClr val="dk1"/>
                </a:solidFill>
                <a:latin typeface="Times New Roman" panose="02020603050405020304" pitchFamily="18" charset="0"/>
                <a:cs typeface="Times New Roman" panose="02020603050405020304" pitchFamily="18" charset="0"/>
              </a:rPr>
              <a:t>Contact</a:t>
            </a:r>
            <a:r>
              <a:rPr lang="en-US" sz="3000" b="1" dirty="0">
                <a:solidFill>
                  <a:schemeClr val="dk1"/>
                </a:solidFill>
              </a:rPr>
              <a:t>:</a:t>
            </a:r>
            <a:endParaRPr sz="3000" dirty="0">
              <a:solidFill>
                <a:schemeClr val="dk1"/>
              </a:solidFill>
              <a:latin typeface="Calibri"/>
              <a:ea typeface="Calibri"/>
              <a:cs typeface="Calibri"/>
              <a:sym typeface="Calibri"/>
            </a:endParaRPr>
          </a:p>
        </p:txBody>
      </p:sp>
      <p:sp>
        <p:nvSpPr>
          <p:cNvPr id="67" name="Google Shape;60;p4"/>
          <p:cNvSpPr txBox="1"/>
          <p:nvPr/>
        </p:nvSpPr>
        <p:spPr>
          <a:xfrm>
            <a:off x="12264848" y="30171999"/>
            <a:ext cx="6341392" cy="17542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700" dirty="0" smtClean="0">
                <a:latin typeface="Times New Roman" panose="02020603050405020304" pitchFamily="18" charset="0"/>
                <a:cs typeface="Times New Roman" panose="02020603050405020304" pitchFamily="18" charset="0"/>
              </a:rPr>
              <a:t>Dinesh Chowdary</a:t>
            </a:r>
            <a:endParaRPr sz="27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None/>
            </a:pPr>
            <a:r>
              <a:rPr lang="en-US" sz="2700" dirty="0">
                <a:latin typeface="Times New Roman" panose="02020603050405020304" pitchFamily="18" charset="0"/>
                <a:cs typeface="Times New Roman" panose="02020603050405020304" pitchFamily="18" charset="0"/>
              </a:rPr>
              <a:t>Manav Rachna </a:t>
            </a:r>
            <a:r>
              <a:rPr lang="en-US" sz="2700" dirty="0" smtClean="0">
                <a:latin typeface="Times New Roman" panose="02020603050405020304" pitchFamily="18" charset="0"/>
                <a:cs typeface="Times New Roman" panose="02020603050405020304" pitchFamily="18" charset="0"/>
              </a:rPr>
              <a:t>University Email:dineshchowdary343@gmail.com </a:t>
            </a:r>
            <a:endParaRPr sz="27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None/>
            </a:pPr>
            <a:r>
              <a:rPr lang="en-US" sz="2700" dirty="0">
                <a:latin typeface="Times New Roman" panose="02020603050405020304" pitchFamily="18" charset="0"/>
                <a:cs typeface="Times New Roman" panose="02020603050405020304" pitchFamily="18" charset="0"/>
              </a:rPr>
              <a:t>Phone: 9182289420</a:t>
            </a:r>
            <a:endParaRPr sz="2700" dirty="0">
              <a:latin typeface="Times New Roman" panose="02020603050405020304" pitchFamily="18" charset="0"/>
              <a:cs typeface="Times New Roman" panose="02020603050405020304" pitchFamily="18" charset="0"/>
            </a:endParaRPr>
          </a:p>
        </p:txBody>
      </p:sp>
      <p:sp>
        <p:nvSpPr>
          <p:cNvPr id="26" name="Google Shape;40;p4"/>
          <p:cNvSpPr/>
          <p:nvPr/>
        </p:nvSpPr>
        <p:spPr>
          <a:xfrm>
            <a:off x="973614" y="19540205"/>
            <a:ext cx="9692700" cy="685800"/>
          </a:xfrm>
          <a:prstGeom prst="rect">
            <a:avLst/>
          </a:prstGeom>
          <a:solidFill>
            <a:srgbClr val="366092"/>
          </a:solidFill>
          <a:ln w="12700" cap="flat" cmpd="sng">
            <a:solidFill>
              <a:srgbClr val="395E89"/>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1" dirty="0" smtClean="0">
                <a:solidFill>
                  <a:srgbClr val="EAF1DD"/>
                </a:solidFill>
                <a:latin typeface="Times New Roman" panose="02020603050405020304" pitchFamily="18" charset="0"/>
                <a:ea typeface="Calibri"/>
                <a:cs typeface="Times New Roman" panose="02020603050405020304" pitchFamily="18" charset="0"/>
                <a:sym typeface="Calibri"/>
              </a:rPr>
              <a:t>Aim</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27" name="Google Shape;43;p4"/>
          <p:cNvSpPr txBox="1"/>
          <p:nvPr/>
        </p:nvSpPr>
        <p:spPr>
          <a:xfrm>
            <a:off x="950716" y="20553769"/>
            <a:ext cx="9715598" cy="1246455"/>
          </a:xfrm>
          <a:prstGeom prst="rect">
            <a:avLst/>
          </a:prstGeom>
          <a:noFill/>
          <a:ln w="12700" cap="flat" cmpd="sng">
            <a:solidFill>
              <a:srgbClr val="4472C4"/>
            </a:solidFill>
            <a:prstDash val="solid"/>
            <a:round/>
            <a:headEnd type="none" w="sm" len="sm"/>
            <a:tailEnd type="none" w="sm" len="sm"/>
          </a:ln>
        </p:spPr>
        <p:txBody>
          <a:bodyPr spcFirstLastPara="1" wrap="square" lIns="91425" tIns="45700" rIns="91425" bIns="45700" anchor="t" anchorCtr="0">
            <a:spAutoFit/>
          </a:bodyPr>
          <a:lstStyle/>
          <a:p>
            <a:pPr lvl="0" algn="just"/>
            <a:r>
              <a:rPr lang="en-US" sz="2500" dirty="0"/>
              <a:t>The objective is to develop efficient, non-invasive machine learning model for diagnosing and monitoring AF, a common cardiac arrhythmia characterized by irregular and rapid heart rhythms.</a:t>
            </a:r>
            <a:endParaRPr sz="2500" b="0" i="0" u="none" strike="noStrike" cap="none" dirty="0">
              <a:solidFill>
                <a:schemeClr val="dk1"/>
              </a:solidFill>
              <a:sym typeface="Arial"/>
            </a:endParaRPr>
          </a:p>
        </p:txBody>
      </p:sp>
      <p:sp>
        <p:nvSpPr>
          <p:cNvPr id="30" name="Google Shape;41;p4"/>
          <p:cNvSpPr txBox="1"/>
          <p:nvPr/>
        </p:nvSpPr>
        <p:spPr>
          <a:xfrm>
            <a:off x="13852249" y="18771760"/>
            <a:ext cx="3736500" cy="453900"/>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None/>
            </a:pPr>
            <a:r>
              <a:rPr lang="en-US" sz="2500" b="1" dirty="0" smtClean="0">
                <a:solidFill>
                  <a:schemeClr val="dk1"/>
                </a:solidFill>
                <a:latin typeface="Times New Roman" panose="02020603050405020304" pitchFamily="18" charset="0"/>
                <a:ea typeface="Calibri"/>
                <a:cs typeface="Times New Roman" panose="02020603050405020304" pitchFamily="18" charset="0"/>
                <a:sym typeface="Calibri"/>
              </a:rPr>
              <a:t>Figure</a:t>
            </a:r>
            <a:r>
              <a:rPr lang="en-US" sz="2500" b="1" i="0" u="none" strike="noStrike" cap="none" dirty="0" smtClean="0">
                <a:solidFill>
                  <a:schemeClr val="dk1"/>
                </a:solidFill>
                <a:latin typeface="Times New Roman" panose="02020603050405020304" pitchFamily="18" charset="0"/>
                <a:ea typeface="Calibri"/>
                <a:cs typeface="Times New Roman" panose="02020603050405020304" pitchFamily="18" charset="0"/>
                <a:sym typeface="Calibri"/>
              </a:rPr>
              <a:t> </a:t>
            </a:r>
            <a:r>
              <a:rPr lang="en-US" sz="25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1.Sample  Dataset</a:t>
            </a:r>
            <a:endParaRPr sz="25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pic>
        <p:nvPicPr>
          <p:cNvPr id="6" name="Picture 5"/>
          <p:cNvPicPr>
            <a:picLocks noChangeAspect="1"/>
          </p:cNvPicPr>
          <p:nvPr/>
        </p:nvPicPr>
        <p:blipFill>
          <a:blip r:embed="rId4"/>
          <a:stretch>
            <a:fillRect/>
          </a:stretch>
        </p:blipFill>
        <p:spPr>
          <a:xfrm>
            <a:off x="28810974" y="772200"/>
            <a:ext cx="2520496" cy="2450806"/>
          </a:xfrm>
          <a:prstGeom prst="rect">
            <a:avLst/>
          </a:prstGeom>
        </p:spPr>
      </p:pic>
      <p:sp>
        <p:nvSpPr>
          <p:cNvPr id="7" name="AutoShape 2" descr="data:image/png;base64,iVBORw0KGgoAAAANSUhEUgAAA04AAAIjCAYAAAA0vUuxAAAAOXRFWHRTb2Z0d2FyZQBNYXRwbG90bGliIHZlcnNpb24zLjcuMSwgaHR0cHM6Ly9tYXRwbG90bGliLm9yZy/bCgiHAAAACXBIWXMAAA9hAAAPYQGoP6dpAADoGklEQVR4nOzdd3iTVRsG8DvdLdAyWkpLS8seAgURERApgjKUVTYqQwVlyFSBj40KDkAQGYogDkAQKqIgCEhlKggUAdmUVfZqbYGONN8fx5PVjDdtRpvev+vq9SZv3iQnadPkyfOc56g0Go0GREREREREZJaHqwdARERERERU0DFwIiIiIiIisoKBExERERERkRUMnIiIiIiIiKxg4ERERERERGQFAyciIiIiIiIrGDgRERERERFZwcCJiIiIiIjICgZOREREREREVjBwIofo168foqOj83TdKVOmQKVS2XdABcz58+ehUqmwbNkyp95vQkICVCoVEhIStPuU/q4cNebo6Gj069fPrrepxLJly6BSqXD+/Hmn3zcRWcf3Ecv4PqLjqvcRKnoYOBUxKpVK0Y/+P0Si/NqzZw+mTJmCe/fuuXooRJRPfB8hV+D7CBUEXq4eADnXN998Y3D+66+/xpYtW3Ltr1mzZr7uZ/HixcjJycnTdSdMmICxY8fm6/5Jufz8rpTas2cPpk6din79+qFkyZIGl508eRIeHvwOh6iw4PsIGeP7CBUVDJyKmBdffNHg/B9//IEtW7bk2m/s/v37CAgIUHw/3t7eeRofAHh5ecHLi3+azpKf35U9+Pr6uvT+icg2fB8hY3wfKRzS09NRrFgxVw+jUGN4TrnExsaidu3aOHDgAJ566ikEBATgf//7HwDgxx9/xHPPPYfw8HD4+vqicuXKeOedd6BWqw1uw7jeWdY1z5w5E59//jkqV64MX19fNGzYEPv37ze4rqnadJVKhaFDh2LdunWoXbs2fH198cgjj2DTpk25xp+QkIDHHnsMfn5+qFy5Mj777DPF9e47d+5Et27dUKFCBfj6+iIyMhIjR47EgwcPcj2+4sWLIzk5GZ06dULx4sUREhKCN998M9dzce/ePfTr1w9BQUEoWbIk+vbtq6jU4K+//oJKpcJXX32V67LNmzdDpVLh559/BgBcuHABgwcPRvXq1eHv748yZcqgW7duiubvmKpNVzrmv//+G/369UOlSpXg5+eHcuXK4eWXX8bt27e1x0yZMgVvvfUWAKBixYraMh45NlO16efOnUO3bt1QunRpBAQE4IknnsCGDRsMjpF19qtXr8Z7772HiIgI+Pn5oWXLljhz5ozVx23OggUL8Mgjj8DX1xfh4eEYMmRIrsd++vRpdOnSBeXKlYOfnx8iIiLQs2dPpKSkaI/ZsmULnnzySZQsWRLFixdH9erVta8jInfH9xG+jxSF9xFbnrN79+5h5MiRiI6Ohq+vLyIiItCnTx/cunVLe8zDhw8xZcoUVKtWDX5+fggLC0NcXBzOnj1rMF7jMlhTc8fk39fZs2fRrl07lChRAi+88AIA5X+jAHDixAl0794dISEh8Pf3R/Xq1TF+/HgAwPbt26FSqfDDDz/kut6KFSugUqmwd+9eq89jYcKvY8ik27dvo23btujZsydefPFFhIaGAhAT6osXL45Ro0ahePHi+O233zBp0iSkpqbio48+snq7K1aswL///ovXXnsNKpUKH374IeLi4nDu3Dmr31jt2rUL8fHxGDx4MEqUKIFPPvkEXbp0wcWLF1GmTBkAwKFDh9CmTRuEhYVh6tSpUKvVmDZtGkJCQhQ97u+//x7379/HoEGDUKZMGezbtw/z5s3D5cuX8f333xscq1ar0bp1azRq1AgzZ87E1q1bMWvWLFSuXBmDBg0CAGg0GnTs2BG7du3C66+/jpo1a+KHH35A3759rY7lscceQ6VKlbB69epcx69atQqlSpVC69atAQD79+/Hnj170LNnT0REROD8+fNYuHAhYmNj8c8//9j0La8tY96yZQvOnTuH/v37o1y5cjh27Bg+//xzHDt2DH/88QdUKhXi4uJw6tQprFy5Eh9//DGCg4MBwOzv5Pr162jSpAnu37+PYcOGoUyZMvjqq6/QoUMHrFmzBp07dzY4/v3334eHhwfefPNNpKSk4MMPP8QLL7yAP//8U/FjlqZMmYKpU6eiVatWGDRoEE6ePImFCxdi//792L17N7y9vZGZmYnWrVsjIyMDb7zxBsqVK4fk5GT8/PPPuHfvHoKCgnDs2DE8//zzqFu3LqZNmwZfX1+cOXMGu3fvtnlMRIUV30f4PuLu7yNKn7O0tDQ0a9YMx48fx8svv4xHH30Ut27dwvr163H58mUEBwdDrVbj+eefx7Zt29CzZ08MHz4c//77L7Zs2YKjR4+icuXKip9/KTs7G61bt8aTTz6JmTNnasej9G/077//RrNmzeDt7Y2BAwciOjoaZ8+exU8//YT33nsPsbGxiIyMxPLly3M9p8uXL0flypXRuHFjm8ddoGmoSBsyZIjG+M+gefPmGgCaRYsW5Tr+/v37ufa99tprmoCAAM3Dhw+1+/r27auJiorSnk9KStIA0JQpU0Zz584d7f4ff/xRA0Dz008/afdNnjw515gAaHx8fDRnzpzR7jt8+LAGgGbevHnafe3bt9cEBARokpOTtftOnz6t8fLyynWbpph6fDNmzNCoVCrNhQsXDB4fAM20adMMjq1fv76mQYMG2vPr1q3TANB8+OGH2n3Z2dmaZs2aaQBovvzyS4vjGTdunMbb29vgOcvIyNCULFlS8/LLL1sc9969ezUANF9//bV23/bt2zUANNu3bzd4LPq/K1vGbOp+V65cqQGg2bFjh3bfRx99pAGgSUpKynV8VFSUpm/fvtrzI0aM0ADQ7Ny5U7vv33//1VSsWFETHR2tUavVBo+lZs2amoyMDO2xc+fO1QDQHDlyJNd96fvyyy8NxnTjxg2Nj4+P5tlnn9Xeh0aj0Xz66acaAJqlS5dqNBqN5tChQxoAmu+//97sbX/88ccaAJqbN29aHAORO+D7iPXHx/cR93wfUfqcTZo0SQNAEx8fn+v4nJwcjUaj0SxdulQDQDN79myzx5h67jUa3WtD/3mVf19jx45VNG5Tf6NPPfWUpkSJEgb79Mej0Yi/L19fX829e/e0+27cuKHx8vLSTJ48Odf9FHYs1SOTfH190b9//1z7/f39taf//fdf3Lp1C82aNcP9+/dx4sQJq7fbo0cPlCpVSnu+WbNmAERK3ZpWrVoZfONSt25dBAYGaq+rVquxdetWdOrUCeHh4drjqlSpgrZt21q9fcDw8aWnp+PWrVto0qQJNBoNDh06lOv4119/3eB8s2bNDB7Lxo0b4eXlpf3mEAA8PT3xxhtvKBpPjx49kJWVhfj4eO2+X3/9Fffu3UOPHj1MjjsrKwu3b99GlSpVULJkSRw8eFDRfeVlzPr3+/DhQ9y6dQtPPPEEANh8v/r3//jjj+PJJ5/U7itevDgGDhyI8+fP459//jE4vn///vDx8dGet+VvSt/WrVuRmZmJESNGGEwyHjBgAAIDA7UlHkFBQQBEmcv9+/dN3pacuPzjjz86fMI0UUHF9xG+j7j7+4jS52zt2rWIiYnJlZUBoC3/XLt2LYKDg00+R/lpra//OzA1bnN/ozdv3sSOHTvw8ssvo0KFCmbH06dPH2RkZGDNmjXafatWrUJ2drbVeY+FEQMnMql8+fIG/0SkY8eOoXPnzggKCkJgYCBCQkK0Lwz9+R3mGL/45Jvf3bt3bb6uvL687o0bN/DgwQNUqVIl13Gm9ply8eJF9OvXD6VLl9bWmzdv3hxA7sfn5+eXq0xAfzyAqH8OCwtD8eLFDY6rXr26ovHExMSgRo0aWLVqlXbfqlWrEBwcjKefflq778GDB5g0aRIiIyPh6+uL4OBghISE4N69e4p+L/psGfOdO3cwfPhwhIaGwt/fHyEhIahYsSIAZX8P5u7f1H3JDl0XLlww2J+fvynj+wVyP04fHx9UqlRJe3nFihUxatQofPHFFwgODkbr1q0xf/58g8fbo0cPNG3aFK+++ipCQ0PRs2dPrF69mkEUFSl8H+H7iLu/jyh9zs6ePYvatWtbvK2zZ8+ievXqdm1q4uXlhYiIiFz7lfyNyqDR2rhr1KiBhg0bYvny5dp9y5cvxxNPPKH4NVOYcI4TmaT/bYR07949NG/eHIGBgZg2bRoqV64MPz8/HDx4EGPGjFH0odDT09Pkfo1G49DrKqFWq/HMM8/gzp07GDNmDGrUqIFixYohOTkZ/fr1y/X4zI3H3nr06IH33nsPt27dQokSJbB+/Xr06tXL4J/rG2+8gS+//BIjRoxA48aNERQUBJVKhZ49ezr0w3r37t2xZ88evPXWW6hXrx6KFy+OnJwctGnTxmlBgqP/LkyZNWsW+vXrhx9//BG//vorhg0bhhkzZuCPP/5AREQE/P39sWPHDmzfvh0bNmzApk2bsGrVKjz99NP49ddfnfa3Q+RKfB/h+4gShfl9xNnPmbnMk3EzEcnX1zdXm3Zb/0aV6NOnD4YPH47Lly8jIyMDf/zxBz799FObb6cwYOBEiiUkJOD27duIj4/HU089pd2flJTkwlHplC1bFn5+fiY74SjpjnPkyBGcOnUKX331Ffr06aPdv2XLljyPKSoqCtu2bUNaWprBN28nT55UfBs9evTA1KlTsXbtWoSGhiI1NRU9e/Y0OGbNmjXo27cvZs2apd338OHDPC0UqHTMd+/exbZt2zB16lRMmjRJu//06dO5btOWMoOoqCiTz48s4YmKilJ8W7aQt3vy5ElUqlRJuz8zMxNJSUlo1aqVwfF16tRBnTp1MGHCBOzZswdNmzbFokWL8O677wIAPDw80LJlS7Rs2RKzZ8/G9OnTMX78eGzfvj3XbREVFXwfsR3fR4SC+D6i9DmrXLkyjh49avG2KleujD///BNZWVlmm5zITJjx7Rtn0CxR+jcq3wetjRsAevbsiVGjRmHlypV48OABvL29DcpA3QlL9Ugx+Y2M/jcwmZmZWLBggauGZMDT0xOtWrXCunXrcOXKFe3+M2fO4JdfflF0fcDw8Wk0GsydOzfPY2rXrh2ys7OxcOFC7T61Wo158+Ypvo2aNWuiTp06WLVqFVatWoWwsDCDDxxy7MbfjM2bN8/st1D2GLOp5wsA5syZk+s25boRSt6A27Vrh3379hm0ME1PT8fnn3+O6Oho1KpVS+lDsUmrVq3g4+ODTz75xOAxLVmyBCkpKXjuuecAAKmpqcjOzja4bp06deDh4YGMjAwAovTEWL169QBAewxRUcT3EdvxfUQoiO8jSp+zLl264PDhwybbdsvrd+nSBbdu3TKZqZHHREVFwdPTEzt27DC43JbXj9K/0ZCQEDz11FNYunQpLl68aHI8UnBwMNq2bYtvv/0Wy5cvR5s2bbSdD90NM06kWJMmTVCqVCn07dsXw4YNg0qlwjfffOPQkihbTZkyBb/++iuaNm2KQYMGQa1W49NPP0Xt2rWRmJho8bo1atRA5cqV8eabbyI5ORmBgYFYu3atzXNl9LVv3x5NmzbF2LFjcf78edSqVQvx8fE212336NEDkyZNgp+fH1555ZVcqffnn38e33zzDYKCglCrVi3s3bsXW7du1bbXdcSYAwMD8dRTT+HDDz9EVlYWypcvj19//dXkN8cNGjQAAIwfPx49e/aEt7c32rdvb3IhvrFjx2LlypVo27Ythg0bhtKlS+Orr75CUlIS1q5d67DV4UNCQjBu3DhMnToVbdq0QYcOHXDy5EksWLAADRs21M7B+O233zB06FB069YN1apVQ3Z2Nr755ht4enqiS5cuAIBp06Zhx44deO655xAVFYUbN25gwYIFiIiIMJisTFTU8H3EdnwfEQri+4jS5+ytt97CmjVr0K1bN7z88sto0KAB7ty5g/Xr12PRokWIiYlBnz598PXXX2PUqFHYt28fmjVrhvT0dGzduhWDBw9Gx44dERQUhG7dumHevHlQqVSoXLkyfv75Z9y4cUPxmG35G/3kk0/w5JNP4tFHH8XAgQNRsWJFnD9/Hhs2bMj1WujTpw+6du0KAHjnnXdsfzILCQZOpFiZMmXw888/Y/To0ZgwYQJKlSqFF198ES1bttSuA+FqDRo0wC+//II333wTEydORGRkJKZNm4bjx49b7dbk7e2Nn376STtfxc/PD507d8bQoUMRExOTp/F4eHhg/fr1GDFiBL799luoVCp06NABs2bNQv369RXfTo8ePTBhwgTcv3/fZPp77ty58PT0xPLly/Hw4UM0bdoUW7duzdPvxZYxr1ixAm+88Qbmz58PjUaDZ599Fr/88otBNyoAaNiwId555x0sWrQImzZtQk5ODpKSkky+4YWGhmLPnj0YM2YM5s2bh4cPH6Ju3br46aeftFkfR5kyZQpCQkLw6aefYuTIkShdujQGDhyI6dOna0snYmJi0Lp1a/z0009ITk5GQEAAYmJi8Msvv2g7QXXo0AHnz5/H0qVLcevWLQQHB6N58+aYOnWqtisfUVHE9xHb8X1EKIjvI0qfs+LFi2Pnzp2YPHkyfvjhB3z11VcoW7YsWrZsqW3e4OnpiY0bN+K9997DihUrsHbtWpQpUwZPPvkk6tSpo72tefPmISsrC4sWLYKvry+6d++Ojz76yGoTB8mWv9GYmBj88ccfmDhxIhYuXIiHDx8iKioK3bt3z3W77du3R6lSpZCTk4MOHTrY+lQWGipNQfqah8hBOnXqhGPHjpmsmyYiIrKG7yNE5mVnZyM8PBzt27fHkiVLXD0ch+EcJ3I7Dx48MDh/+vRpbNy4EbGxsa4ZEBERFSp8HyGyzbp163Dz5k2DhhPuiBkncjthYWHo16+fdu2dhQsXIiMjA4cOHULVqlVdPTwiIirg+D5CpMyff/6Jv//+G++88w6Cg4PzvGhxYcE5TuR22rRpg5UrV+LatWvw9fVF48aNMX36dL7ZERGRInwfIVJm4cKF+Pbbb1GvXj0sW7bM1cNxOGaciIiIiIiIrHDpHKcdO3agffv2CA8Ph0qlwrp16xRfd/fu3fDy8tKujUJEREREROQoLg2c0tPTERMTg/nz59t0vXv37qFPnz5o2bKlg0ZGRERERESkU2BK9VQqFX744Qd06tTJ6rE9e/ZE1apV4enpiXXr1lldkE5fTk4Orly5ghIlSkClUuV9wEREZDONRoN///0X4eHhDlvMuDDiexMRkWvY8r5U6JpDfPnllzh37hy+/fZbvPvuu1aPz8jIQEZGhvZ8cnIyatWq5cghEhGRFZcuXdIu/EjAlStXEBkZ6ephEBEVWUrelwpV4HT69GmMHTsWO3fuhJeXsqHPmDEDU6dOzbX/0qVLCAwMtPcQiYjIgtTUVERGRqJEiRKuHkqBIp8PvjcRETmXLe9LhSZwUqvV6N27N6ZOnYpq1aopvt64ceMwatQo7Xn55AQGBvLNiYjIRViOZkg+H3xvIiJyDSXvS4WmwPzff//FX3/9haFDh8LLywteXl6YNm0aDh8+DC8vL/z2228mr+fr66t9I+IbEhERWZOXjq8JCQl49NFH4evriypVqhSJ9UyIiIqaQhM4BQYG4siRI0hMTNT+vP7666hevToSExPRqFEjVw+RiIjcgK0dX5OSkvDcc8+hRYsWSExMxIgRI/Dqq69i8+bNDh4pERE5k0tL9dLS0nDmzBnt+aSkJCQmJqJ06dKoUKECxo0bh+TkZHz99dfw8PBA7dq1Da5ftmxZ+Pn55dpPRESUV23btkXbtm0VH79o0SJUrFgRs2bNAgDUrFkTu3btwscff4zWrVs7aphERORkLg2c/vrrL7Ro0UJ7Xs5F6tu3L5YtW4arV6/i4sWLrhoeUZGh0WiQnZ0NtVrt6qFQIefp6QkvL68iNYdp7969aNWqlcG+1q1bY8SIEWavY9zxNTU11er98HVK+VEUX5tE9ubSwCk2NhaWlpGyViM+ZcoUTJkyxb6DIipiMjMzcfXqVdy/f9/VQyE3ERAQgLCwMPj4+Lh6KE5x7do1hIaGGuwLDQ1FamoqHjx4AH9//1zXMdfx1Ry+Tskeitprk8jeCk1XPSKyv5ycHCQlJcHT0xPh4eHw8fHht5GUZxqNBpmZmbh58yaSkpJQtWpVLnJrhrmOr6bwdUr5xdcmkX0wcCIqwjIzM5GTk4PIyEgEBAS4ejjkBvz9/eHt7Y0LFy4gMzMTfn5+rh6Sw5UrVw7Xr1832Hf9+nUEBgaazDYBouOrr6+votvn65TsoSi+NonsjV83EBG/eSS7Kmp/T40bN8a2bdsM9m3ZsgWNGze26/0UteeV7I9/Q0T5w1cQERGRnrS0NO2yF4Cu46tsVjRu3Dj06dNHe/zrr7+Oc+fO4e2338aJEyewYMECrF69GiNHjnTF8ImIyEEYOBEREen566+/UL9+fdSvXx+A6Phav359TJo0CQBydXytWLEiNmzYgC1btiAmJgazZs3CF198wVbkRERuhoETEeWbWg0kJAArV4ptYeyWHB0djTlz5ig+PiEhASqVCvfu3XPYmADRXbRkyZIOvQ8yJDu+Gv/ITq/Lli1DQkJCruscOnQIGRkZOHv2LPr16+f0cVvlBi/Ugvo6JaKigYETEeVLfDwQHQ20aAH07i220dFivyOoVCqLP3ldomD//v0YOHCg4uObNGmCq1evIigoKE/3R+RUTn6h8nVKRO6IXfWIKM/i44GuXQHj5diSk8X+NWuAuDj73ufVq1e1p1etWoVJkybh5MmT2n3FixfXntZoNFCr1fDysv6vLiQkxKZx+Pj4oFy5cjZdh8glXPBC5euUiNwRM042cIMqByK7UauB4cNzfxYDdPtGjLD/66RcuXLan6CgIKhUKu35EydOoESJEvjll1/QoEED+Pr6YteuXTh79iw6duyI0NBQFC9eHA0bNsTWrVsNbte4BEilUuGLL75A586dERAQgKpVq2L9+vXay41LgGRJ3ebNm1GzZk0UL14cbdq0MfgAmZ2djWHDhqFkyZIoU6YMxowZg759+6JTp042PQcLFy5E5cqV4ePjg+rVq+Obb77RXqbRaDBlyhRUqFABvr6+CA8Px7Bhw7SXL1iwAFWrVoWfnx9CQ0PRtWtXm+6bChkXvVCL2uv09u3b6NWrF8qXL4+AgADUqVMHK1euNDgmJycHH374IapUqQJfX19UqFAB7733nvbyy5cvo1evXihdujSKFSuGxx57DH/++Wcenn0iJ3L1h2Mn3z8DJ4WcXY5EVNDt3Alcvmz+co0GuHRJHOdsY8eOxfvvv4/jx4+jbt26SEtLQ7t27bBt2zYcOnQIbdq0Qfv27Q0m+JsydepUdO/eHX///TfatWuHF154AXfu3DF7/P379zFz5kx888032LFjBy5evIg333xTe/kHH3yA5cuX48svv8Tu3buRmpqKdevW2fTYfvjhBwwfPhyjR4/G0aNH8dprr6F///7Yvn07AGDt2rX4+OOP8dlnn+H06dNYt24d6tSpA0A0PRg2bBimTZuGkydPYtOmTXjqqadsun8qZArwC9WdXqcPHz5EgwYNsGHDBhw9ehQDBw7ESy+9hH379mmPGTduHN5//31MnDgR//zzD1asWIHQ0FAAopNj8+bNkZycjPXr1+Pw4cN4++23kZOTo+CZJHIRSx+OLQU09gp2XPHhXFPEpKSkaABoUlJSFF9n7VqNRqXSaMQ7jO5HpRI/a9c6cMBEDvTgwQPNP//8o3nw4IHN112xIvdrwtTPihUOGPh/vvzyS01QUJD2/Pbt2zUANOvWrbN63UceeUQzb9487fmoqCjNxx9/rD0PQDNhwgTt+bS0NA0AzS+//GJwX3fv3tWOBYDmzJkz2uvMnz9fExoaqj0fGhqq+eijj7Tns7OzNRUqVNB07NhR8WNs0qSJZsCAAQbHdOvWTdOuXTuNRqPRzJo1S1OtWjVNZmZmrttau3atJjAwUJOammr2/uzB0t9VXv4HFwWWnpf8vE4Lwgu1KLxOTXnuuec0o0eP1mg0Gk1qaqrG19dXs3jxYpPHfvbZZ5oSJUpobt++bdN92Cpff0tE+sx9OJY/gYGG5yMixHXWrhWnTV2mVHa2RjN1qun7zcOHc1vel5hxssJV5UhEBV1YmH2Ps6fHHnvM4HxaWhrefPNN1KxZEyVLlkTx4sVx/Phxq99k161bV3u6WLFiCAwMxI0bN8weHxAQgMqVK2vPh4WFaY9PSUnB9evX8fjjj2sv9/T0RIMGDWx6bMePH0fTpk0N9jVt2hTHjx8HAHTr1g0PHjxApUqVMGDAAPzwww/Izs4GADzzzDOIiopCpUqV8NJLL2H58uW4f/++TfdPhUwBfqG60+tUrVbjnXfeQZ06dVC6dGkUL14cmzdv1o79+PHjyMjIQMuWLU1ePzExEfXr10fp0qUt3g+R3eUl+2Ppw7GUmmp4PjkZ6NJF/BhnweV8S+NMkamxxccDUVHA5Mmm79fBH84ZOFlRgKsciFyqWTMgIgJQqUxfrlIBkZHiOGcrVqyYwfk333wTP/zwA6ZPn46dO3ciMTERderUQWZmpsXb8fb2NjivUqksls6YOl5j6Y3FASIjI3Hy5EksWLAA/v7+GDx4MJ566ilkZWWhRIkSOHjwIFauXImwsDBMmjQJMTExbNXszgrwC9WdXqcfffQR5s6dizFjxmD79u1ITExE69attWP39/e3eH1rlxM5RF5L3ax9ODbF0mvMVLBjamyhoSLwSk62fl8O+nDOwMkKvfmidjmOyF14egJz54rTxp/J5Pk5c8RxrrZ7927069cPnTt3Rp06dVCuXDmcP3/eqWMICgpCaGgo9u/fr92nVqtx8OBBm26nZs2a2L17t8G+3bt3o1atWtrz/v7+aN++PT755BMkJCRg7969OHLkCADAy8sLrVq1wocffoi///4b58+fx2+//ZaPR0YFWiF6oRbm1+nu3bvRsWNHvPjii4iJiUGlSpVw6tQp7eVVq1aFv78/tm3bZvL6devWRWJiosW5WUR2JbttKs3+6HPEh14Z7CQkmB/b7du23aYDxsl25FYU4CoHIpeLixOdjIcPN/z/FhEhPovZuxV5XlWtWhXx8fFo3749VCoVJk6c6JJJ12+88QZmzJiBKlWqoEaNGpg3bx7u3r0LlblsgAlvvfUWunfvjvr166NVq1b46aefEB8fr+0+tmzZMqjVajRq1AgBAQH49ttv4e/vj6ioKPz88884d+4cnnrqKZQqVQobN25ETk4Oqlev7qiHTAVBIXmhFubXadWqVbFmzRrs2bMHpUqVwuzZs3H9+nXtFxp+fn4YM2YM3n77bfj4+KBp06a4efMmjh07hldeeQW9evXC9OnT0alTJ8yYMQNhYWE4dOgQwsPD0bhxY2c9dCoqrM1DUalE9qdjR9NfqjjyQ6/sXmmPag0HjJOBkxWyyiE52fTvUKUSl7uiHImoIIiLE/9bd+4UX+6EhYnXQwH4Altr9uzZePnll9GkSRMEBwdjzJgxSDWuv3aCMWPG4Nq1a+jTpw88PT0xcOBAtG7dGp42PFmdOnXC3LlzMXPmTAwfPhwVK1bEl19+idjYWABAyZIl8f7772PUqFFQq9WoU6cOfvrpJ5QpUwYlS5ZEfHw8pkyZgocPH6Jq1apYuXIlHnnkEQc9YiowCsELtTC/TidMmIBz586hdevWCAgIwMCBA9GpUyekpKRoj5k4cSK8vLwwadIkXLlyBWFhYXj99dcBiPWmfv31V4wePRrt2rVDdnY2atWqhfnz5zv88VIRZMs8lP/eWwxY+3CcH2lp+b8NB344V2mcXYDvYqmpqQgKCkJKSgoCAwMVXUdmDAHDvw/55ZMjFvkkcoaHDx8iKSkJFStWhJ+fn6uHU+Tk5OSgZs2a6N69O9555x1XD8duLP1d5eV/cFFg6Xnh69S13Ol1yr+lAkCtdv0XGCtXinlD1qxYAfTqZfoycwtrFwQqlU0fzm15X+IcJwVklUP58ob7IyIYNBGRchcuXMDixYtx6tQpHDlyBIMGDUJSUhJ6K3kDIyKn4OuUHKagLApqj3ko5j4cu5qDP5wzcFIoLg44fx7Yvl0E4Nu3A0lJDJqISDkPDw8sW7YMDRs2RNOmTXHkyBFs3boVNWvWdPXQiOg/fJ2SQyhpxmCvhWGtadIECAkxf7nSbptxccCFC8DUqfYdX15NnSo+rDvwwznnONnA09N0qScRkRKRkZG5OuIRUcHC1ynZnZJmDAMHmm7gMneuYSBgXOrXpAmwZ4/y0r/4eHE/N2+avtzWbpuensCkSUDt2rnHHxQE6M3zc5jISKc1umHgRERERETkKEqaMZhqtS2zUbL0TAY9+rfl6WmYmTIVbElK5iXJbpsdO4qsl9KAzFQDmiZNgMqVHdNEQpo6FRg/3mnzxFiqR0RERETkKHldT0h/Ydg1a0yX+hmX85lbh8lS1ksKCQHOnBGn8zIXS5Zm9eoltj4+5teRsweVCvjiC/vfrgUMnIiIiIiIbGVpTpL+Zdev5/0+ZGvwwYOVZW30gy398VjLegGifO/114EuXfK2MK4p5ppIREYCb70lMlx5pd823UlYqkdEREREZAtTZXOyTA6wXlJnK3NzkkwxtQ6T0qzXl1+av01rC+OaY2kduRkzxP4ffwSWLzd8nKVLA3fuWL/9vGb08oCBUz4UhFb8RERERORE5uYKXb4ssjWmOKpDniX6AYXSFuSWWFsY1xJzHdbk/thYYOZMww/WajXQqpX127bHY1OIgVMeZGUB69YBo0ZZb35CRERERG5CyVwhSzw8gJwc+47JHP2Aolkz8UHVHo0aHJXhMQ6u1GrLY1apxOXW2qbbEec42SguDiheHOje3X7ln0TkfLGxsRgxYoT2fHR0NObMmWPxOiqVCuvWrcv3fdvrdiyZMmUK6tWr59D7IHI0d3+dUiGhP19p3jzrc4UscUbQZLwOkyyRklmy/DZqcFaGx9PTfHMJW9um2wkDJxtlZoofU8zNxyMi+2nfvj3atGlj8rKdO3dCpVLh77//tvl29+/fj4EDB+Z3eAbMBS9Xr15F27Zt7XpfRAUJX6fkNuLjDTvMjRzp6hFZZhxQ6I9ffungkceP/0oXxrUnc80lIiJ0bdqdiKV6NrIWZOen/JOIrHvllVfQpUsXXL58GRFG3Xi+/PJLPPbYY6hbt67NtxtiaRV1OytXrpzT7ovIFfg6Jadw9GRzJeseuZpx6Z9ch0mu+2Rq/PLb/REjgKgo24JBJ2d4AFhuLuFkzDjZSGl20okNPojsRqMB0tNd86P0fen5559HSEgIli1bZrA/LS0N33//PV555RXcvn0bvXr1Qvny5REQEIA6depg5cqVFm/XuATo9OnTeOqpp+Dn54datWphy5Ytua4zZswYVKtWDQEBAahUqRImTpyIrKwsAMCyZcswdepUHD58GCqVCiqVSjtm4xKgI0eO4Omnn4a/vz/KlCmDgQMHIi0tTXt5v3790KlTJ8ycORNhYWEoU6YMhgwZor0vJXJycjBt2jRERETA19cX9erVw6ZNm7SXZ2ZmYujQoQgLC4Ofnx+ioqIwY8YMAIBGo8GUKVNQoUIF+Pr6Ijw8HMOGDVN83+QArnqxKnyh8nWq7HV69uxZdOzYEaGhoShevDgaNmyIrVu3GhyTkZGBMWPGIDIyEr6+vqhSpQqWLFmivfzYsWN4/vnnERgYiBIlSqBZs2Y4e/asxeexUJNlcyNHig9ltq41pFRmpmjNbc+gSc7JiYiw37pGv/wCbN8OrFghtklJItCwNn6VCli7VrQ5VzIeF2V4tIzXiHJRNzZmnGzUpImy45zY4IPIbu7fF3P4XCEtDShWzPpxXl5e6NOnD5YtW4bx48dD9d8/+++//x5qtRq9evVCWloaGjRogDFjxiAwMBAbNmzASy+9hMqVK+Pxxx+3eh85OTmIi4tDaGgo/vzzT6SkpBjMs5BKlCiBZcuWITw8HEeOHMGAAQNQokQJvP322+jRoweOHj2KTZs2aT8IBQUF5bqN9PR0tG7dGo0bN8b+/ftx48YNvPrqqxg6dKjBh87t27cjLCwM27dvx5kzZ9CjRw/Uq1cPAwYMsP6kAZg7dy5mzZqFzz77DPXr18fSpUvRoUMHHDt2DFWrVsUnn3yC9evXY/Xq1ahQoQIuXbqES5cuAQDWrl2Ljz/+GN999x0eeeQRXLt2DYcPH1Z0v+QgrnqxKnyh8nWq7HWalpaGdu3a4b333oOvry++/vprtG/fHidPnkSFChUAAH369MHevXvxySefICYmBklJSbh16xYAIDk5GU899RRiY2Px22+/ITAwELt370Z2drbV569QMtUCXJ+cbJ6XD/j62avTp8Vcpv+eZ7uQgYmcs9O1q9iX18BMBmEtW+YOIuLjgddeszx+WSK1Z48Yk6XxTJ0KjB/P1tEAoCliUlJSNAA0KSkpebp+drZG4+2t0Yi/rNw/KpVGExkpjiMq6B48eKD5559/NA8ePNBoNBpNWpr5v21H/6SlKR/38ePHNQA027dv1+5r1qyZ5sUXXzR7neeee04zevRo7fnmzZtrhg8frj0fFRWl+fjjjzUajUazefNmjZeXlyY5OVl7+S+//KIBoPnhhx/M3sdHH32kadCggfb85MmTNTExMbmO07+dzz//XFOqVClNmt4TsGHDBo2Hh4fm2rVrGo1Go+nbt68mKipKk633j6Vbt26aHj16mB2L8X2Hh4dr3nvvPYNjGjZsqBk8eLBGo9Fo3njjDc3TTz+tycnJyXVbs2bN0lSrVk2TmZlp9v70Gf9d6cvv/2B3Zel5Mfl8uurFasMLla9T669TUx555BHNvHnzNBqNRnPy5EkNAM2WLVtMHjtu3DhNxYoV7fLaLPDWrhUfsqz9jeblg9jatRpNRIRjXzuRkeJ+LN1nZKRG89Zb4jFYeqzycv3bs/V5kj8rVlgez9q14rncvl0cu327RpORYXi+kH/oteV9iRknG3l6As8+C2zYkPsyFzX4ILKbgADxhbKr7lupGjVqoEmTJli6dCliY2Nx5swZ7Ny5E9OmTQMAqNVqTJ8+HatXr0ZycjIyMzORkZGBAIV3cvz4cURGRiI8PFy7r3HjxrmOW7VqFT755BOcPXsWaWlpyM7ORmBgoPIH8t99xcTEoJjet/hNmzZFTk4OTp48idDQUADAI488Ak+9fyxhYWE4cuSIovtITU3FlStX0LRpU4P9TZs21WaO+vXrh2eeeQbVq1dHmzZt8Pzzz+PZZ58FAHTr1g1z5sxBpUqV0KZNG7Rr1w7t27eHlxffQlzGVS9WG16ofJ1af52mpaVhypQp2LBhA65evYrs7Gw8ePAAFy9eBAAkJibC09MTzZs3N3n9xMRENGvWDN7e3jY9nkLHlhbgMpOiZLK5Wg289x4weXLex9a/v/lFYwHg1VeBF17IPSfH0rydJ56wnFnTn8dk/HhsbZUuS6TMjefHH0UJpKXFfIvQejx818uDPn1E4OTtLdZ0ksz9HRMVFiqVsnK5guCVV17BG2+8gfnz5+PLL79E5cqVtR8uPvroI8ydOxdz5sxBnTp1UKxYMYwYMQKZ5lpi5sHevXvxwgsvYOrUqWjdujWCgoLw3XffYdasWXa7D33GH4xUKhVy7NjW9tFHH0VSUhJ++eUXbN26Fd27d0erVq2wZs0aREZG4uTJk9i6dSu2bNmCwYMH46OPPsLvv//u/h/YCqpC8mLl69Ty6/TNN9/Eli1bMHPmTFSpUgX+/v7o2rWr9jnw9/e3eH/WLncbO3fa3gLc2mTz+Hhg2DBR3pcXslRu8WLg+edzBzplygC3bwN37pgP4MwtCmscxJQtK/bfuGG5MYItz5OpNZCMx2OtuYSUnxLJQobNIfJAznPKyQE2bsw9H4+IHK979+7w8PDAihUr8PXXX+Pll1/WzqPYvXs3OnbsiBdffBExMTGoVKkSTp06pfi2a9asiUuXLuGq3hvvH3/8YXDMnj17EBUVhfHjx+Oxxx5D1apVceHCBYNjfHx8oLayNkHNmjVx+PBhpKena/ft3r0bHh4eqF69uuIxWxIYGIjw8HDs3r3bYP/u3btRq1Ytg+N69OiBxYsXY9WqVVi7di3u3LkDQHxAa9++PT755BMkJCRg7969ijNeVHTxdWrZ7t270a9fP3Tu3Bl16tRBuXLlcP78ee3lderUQU5ODn7//XeT169bty527txpU6OYQikvHbfMTTZXq4Fp04AuXfIeNAEimHj1VXE6Lg44f96wSUPXruKyc+fydvv6zRBathQ/1hoj2Po8WSqRsjXLBxSJ9XgYOOVBRIRoY69WA35+Lm/wQVQkFS9eHD169MC4ceNw9epV9OvXT3tZ1apVsWXLFuzZswfHjx/Ha6+9huvXryu+7VatWqFatWro27cvDh8+jJ07d2L8+PEGx1StWhUXL17Ed999h7Nnz+KTTz7BDz/8YHBMdHQ0kpKSkJiYiFu3biEjIyPXfb3wwgvw8/ND3759cfToUWzfvh1vvPEGXnrpJW35jz289dZb+OCDD7Bq1SqcPHkSY8eORWJiIoYPHw4AmD17NlauXIkTJ07g1KlT+P7771GuXDmULFkSy5Ytw5IlS3D06FGcO3cO3377Lfz9/REVFWW38ZF74uvUsqpVqyI+Ph6JiYk4fPgwevfubZChio6ORt++ffHyyy9j3bp1SEpKQkJCAlavXg0AGDp0KFJTU9GzZ0/89ddfOH36NL755hucPHkyz2MqkGzpuGVpraH4eNF+Oz+lefomT9Z18jPu+ia/qLpxwz73pYTS5ykkxHp2yNYsn36JpBtj4JRHMuu0Z49rx0FUlL3yyiu4e/cuWrdubTDPYcKECXj00UfRunVrxMbGoly5cujUqZPi2/Xw8MAPP/yABw8e4PHHH8err76K9957z+CYDh06YOTIkRg6dCjq1auHPXv2YOLEiQbHdOnSBW3atEGLFi0QEhJistVyQEAANm/ejDt37qBhw4bo2rUrWrZsiU8//dS2J8OKYcOGYdSoURg9ejTq1KmDTZs2Yf369ahatSoA0Xnsww8/xGOPPYaGDRvi/Pnz2LhxIzw8PFCyZEksXrwYTZs2Rd26dbF161b89NNPKFOmjF3HSO6Jr1PzZs+ejVKlSqFJkyZo3749WrdujUcffdTgmIULF6Jr164YPHgwatSogQEDBmgzX2XKlMFvv/2GtLQ0NG/eHA0aNMDixYvdq4RWrRY/pUtbP9bSZHNZdpafLJMpskxNvw363bvAsWPi9M2bts05yo9mzay3Fg8JEQGRtRKpvK6r4+br8ag0Gmf9NguG1NRUBAUFISUlxebJofo++URkMNu1E/OdHL0GG5EjPHz4EElJSahYsSL8/PxcPRxyE5b+ruz1P9jdWHpe+Doleyl0f0vW2o8bi4w03zTBuMGBPcn5QklJ4sPfxo3Ac8/pLr97FyhZ0jH3bUwGiIBhwCaDKaXzkBISxNpYttq+3XpTjgLGlvclNofII/2M05o1Yh02/ddjEWowQkRERGQ7/W+djRsg3LoFdO9uPVsTEiK61nXsaJ+mCXlh3Mlv1y7Dy2/ccF7gFBcnPpgaB5y2djCT2avkZGUZM1PNJtwQA6c8iokB/P2Be/eAbt1yX16EGowQERER2cZaNsnT0/IH9tKlgdWrlU0yz0t5XvnywMCBQNWqwD//AO++a/06skzNVOBUrZrtY8grS63OlfL0tL4wrmTP9XguXgS2bQP69gU8Ct6MooI3okLC2xto2ND85UWowQgRERGRcrKczFIWyNqHpzt3xId0ax/U4+PFhzFbTJ0KXLgATJqk62qnRFgYkJEB7N8vzoeEiO3Nm7bdvz0YN6vIS0Ajs1fly+e+bX0REfbLFPTvD7z8MrB0af5vywEYOOVDRITly4tIgxEiIiIiZfKySKs5StZq6tpVlP0pEREBrF0rAib94MBa0wX9Tn4HDwIPH4qg6YknxOXO7Kxnb6Zard+/b3jeXuvx3Lol5lYB4vdQALFULx+Cg5Ud5+YNRsgNFLEeMeRg/HtyDD6vlF8O/RtS2iXLnvONLLXftjVAmzoVGD/e9Jgtla0Zl6nJMr2mTXUfFJ0VODmqU5mphXod0QDi55/FIqkA8NtvQGoqoN+sQT7vlroGOhgzTvlgqVRPny3LDxA5k2xZe//+fRePhNyJ/Htyq5bILsTXKdmLw16b8fGia12LFkDv3mIr1zfSp1aL+Sv5ZWmtJklpgBYSYjrLZMxc2ZpxmZoMnJ58Utfwwhmlekp/B47Ws6eYz3X7tvlj0tOBWrVEGaG+det0pzMzgU2bdOcvXADCw8XzbGKtNWdhxikfevQA+vQx/2VGEWkwQoWYp6cnSpYsiRv/fRsWEBAAlQu/yaHCTaPR4P79+7hx4wZKliwJT67JYBd8nVJ+OfS1KcvhjD8MGXfJsrW1uDlKGxEoLff5+GPlZWbWmi5oNLqFb598EvjjD3H6+nVRguaoNWuU/g4cbdcuYNUq3ZgGDDB9XGIicPy4+BkyRDxX9+8Dv/4qLn/2WXH6xx9FZ0UA+OAD4No1EVy9+CLw3XcuWfeHgVM+eHuLoNrUAt32bDBC5EjlypUDAO2HMqL8KlmypPbviuyDr1OyB7u/Ni2Vw2k04sPQiBGi/EpJa3FTPD0NG0UobauttNzHOIOkZDzmytROnhSZFj8/oH594OxZsf/HH0UHQMmea9Yo/R107Oj4D6QffKA7vW6d+cBJ///Y+++LEr0tW4AHD0SWbNIkETht2ABkZYlGILJZhKenCARfew1YvNjpZXsMnPKpZUvxOileHEhL0+23tV0+kauoVCqEhYWhbNmyyMrKcvVwqJDz9vZmpskB+Dql/HLIa9NaOZzskjV4sO1Bk/xAvHKlKKezNVtjbR0iR5QFyTK9Ro0AHx/dN+vGpWX2zAQp/R3INaYc5ehREQBJW7cC//4LlCiR+1j9wGnDBuDIERFcAiLAe+IJIDRUZOp+/100oMjIEM/rW2+JIHzJEtGS/sMPHfeYTGDglE/16ontE0+IOYWOysISOZqnpyc/8BIVcHydUoGitBwuL3N88vsNtC0NHezh4kVg2jRx+qmnRCZo0SLTx9ozE6T0d+DoTmUffSS2XboAhw8DZ84AmzeL59+Y8d/DjBm6Mr1OncTz0b498MUXwNdfA+vXi8vGjhWXf/GFaFn+0UdinlT9+o56VLmwOUQ+ycDp8GGgefP8tcsnIiIiKlDUajE/Z+VKsdUvm7Nn96v//U9kKezZ4lppQ4f8unEDeOYZkdmpXh0YNkxkeCyV1tprzRqlvwNHdiq7eFH83gBgzBgRDAKGzR70yeeldWuxXblSlDiWLi3mOwEiQAKAb74BUlKAGjWADh3Evv79RQMMwLA80AmYccqn2rXFwsY3b4pgPjzc1SMiIiIisgNTDR2Cg8Xk/I4dgSZNrJfDBQcryzg984xjSsmsNXTIr5QUoE0b4NQp0elvyxbxmO2RCcrKEuP0sJDnaNZMBIZXrthWkpidDXjZKQyYPVvc3tNPi5bTGRnArFm6OUrGXRxl4NS2rbie7LT4/PO6MbVsCRQrJjrwAaJET/95ePttEax9/z3w3ntA5cr2eSxWMOOUT/7+IggGRJMQIiIiokJPdmoznj9z65YocWvRQnxYlS2ljSfpy/Pz5ytfPNZRZEMHR5QFDR4MHDok5mFt3SoeC5D/TNDdu+J5a9IEuHfP/PXnzxdzgWT5nz5zJYlr14oGFsuWKRujJSkpokkDILJNANC4sXg+7t0DduzIfR0ZOJUtK8rvJJmpAsT42rQRp8uXB154wfA2YmJE4JWTA8ycmf/HoRADJzuQ5XoMnIiIiKjQU7p4bHKy+ND65puWy+EGDDCfDQEKdwti2RDiq69Eq2VJNqcwx1rAuGuXCDD+/FNkYkyt47Z0qfg9ZWeLBXeVliR+/734HY8fn/81kTZsEGOrUUNkDQHdHCXAdLmezECWLSsyS927iwBRBkrSiBGilGvmTMDXN/ftyEDtyy9F8OgEDJzsgIETERERuQ2li8dqNOJnyRLxYzxHCRDtpSdPNn19e881kizNy7InjUasLQSIBV31yeYUpigJGPU/VO7eLZouZGbq9q1da9juOyAAOH9ePPfW5onJ275yBVi+3PT9KyW74XXubJjxknOUfvwxd9AsM04hIeI6q1aJxxgQYHjck0+K4LxnT9P3/dRTojtbRgbwySf5exwKMXCyAwZORERE5DZs7cB2546Y6N+vn8gMxMaKD8ymSv2kqVPt0wDCWHy8CNZatBANBFq0EOfj4+17P4AoRZPBTGho7svj4sQHe2NlyoiOYj/+CPTtK7JGd+4YHiM/VPboIQKKTZvEY+nbF3jpJfHYcnLEZHtAXN+4JHH58tyd/dLTxXws6cMPxe3kRUYGsHGjOC0DJalVKzHuS5dEKaOkVotyT0BknPJDpdJlnebPB1JT83d7CjBwsoOYGLE9c0a0rCciIiIqtPLagU2uT/T995ZL/VQq0VLa3szNy5LjsnfwJLNNJUuKOTmmyFbZffqITNBvv4kmBwkJotX211+LbMnChYbXk4HTgAGi3M3bG9izRxz/7bciYOvWDViwQBxnHHhlZQGvvgoMGqTL/gFizSSNRgRvJUuKtaZk1shWv/0mFjENCwMee8zwMn9/ETwB4rFKd+7oArXg4Lzdr74OHUSZYEqKY/6mjLg0cNqxYwfat2+P8PBwqFQqrDPXtvA/8fHxeOaZZxASEoLAwEA0btwYmzdvds5gLShbVvzNaDTi75GIiIio0JLzc8w1dDBHBkpDhihflNVeLM3LkvtGjLBv2Z4MnMqVM39MSIjYBgSITFC1aqJUzdNTZHt69BCX6z8XqanAuXPidEyMmDu0f79Yt0j+fPONCKBk1ub2bcP7vX1bBE+Abh4WINbPAUT3u8GDxekPPrB9gWLAcNFaU53/qlcX24sXdfvk/KbSpe3T1c/DA3jnHTEPSr900UFcGjilp6cjJiYG8+fPV3T8jh078Mwzz2Djxo04cOAAWrRogfbt2+OQfgrQRViuR0RERG7B0vwcazQa5QvemisJtGWOUmqqCBCszctyRLAmAydTZXqSDGzkvB75QbFGDdFiW5aa7d2re5x//y22ERG6rExMjGjCIX9efBHw8REBCKB7HiRZDgeI+UOSvP+YGLHelJ+faEDx+++5x56VZb78LSdHFzgZl+lJFSqIrX7gpN9Rz166dgVGjwZKlLDfbZrh0sCpbdu2ePfdd9G5c2dFx8+ZMwdvv/02GjZsiKpVq2L69OmoWrUqfvrpJweP1DoGTkREROQ25OKxljrD5ZepkkBb5ijt2CE6ybVsaZ91k2wlO7lZyjgZB04y4yM/ONapIz7wp6YCR4+KffLDpDzGklKldKf125brB076GSf92w4NFYvJAqYXko2LE7+j06dzX7Z/vwgcS5Qwv/6WDJwuXdLtc0Tg5ESFeo5TTk4O/v33X5SW0bYJGRkZSE1NNfhxBDnPiaV6RERE5Bbi4nSd2kaM0JWd5Ze5Vty2zFE6eFC0vE5LE1mkoCBl953X+VumKCnVkwGCzMIZB0VeXroGEjLAsSVw8vLSPXb9cj39wOnYMTG3SK3WZbPkbb/5pih327RJF9QBIkv188+i1fiKFbnvV06vadfOdKtwwHLGyV5/S05WqAOnmTNnIi0tDd27dzd7zIwZMxAUFKT9iZQLk9mZbJ2v/3dKREREVKjJTm0ffyyyNVu36srD8sJcK25b5iidOCG6+Ol/GV68uPMX2rVljpNxqZ5+UPTkk2IrS+pkACO/lbdG/j70G0QYfyDduxc4e1YEQv7+QNWqYn+lSmIdJcAw66R/2lTzCBk4mSvTA3SB040bwIMH4rT+Gk6FUKENnFasWIGpU6di9erVKGvhyR83bhxSUlK0P5f004V2VLKk2Fpa3JmIiIiowDM3x8jTU5TFLV4sAhFbm0cAYkFTU2s3KZ2j9OOPolnCrVtAgwairTcgSn7kvCzjcTlqoV1bMk5374qfM2fEef2gSAZOu3aJxWxl+ZKSjBMgOuQBhoGTcbOIXbt0QVudOobPw9tvi+2qVaIpxdGjwE8/iefNw0O0E79wQXf8qVMiePX2Btq2NT+uUqWAYsXEafm7Zame83333Xd49dVXsXr1arSSrQ7N8PX1RWBgoMGPI8jA6e5d8TfvjHXXiIiIiOxKyRwjOf9JltvYYvp002s3KZ17tHy5+BBevTrwyy+6oCMx0fy4HLXQrpLAqXRpXce5334TAWB4uGGpWqNGIpC5dAnYskWsj1S8uMgGKSEzTqZK9WTjCv3AyTggq19fZPBycoBZs0TXPkA8X/L5Xb9ed/zixWL79NOWSyRVqtzleizVc66VK1eif//+WLlyJZ577jlXD0dLBk5qNRAV5Zx114iIiIjsxpY5Rvrzn1asACZMUHYfe/aY3q907pEsYxs3Tnz4Nu7OZTyu7dsds9AuoCxw8vDQBQlbtoitceBSrJhuvSfZaTomxnSLb1NMZZxk4NShg9ju3y+655m6f0DX3W/pUt2cpjFjdKV4sjTv7l3dorpvvGF9bHKKjAycWKqXd2lpaUhMTETif3/sSUlJSExMxMX/ntxx48ahT58+2uNXrFiBPn36YNasWWjUqBGuXbuGa9euISUlxRXDN1CsmC7reeWK4WWOWneNiIgcY/78+YiOjoafnx8aNWqEffv2mT02KysL06ZNQ+XKleHn54eYmBhs2rTJiaMlsoO8rIMk5z/16iVK+JQwN2XC2tpRKpUIrs6eFQHF88+L/TIIOHpUlPzIcTVtKm4zNjZ3ed7ly7o5N3mlVuuCAEuBE6ALnH791XDM+mRmZ+NG88eYY2mOU+PG4v4zMkQQae62Y2OBxx8HHj4Uz+PTT4u1njp2FJf//ru4/YULRUOO2rVFYwhrjDvrsVQv7/766y/Ur18f9f+LskeNGoX69etj0qRJAICrV69qgygA+Pzzz5GdnY0hQ4YgLCxM+zN8+HCXjF9fTo75tcMcte4aERHZ36pVqzBq1ChMnjwZBw8eRExMDFq3bo0b8g3fyIQJE/DZZ59h3rx5+Oeff/D666+jc+fOBWKNQSLF8rsOktJFc+XCrsb0144yN0epTRuxfeopXZalUiVR1vbwoZh7I40aJbIdxuNNSgIqVtRlYvLq5k3x4U8/o2SODBKSksTWVNMHGTjJD41KG0MAlkv1QkIMb1ulEnOcjKlUuqwToDtdqZI4Xq0G1q7V/Y7GjFE2x81cqR4DJ9vFxsZCo9Hk+lm2bBkAYNmyZUhISNAen5CQYPF4V9q5U7x+zHHEumtERGR/s2fPxoABA9C/f3/UqlULixYtQkBAAJYuXWry+G+++Qb/+9//0K5dO1SqVAmDBg1Cu3btMGvWLCePnMgEpYvJ5ncdJEuBj74TJ8wvkGttjpIMPGQWBBCBS9264rQs18vIAL76Spzets3wtvbuFRmVvXvNf+OthFzDKTjYesMJ4yDBVManaVPrx5hjqVQvONjwtqtUEYGmKZ06iXWdXn9dNOCQ5PP95psi8ImKAnr0UDY2/cApK0uU+gGc41TUuWLdNSIisq/MzEwcOHDAoPGQh4cHWrVqhb1795q8TkZGBvz8/Az2+fv7Y5f+opMmruOMNQapiLNlMVmlGQBLc5EsNY0YPBioVUucNjfPSd6GqTlKzZuLBW8Bw8AJyD3PKSEB+PdfcfrECcNj5fn0dPMBnBJK5jdJ+kFCsWJA5cq5jylXTrffw0OUwillqVQvOFiXcQIsB2QeHmKO08KFhsGvnOck/0+NHi066imhHzjJMXl45K+lvQsxcLITpXMa7bnuGhER2detW7egVqsRKjtR/Sc0NBTX5AclI61bt8bs2bNx+vRp5OTkYMuWLYiPj8dVC9+UOWuNQSrCrDV6+P57XSZq2jSgb1/Lt6d0HSTjwEd2huvQwbDttiX6c6fkHKUNG0RpT926otROnwwGZOMI/XWHzAVOgPmyQSVsCZz0g9K6dc1nqOTzU6OGWGtJKZlxkqV6Dx+KeUiACJzq19fdni2ZLOnRR0XWT97Xyy8rv65+4CSzdCEhyhtfFDCFc9QFULNmlv/GHbHuGhERud7cuXNRtWpV1KhRAz4+Phg6dCj69+8PDwsfDJy1xiAVUdYaPWg0IiiRmajJk0VAZY6t6yDpBz6ygVd4eO6FXm1hacFVGQwcOiSCK/3A6eRJw7kUrg6cLM1dat9ebJU22pCMM04ygPL0FO3CfXx088NatLDttgHx+3/hBXF69Gjd2kxKyIDrwQPg+HFxupCW6QEMnOxGNnAxxVHrrhERkX0FBwfD09MT1+U3o/+5fv06ypn5gBQSEoJ169YhPT0dFy5cwIkTJ1C8eHFUsrAGi7PWGKQiylqjB8C2blXly+dtHaSHD3Uf4suX131Q+usv27raPXgAbN4sTpsKnGrXFhmMmzfFwq1Xroh5PD4+YgyyMYFaDZw+rbueKwInSxmfLl3Ec/P++7aNxThwkiVxZcroPoR++aXIyDVubNttS1OnioB37Fjbrufrq1tL6sABsS2kjSEABk52JVvwG8+5c9S6a0REZF8+Pj5o0KABtulNKM/JycG2bdvQ2MoHDj8/P5QvXx7Z2dlYu3YtOhrPwyByFntPqF62LG8fYuQ4fH2BUqVEiV1YmGgSsH+/8tvZuhW4f1+UfZkKPPz9xYK4gPiADwBt2wJVq4rTMst08aIIpCRnBU76GRZrpXINGgABAbaNRZbqpaaK51Z/fpMUFKRropEXvr5AkybKOukZk+V6DJxIn1wEt2tX56y7RkRE9jdq1CgsXrwYX331FY4fP45BgwYhPT0d/fv3BwD06dMH48aN0x7/559/Ij4+HufOncPOnTvRpk0b5OTk4O2333bVQ6Cizt4Tqs204rdKlv+VLy8+cKtUunI9Sw0ijP30k9h27Gj+g7t+uR4gMlM1aojTJ0+KrfF8J2cFTjLjolLZ1vRBKfkBFBBd60wFTq5kHDgV4lI9L1cPwJ2UKiW2KSmitJeIiAqfHj164ObNm5g0aRKuXbuGevXqYdOmTdqGERcvXjSYv/Tw4UNMmDAB586dQ/HixdGuXTt88803KKn/YYbImeSaSsnJ+Wu5LeU1EJOBU3i4bl+9eqIxxT//KL8d2U1Pv0W2sXr1RKMLAPDyEouzHjsmzsuASW4jIkQpo7MCp8qVgUGDxGR3W+YHKeXpKYKne/dEaaQsjyxogZPsdFiIM04MnOxIvkfeu+fKURARUX4NHToUQ4cONXmZ/vqCANC8eXP8Y8uHQCJHk2sqde0qshx5DZ5UKhFk5LWz1ZUrYqvfnlxmgYyzP+bcvKnLGJmbTA4YNl2IjRUfyozvS95Ou3bA55+L4CkjQ5Sh2UrOg1QSOKlUwIIFtt+HLcqUER9A79wpuBknqRAHTizVsyMGTkRERFQgmFtTSWmXKnt0ttIv1ZP0gxklAZ3swFerluW1f/TnDskGEsaBk9w2ayYyPxqNaJ1uzfnzwHPPAUuWiPMZGbqFXI2WLnAZ/QYRBT1wKsSlegyc7IiBExERERUYphaT/e473XwjS+zR2UpmnPRL9SpXFoHYv/8qa2IhAyf9RVxNCQ0VwVNgINC5s9gnG0ZcuyY+nMnAqWZN3WKz1sr1rl0TJYIbNwJjxgDZ2bpsk7e3bp6Gq+mv5VTQAifjdeoKccaJpXp2JAMn+SUEERERkUvJNZX0rVkj1nnSb1keEQEMGCA60YWFiaxMftdQMZVx8vUVi+KePi0CGf2gyhS5WK61wAkQgeGDB7o5WYGB4vTVq8Cff+oCnmrVxBj+/tty4HT3LtC6NXDmjDh/+7ZoauHnJ86XK5e3LnOOUJgyTgycCDBsDpGTU2gXRSYiIiJ3pFaLNZ4yMkSLcUB0zLNXoLR/v2g5Lj+wm8o4ASITdPq0mHP09NPmb+/+fV0nNiWBU8mShh3mAFGud/UqsH69OF++PFCihAicAMPA6eZN0fpcrnG1YIEIrkJDgUceAX77TSyu27y5uFzJ/CZnMRU4ySyUq4WEiIA5I0OcZ+BEgO61qtGIDHRQkEuHQ0RERCTEx5vOMs2da59WwIcOAY8/LoKKhATxYchUxgkQwczPP1tvELF/v1iXKCwMiI7O27hq1BCZqB9/1J0HTAdOL7wAbNlieP2SJYFffxVZp99+A9atExkroGAFTgW5VM/DQ5TrnTkjyhsL8YLfDJzsyM9PF1Dfu8fAiYiIiFxAZpauXhVBx61bQPfuuZsxJCeLznv5ncsEAIcPi+3vv4vgrHhxUTYH5M44Ke2spz+/yVpJnPFjlhk0eV8yiDMXON28CciFr595RtxfiRLAuHFi4dhKlcSHvHPndMcVpMCpIJfqAaJc78wZkW0qKOWNecDAyc5KlhQltPfuAVFRrh4NERERuSVzgYKpzJKnp+kOdhqN+BA7YoRYXDY/pXoyMAFEWZwsZytVCvD3NzxWaeCkdH6TpWyabBAhyfP6gZNGIzJgOTlA/foiw2SseHERUP38M/DDD2JfQQqcZMbp8mVdwFrQAiegUJfpAeyqZ3dynhMbRBAREZFDxMeL0rUWLYDevcU2Ohp4+22RQdIPIADdnB1TNBrg0iURhOWHnM8EiLI4c/ObAF3wcvEikJ5u+vbUatGIAbC8flN8vOnHLLNpSUmG+2XQFh0tgsa0NJGhkaV8spW5KfKy7GyxLUiBk8w4ybWqvL1FxqygkJ31CnErcoCBk92xJTkRERE5jLlA4fJl4KOP8r7YrZLW4JboZ5x++w2Qi0Ibz28CRCZEZkhOnTJ9e8eOiW5bxYoZLm6rT60WmSZz2TQAeO89w4yXDJx8fUVWCgCOHtVlmTp2NH1fAPD884ZlZgUxcLp9W2yDgwtWSZwMfhs2dO048omBk50xcCIiIiKHsBQo5Jds4Z1X+hmn7Gzgiy/EaXPtxmUAIzMkxuT8psaNAS8zM0t27swdQOrTaMTlMngrVswwkJPleosWifK26Ggxn8mc0FCgSRPd+YIUOBl30CtIZXqAaOt+9SrwzjuuHkm+MHCyMwZORERE5BDWAoW8UKlEGVWzZvm7HZlxeuYZsT16VGxNZZwA0/Octm8H5s0TP99+K/ZZKtNTmiWT5WHVqxuuFSMDp7VrxbZjR+tZGv1SvtBQZffvDDLjJBW0wAkoWOte5RGbQ9gZAyciIiJyCP1yOHuQH2LnzMlfYwi1Grh2TZwePNiwpbe1jJMMnI4eBVq2zJ1Ns9QYQmmWrEYNYO9eoGZNw/0ycJJzwCzNb5I6dgTeektkwQpSxqlkSfH7lM9fQQyc3AADJztjcwgiIiKyu/h40f0uPzw9DRtFRESIoCm/rcivXxcd6Tw8gOeeEwGNzAaZyzjJBhEycPrwQ/Ghv0YNXblclSqWF8ht1kw8huRk0+WLKpW4/J13RKOE114zvFwGToDI2ChZZLdqVWDJEtF8oVgx68c7i4eH+BB65444X1AWv3UzDJzsjBknIiIisivZEELp3Cb9zIM8DwArV4qyNeMW5vklM2HlyomAomNHMW8IsJ5xOnUKOH9ejA0Avv5aeQMBT0/RcrxrV/OPec4cEbzNnZv7+pUr604//7z5uVTGXn5Z2XHOVrq0LnBixskhOMfJzhg4ERERkd0obQihUomft97KneWJiBCL3HbrBsTGAr16ia09giZA1xhC3q9+ZzpzGaeKFUWQ9eABMHKkaCjx9NO2d12LixOPzdxjtpRN0884WeqmV1joZ5kYODkEM052xsCJiIiI7EZpQ4jgYJHliYsDZswwvTiuo8iMk8wutWgB1KolMjjmGih4eYmyt3/+AdatE/vGjs3b/cfFicDH1sccHCwCtbt3Rde3wk6/QQQDJ4dg4GRnDJyIiIjIbpR2jhswAMjIABISRNAQG+vIURkyzjj5+gKJiSI4stRFrXp13XpP9esDrVrlfQyenrY/ZpUK+PNPke3y9s77fRcUDJwcjoGTnbE5BBEREdlN2bLKjps+XXc6IkLM6bGl6UN6OvD550BamjivUgEdOlhe10iSGSf9cjklgYic5wSIbJMrWlWrVO4RNAEs1XMCBk52xowTERER2UV8PDBsmO3XS04WDROszfHRN3Uq8NFHhvumTwc2b7a+xpPMOJlrBGFOnTpiW7ky0KWLbdel3JhxcjgGTnYmA6d//xWZX6UNWoiIiIi0bO2kp0+jEZmUESPE3B9rc33u3gUWLhSnu3cX5TOHDwN//CG6zSUkiFI6c0xlnJTo1g24cEHchyPnYBUVzDg5HD/W25kMnAAgNRUICnLu/EwiIiIq5NRqkWnKS9AkaTTApUviQ4i1uT8LF4oSvdq1ge++E0HXgwdAmzbAjh2iccLOnbq1l4zlNePk5ZX3hhCUm8w4+fkBAQGuHYubYjtyO9NfD+2774DoaNFcpndvsY2OFl8iEREREZn07ru6LE5+WWsu8eCBbo2jMWN084z8/YH164FHHwVu3gTatQOyskxfX07stjXjRPYlA6cyZVwzX6wIYODkADLrNGRI7g6isuyYwRMRERGZ9Ouv9rutsDDLly9bBty4AURFAT16GF4WFARs2iSCqHPnRFmdMZlt8vcXx5PrNGggmom0a+fqkbgtBk4OoF+uZ0xm3UeMEJl4IiIiIi21Wnm2KSTEfGZBpQIiIy03dsjOBmbOFKdHjzbdXS4kRJdJunYt9+X685uY5XCtkBARyH7+uatH4rYYODmAtf8b+mXHRERERABEOUp0tOnMjj4ZFC1YoDtvfDkAzJmTe2L1tm3AqFHip08fkUkKDgZeecX8/ZUrJ7amAqe8zm8ix+BEeodicwgHULocgNI17YiIiMjNKe2ipx8UxcWJluPDhxvODYiI0F2uLztb3IfxmilvvGG5mYClwCmvHfWICiEGTg6gtAOktbJjIiIiKgLUahH8KOmiZxwUxcWJluNKWvgeOSKCpuLFgaFDxb6SJcV9W8KMExEABk4OUa0asGWL+ctVKvF/z9p6ckRERFQE7NyZu5uUKR9/LLJDxkGRp6f1luMAsGuX2D75JDBjhvLxMeNEBIBznByiVCnzl1kqOyYiIqIiSGntfmiosg8Pf/4J+PoC06cb7tcPnGyhJOPEwImKAAZODiC76lWrlvuyiAhRjmxcdkxERERFlNLafaXHffYZkJkJzJsH5OSIfRpN3gOn0FCxtZRxYqkeFQEMnBxABk6nThnu79cPSEpi0ERERER6mjUT36zmp7W4pFYDP/0kTl+7BuzfL05fuCCyQ15eQMOGto1PZpyuXzfcr9Ew40RFCgMnBzAu1ZPrwYWEsDyPiIiIjHh6AnPnWj5GaY3/nj3ArVu68+vWia3MNjVoYLmDnin6gZPMYAHA3bvAw4fiNDteURHAwMkBjBfA7dJFbNPSnD4UIiIiKojUaiAhAVi5Umw7dgRWr859nK+vbTX+MlAKCTE8v3u32NpapgcAZcuKbVaWCJYkmW0qUwbw87P9dokKGQZODqAfOD32GFCjhjidnu6S4RAREVFBIhe6bdEC6N1bbKOjgTt3xOWensD48eJ0RITyoEmj0QVKH3wgFpY8cQI4eTLv85sAwMdHBEeA4Twnzm+iIoaBkwPoB06dO4vlEgBmnIiIiIo8udCtcfvxy5eB114TpytWBF59VbdfvzzOkmPHgHPnRPane3cRkAHAsmXA0aPidJMmeRu3qc56bEVORQwDJwcoXVp3unNnoFgxcZoZJyIioiJM6UK3ly4B+/aJphAZGcDNm8puX2abWrUSHz46dhTn5fypatV0ZXe2shQ4MeNERQQDJwcoWRJ47z3gnXeAmjWZcSIiIiIoX+g2IwPo2VPXberiRWW3LwOnTp3EtkMHsX3wQGzzUqYnmQqczp4V24oV8367RIWIl6sH4K7+9z/daWaciIiIiii1WgRMV6/qyuWUkt+4XrxovYX4pUvAgQMiS/X882JfRIS4nmxJ3rSpbfevz1TgdOKE2MrJ3ERujoGTEzDjRERE5Gb0A6KwMLHGknG78Ph4UZqnJMtkTKMRi9gCyjJO69eLbZMmugVrAVGuJwOn/GScjBfB1WgYOFGRw1I9J2DGiYiIyI2Y64oXH294jKkmEHmhJHCS7cbbtTPc36WLCOiio4GqVfM+BuOM0/XrQEoK4OEBVKmS99slKkQYODmBDJyYcSIiIirkzAVEyclif3y88iYQSl26ZP0YGdAYzzeqUQPYuxfYulWU8eWV/iK4gC7bVLEi13CiIoOlek4gS/XS08X/0Pz83yIiIiIXsRQQyTf4ESOAoKD8Z5pUKrF20q1byjJOMnCSAY4+a/OjlDDOOMnAqXr1/N82USHBjJMTyIxTTo5olENERESFkLWueBqNyA4lJOTvfuQ3rGPGiG1+Ayd7kLd76xaQlSUW1QU4v4mKFAZOTiADJ4DlekRERIXW1avOuZ+ICGDNGqB/f3H++nXg4UPzx2dkAHfvitOOCpzKlBFzpTQasa4UG0NQEcTAyQk8PXXlv2wQQUREVEiFhSk7LjZWBD9KavNVKnGsXKy2d28gKQmIiwNKlwYCAsR+S5kuOe/Ix0csJukIHh6GnfUYOFERxMDJSdiSnIiIqJBr1sxyQKRSAZGRInCaO1e3zxx52dy5utbjLVro2pqrVECFCuK0pXI9WaYXGurYidQym3XuHHDhgjjNwImKEAZOTsKW5ERERIWcp6f5gEienzNHHBcXJ8rtypc3f3uyJC8uDjhzRuyrXNnwGBk4Weqs5+j5TZK8/Z07RcleqVJAcLBj75OoAHFp4LRjxw60b98e4eHhUKlUWLdundXrJCQk4NFHH4Wvry+qVKmCZcuWOXyc9iAzTrt2AStXinmjarVLh0RERES2MhcQ6QdB+seePw9s3w6sWAEMGSL2e3gAmzfrSvIyM0UWB8jdpS4yUmyVZJycFTjJ5hc1arBVMBUpLm1Hnp6ejpiYGLz88suI0/9HY0ZSUhKee+45vP7661i+fDm2bduGV199FWFhYWjdurUTRpx3MgM/erRuX0SE+OJKwUMnIiKigiIuTsxJ2rlTNIwICxNlfLLETp+npyjdA4CDB8U2J0d8CJDHnz0rvk0tUSL3PCqZcfrjD2DTJnG6fn3dfCNAN8fJ0YGTvM+//xZblulREePSwKlt27Zo27at4uMXLVqEihUrYtasWQCAmjVrYteuXfj4448LdOAUHw+cPp17v1wrz/gLKiIiIirg9AMifWq1+YBKP2t04gRQq5buNGA6gxMVJbYbN4ofQART58/rjnV2xkli4ERFTKGa47R37160atXKYF/r1q2xd+9es9fJyMhAamqqwY8zybXyTJHr540YwbI9IiKiQi8+HoiOFg0eevcW2+hosR8wDJzkOkiA5Q517dsD7doBjz4qfuTt3LihO8ZVgRMXv6UiplAFTteuXUOofmoaQGhoKFJTU/HgwQOT15kxYwaCgoK0P5GyVthJlK6Vt3On88ZEREREdhYfL8pIjN/0ZXlJfHzujJPxaVOBU+nSwIYNwIED4kd+jpFzogBmnIicpFAFTnkxbtw4pKSkaH8uWepK4wBK18pz1pp6REREZGeyvESWkuiT+4YPN3yzNxU4KcngVKoktq4OnLy8dGMhKiJcOsfJVuXKlcN1OQHyP9evX0dgYCD8/f1NXsfX1xe+vr7OGJ5JStfKU3ocERERuYi5+UtKykuMLz9xQhdU2bKYbOXKwO+/6wInjcZwHSdH0g+cqlQBvL0de39EBUyhCpwaN26MjXJi5H+2bNmCxo0bu2hE1sm18sz9P5ULhjdr5txxERERkQ3i40XWSP8NXbbHzchQfjuRkaJ8LzVVdMPTaMRpDw8RjFhjnHFKSwPu3xenHR04lSgB+PsDDx6wTI+KJJeW6qWlpSExMRGJiYkARLvxxMREXPyvBnjcuHHo06eP9vjXX38d586dw9tvv40TJ05gwYIFWL16NUaOHOmK4Suiv1aeMeO18oiIiKgAsjZ/yVTrXHOqVgUqVhSnT5zQZZsqVQKUVMgYB04y21S8uG7RSEdRqXRZJzaGoCLIpYHTX3/9hfr166N+/foAgFGjRqF+/fqYNGkSAODq1avaIAoAKlasiA0bNmDLli2IiYnBrFmz8MUXXxToVuSAaDX+yiu595taK4+IiIgKECXzlxYvFm/q5haDVamAoCBxOjJSl605cULXXU9pIGIucHL0/CYpPFxsa9Z0zv0RFSAuDZxiY2Oh0Why/SxbtgwAsGzZMiTI1an1rnPo0CFkZGTg7Nmz6Nevn9PHnRdNmojtE0+IxcO3b9ctGE5ERAXL/PnzER0dDT8/PzRq1Aj79u2zePycOXNQvXp1+Pv7IzIyEiNHjsTDhw+dNFpyKKXzlwYMEOeNgyd5vlEjsa1QwTBwsmV+E6ALnJKTgYcPnR84TZgA9O3LDzBUJLl9V72CQmbPfX2BXr3EmnkszyMiKnhWrVqFUaNGYfLkyTh48CBiYmLQunVr3NBfN0fPihUrMHbsWEyePBnHjx/HkiVLsGrVKvzvf/9z8sjJIZS2va1aVZSRlC9vuF+Wl3j9N61cP3A6edL2wCk4WHyo0GjEIrjODpzatAGWLRPznYiKGAZOTlKsmNimp7t2HEREZNns2bMxYMAA9O/fH7Vq1cKiRYsQEBCApUuXmjx+z549aNq0KXr37o3o6Gg8++yz6NWrl9UsFRUStrTHjYsTwcz27bnLS+TUg/xmnFQq0VkPEOV6stuwswInoiKsUHXVK8xkxiktTbfPXFdTIiJyjczMTBw4cADjxo3T7vPw8ECrVq2wd+9ek9dp0qQJvv32W+zbtw+PP/44zp07h40bN+Kll14yez8ZGRnI0OvElpqaar8HQfYl2+MmJ5ue56RSiSyTWg2sXGn+DV0/cCpTRpy+cEF3m7Z0qatUCTh8WAROzs44ERVhzDg5iXHGKT4eiI4GWrQAevcW2+hosZ+IiFzj1q1bUKvVCDVq6xwaGopr8gOqkd69e2PatGl48skn4e3tjcqVKyM2NtZiqd6MGTMQFBSk/YmMjLTr4yA7kd9wdu0qAhxT85c0GtGeu1Ur82/oKSmi5TggmkMEBwOlS+uCptKlxT6l9BtEMHAichoGTk6in3Gy1tWUwRMRUeGRkJCA6dOnY8GCBTh48CDi4+OxYcMGvPPOO2avM27cOKSkpGh/Ll265MQRkyL633DOmSP2GQdOpUuL7e3bhvuN39BltqlMGfFNqkplmGGydU0kBk5ELsHAyUn0M07WupqOGCG+5CIiIucKDg6Gp6cnrst5I/+5fv06ypn5YDpx4kS89NJLePXVV1GnTh107twZ06dPx4wZM5CTk2PyOr6+vggMDDT4oQLE3Dec8vcZEwNs3SoWgzXF+A1dBk76mUV7B06OXvyWiBg4OYsMnDIzrXc1vXRJVAYQEZFz+fj4oEGDBti2bZt2X05ODrZt24bGjRubvM79+/fh4WH4dur53/wWjalvyahgs7RukyTXXlL6hi4zihUq6C63R+B09iybQxA5EZtDOImti3kr7X5KRET2NWrUKPTt2xePPfYYHn/8ccyZMwfp6eno378/AKBPnz4oX748ZsyYAQBo3749Zs+ejfr166NRo0Y4c+YMJk6ciPbt22sDKCpErK3bBIj1k4zWmTTr6lXDxhCS/oK3She/laKiRLnf/fu6fWXL2nYbRGQzBk5O4uMjlnDIzlZ2vNLup0REZF89evTAzZs3MWnSJFy7dg316tXDpk2btA0jLl68aJBhmjBhAlQqFSZMmIDk5GSEhISgffv2eO+991z1ECg/7P3NZVgYsGGDOG2vjJOvryj705875eOTv3ESkVUqTRGrI0hNTUVQUBBSUlKcXlNeqhRw754oQ75xw3wVQGSkWPaBX1QSkbtx5f/ggozPSwGSkCAaQlizeTPwyiuW25RHRIg39BYtRCbru++AHj3E5dnZQM2a4vTx47oFcpVq0UKX9XrkEeDoUduuT0QAbPv/yzlOTiTnOY0ebfm4OXMYNBEREbmEXLfJuIOesdq1gblzxWlTbcoB3Ru6qVI9Ly8R7Bw9anvQBOjmOQGc30TkJAycnEjOc2rUCFizxnRW3csL6NzZueMiIiKi/3h6mg+I9N28CcTFiTf08uUNLytXDnjjDeD550WzCTlnSj9wAkTJna9v3sbJwInI6Rg4OZF+S/K4OPGFFgBMngz88os4nZ0t1noiIiIiFzEXEOmTbcDj4oDz54Ht24EVK8S2QQPgk0+APn1EKZ9aLb4ZtWeAw8CJyOnYHMKJ9BfB1WiAK1fE+b59xRp73t5AVpaYB1WihKtGSURERIiLAzp2FHOTrlwBBg4U33yWKyeCJhk4ASJLFRurO//GG2K7apUInAARhNmzDp+BE5HTMePkRPoZp5QU0c0UEA13cnJ0gdWWLVwAl4iIyOVkQNSkiXjz9vbWNY7QD5yM3bqlO71rl9gal+nlFwMnIqdj4ORE+hknmW0qVQrYuFFknO7eFfteeUWcj493xSiJiIjIwOHDYvvII6L1LWA+cNJodIHTxIm6/fYOnIKDdeUp/7XKJyLHYuDkRPoZJxk4FS8OdO2ae6295GSxn8ETERGRg6nVorX3ypVia1z2kZgotjExuuyOucDp3391izaOHQvMng34+wNt29p3zCqVKCUMCQEefdS+t01EJjFwciL9jJNcX8/cek5y34gRLNsjIiJymPh4UebRogXQu7fYGpd9yMCpXj3rgZPMNgUEiJ+RI4HUVOCFF+w/9q+/Ft/Elilj/9smolwYODmRqYxTRob54zUa4NIlMS+ViIiI7Cw+XlnZh6nA6fp107cpA6fgYN2+vKzTpIRK5bjbJqJcGDg5kQyc9Oc4KSGzU0RERGQnajUwfLj1so/bt0W7cUBZqZ6pwImI3AK/pnAiWaqXni5ajitVtqxDhkNERFR07dyZO9OkT5Z9fPutOF+hgujoJN29K8pGjBewZeBE5LaYcXIiUxmn0qUtL0wOAP36sUkEERGRXSkt5zh4UGzr1RPbkiUBHx9x2lS5HgMnIrfFwMmJ9DNOMnAaPVpsLQVP7LBHRESUT8ad85SWc8gASwZOKpWu/bepcj0GTkRui4GTE+lnnOT/4V69gDVrgPBw89djhz0iIqJ8MNU5r29f0Y3O0jeXZcroFrB9+mndfkvznGTgxE53RG6Hc5ycSGacLl8GHj4Up8PCgIoVgaAgoFUr89fV77AXG+vwoRIREbkH2TnPuAnElSu6fSqV6SYRt2+LbZUqwFNP6fYrCZyYcSJyO8w4OZHMOCUni22pUoCfnzh944ay22CHPSIiIoWsdc5TqURmqHx5y7dz5gzwww+685YCJxlsMXAicjsMnJxIZpwk/fK8sDBlt6H0OCIioiJPSee827eByZOt35Z+vTwzTkRFEgMnJ5IZJ0k/CGrWzHJQpFIBkZHiOCIiIlJAaZnGr79aP0Z/RXoGTkRFEgMnJ7KUcfL0BGbPNn09OW91zhxxHBERESmgtExD6eKKMhCTgZNxO/KcHJbqEbkxBk5OZJxxMu6k17OnbmkIfRERovNeXJzjxkZEROR2mjUTb6LmOufJco6AAGW3JwMxc+3IU1J05Xzsqkfkdhg4OZG/v+H/blNfhJUuLbaLFwMrVgDbtwNJSQyaiIiIbObpCcydK04bB0/65RyZmZZvx7heXr9UT7/xhCzTK1EC8PXN19CJqOBh4OREKpVh1snU2k2lSoltlSpijafYWJbnERER5VlcnCjbMO6cp1/OkZSk228pwJJvyDLjdP++WJxR4vwmIrfGwMnJrAVOJUuK7d27ThkOERGR+4uLA86fF2UcxuUcOTm6wGnBAssBllS8uG7isn65HgMnIrfGBXCdrHhx3VxSU6V6MnBSOk+ViIiIFPD0NFxBXq0GEhKAY8eAjAxx+YABwMCBonve1avijbpZM9OlH+XKifWdrl0DqlYV+2TgxPlNRG6JgZOT6WecGDgRERG5QHy8WBjXeI2n9etFZkk/wDJHP3CS2FGPyK0xcHIymdkvVQrw88t9OQMnIiKifFCrdRmjsmXFvhs3dNmjH38EunY1bOogr9e1q/I2tqbWcmKpHpFbY+DkZDLjZGp+E5A7cNL//2+pYoCIiKjIM5dJksqXBx4+zB006RsxAujY0fqbramW5AyciNwam0M4mcw4mQucZFe9e/fE///oaKBFC6B3b7GNjhb7iYiISE98vMgYmQuaACA5WVdOZ4pGA1y6JL6xtIYZJ6Iih4GTk8mMk7nFzGXG6Z9/TP//T04W+xk8ERER/UetFpkmS5kkW1y9av0YGTjJjk8AAyciN8fAycmCgsQ2IsL05TJw+vtv0///NRrxM2AAsG2bboFyIiKiImvnTsuZJluZ+3ZTHzNOREUOAycne/11oE8f4JVXTF8uAydri5jfuQO0asXSPSIiIkUZIiVUKiAyUkwotiYyUmzPnBFrQQEMnIjcHAMnJ6tdG/jqK6BSJdOXy8BJKZbuERFRkackQ2SNSiW2c+Yo68L0yCOi/j4lRawFpVaLbzUBBk5EboqBUwFja+Aky/lGjGDZHhERFVHNmokaeBn8WKJSiQVqjWvmIyKUtyIHAC8v4IknxOldu4C7d3VvyqVLKx87ERUaDJwKGNlVzxa2NAEiIiJyO56ewNy54rSl4Ele9vnnwPnzwODB4nzz5kBSkvKgSXrySbHdvVvXrS8oCPD2tu12iKhQYOBUwMjmEZKSL88ke5V4ExERFWhqNZCQAKxcKbZqtQh61qwRazWZU6aMLqvk6Ql4/Pcx6Ikn8rZIogycdu3i/CaiIoCBUwHj7a1rWT5/vuX//8auXzd8DyEiInI7lhY5jIsTmaSffhL7ACAkRFdS9++/hqUd586JrbmJx9Y0aiSCrwsXgMREsY+BE5HbYuBUAMl5To0aif//W7daL5f29ARGjuRCuURE5MbMLXJr3Clp5kzxBhoSIrJBO3cCnToBGRlAhw7A/v3iuPwGTiVKAPXqidM//ii2DJyI3BYDpwJIBk737omAqGVLYPFiUbZnrnTPOMPEbntERORWLC1yq98pae1a4PffgeLFgc2bgWrVRCOHlSuBp58G0tKANm2Ao0fFvCYg74EToCvX275dbBk4EbktBk4FkH7gJJkr3TZXks1ue0RE5FasLXIrOyVNmiTOjxgB1K+vu9zPD1i3Dnj8cdE2PDZWZKA8PYEKFfI+Lhk4ZWeLLQMnIrfFwKkAkuXXd+8a7pel29u3AytWAB9/bDkoYrc9IiJyG0o7IJ08Cfj7A8OG5b6sRAngl1/EGkyyC15UlMhI5VXTpobnGTgRuS0GTgWQqYyT5OkpviTr1QsIDVV2e+y2R0REhZ4ti9y+/LKY32RK6dLAr7/qyvPyU6YHAOHhQMWKuvMMnIjcFgOnAshS4KRP6XuIPRZUJyIicimli9x6egKjR1s+JjxcdF568UVg/Pj8j02W6wEMnIjcGAOnAkhp4GTtPUSlAiIjxXFERESFmqVFbvXP9+hhmAEyp2JF4JtvRBlHfumX6zFwInJbDJwKIKWBEwAMGGC6wZB8D5kzJ29r+hERERU45jollSunW8x2zBjnj0s/41SmjPPvn4icIh+zIclRzDWH0BcfL7qymmswFBEhgqa4OLsPj4iIyPnUatHtKCMDWLZM7LtxQ9Sj//MPMGSIyB7Vrev8sdWsCVSpIhpO5KdDHxEVaC7POM2fPx/R0dHw8/NDo0aNsG/fPovHz5kzB9WrV4e/vz8iIyMxcuRIPHz40EmjdQ5rGSdz6/9JU6eKpSkYNBERkVuIjxcru7doIVZ6b9UK6NcP8PUVwdLff4vjGjd2zfg8PICDB4FTp4BixVwzBiJyOJcGTqtWrcKoUaMwefJkHDx4EDExMWjdujVu3Lhh8vgVK1Zg7NixmDx5Mo4fP44lS5Zg1apV+N///ufkkTuWpcDJ0vp/gCjR++ILR42MiIjIycx9W6i/0vuhQ2JfWhqQkOCaBQxLlOD8JiI359LAafbs2RgwYAD69++PWrVqYdGiRQgICMDSpUtNHr9nzx40bdoUvXv3RnR0NJ599ln06tXLapaqsLEUOCld/49rNxERUaFn6dtCuW/AAGD/fnF63jyRlYqOFgEVEZEduSxwyszMxIEDB9CqVSvdYDw80KpVK+zdu9fkdZo0aYIDBw5oA6Vz585h48aNaNeundn7ycjIQGpqqsFPQWcpcFK6JhPXbiIiokJPybeFd+7kDqz0s1FERHbissDp1q1bUKvVCDVaxTU0NBTXrl0zeZ3evXtj2rRpePLJJ+Ht7Y3KlSsjNjbWYqnejBkzEBQUpP2JjIy06+NwBBk43b8PZGYaXsa1m4iIqMjI67eAMpAaMcI1ZXtE5JZc3hzCFgkJCZg+fToWLFiAgwcPIj4+Hhs2bMA777xj9jrjxo1DSkqK9ufSpUtOHHHeBAXpThtnnbh2ExERubWrV4EnngDeey9/3wKydp2I7Mxl7ciDg4Ph6emJ69evG+y/fv06ypUrZ/I6EydOxEsvvYRXX30VAFCnTh2kp6dj4MCBGD9+PDw8cseBvr6+8PX1tf8DcCBPTyAwEEhNFYFT2bKGl82dKyoQjHHtJiIiKvQ+/BD480/gyBHg+nXxbWFysvmuSNawdp2I7MRlGScfHx80aNAA27Zt0+7LycnBtm3b0NhMO9H79+/nCo48/4sQNHn9h1pAhYSIrZzvqk+u/2e8xl5EhNjPNuREVNRER0dj2rRpuHjxoquHQvlx+zbw+efi9P37okPe3LnivLlSC2tYu05EduLSUr1Ro0Zh8eLF+Oqrr3D8+HEMGjQI6enp6N+/PwCgT58+GDdunPb49u3bY+HChfjuu++QlJSELVu2YOLEiWjfvr02gHIXffqI7aRJuec5ASI4euYZ3fklS3RrN6nV4r1m5UrXdWUlInKmESNGID4+HpUqVcIzzzyD7777DhkZGa4eFtlq/nwRMEnr1um+LSxf3vDYiAjdivGmsHadiOzMpYFTjx49MHPmTEyaNAn16tVDYmIiNm3apG0YcfHiRVzVS7FPmDABo0ePxoQJE1CrVi288soraN26NT777DNXPQSHGTUKCA0Fzp0DTD289HRg/XrdeZVKlOcZrxHIrqxEVBSMGDECiYmJ2LdvH2rWrIk33ngDYWFhGDp0KA4ePOjq4ZES6enAJ5+I0/+V5OOnn8S3f3FxwPnzwPbtwIoVYnv+PDB0qOnbYu06ETmASuNuNW5WpKamIigoCCkpKQgMDHT1cCxatAgYNEisp3f2rJj3JK1cKQIjacgQ4Omnxdwn49+ofP9gGR8RuZqz/gdnZWVhwYIFGDNmDLKyslCnTh0MGzYM/fv3hyqvJV8OVJjemxxm3jxg2DCgUiXg2DGgXDkgJQXYtQto2tT0dT78EBgzBvD3Bx480O2PjBRBE9/0iMgKW/7/FqquekXNK68A1aoBt24BM2caXrZypdhWry62+/dbXyOQXVmJyN1lZWVh9erV6NChA0aPHo3HHnsMX3zxBbp06YL//e9/eOGFF1w9RDIlK0v3RvfWW4CfH/Dcc+L8vHnma88PHxbb8eMNs1Gydp2IyI4YOBVg3t7AjBni9KxZwJUr4vSdO8CmTeL0Bx+IbWKi9TUCL10S7z8MnojI3Rw8eNCgPO+RRx7B0aNHsWvXLvTv3x8TJ07E1q1b8cMPPyi6vfnz5yM6Ohp+fn5o1KiRduF1U2JjY6FSqXL9PCc/+JNOt25AvXriDUnfwoXAxYuijWzfvmKfbOqwapX52vPERLF99FEgNhbo1UtsWZ5HRA7AwKmA69xZLGdx/z7w7LOiq+rateLLuZgYoH17UcJnqoGEKSNHcs4TEbmfhg0b4vTp01i4cCGSk5Mxc+ZM1KhRw+CYihUromfPnlZva9WqVRg1ahQmT56MgwcPIiYmBq1bt8aNGzdMHh8fH4+rV69qf44ePQpPT09069bNLo/NbaSliZrxw4dFd6ObN8X+NWvEmxMAjB0ryu7i48U3hsaSk0VNeny8KM07cULsr1fPKQ+BiIo2znEqBE6eFPOXrlwBqlQRgdLBg8D774vS7qefFpUJSnHOExG5iqP+B1+4cAFRUVF2ua1GjRqhYcOG+PTTTwGIpTIiIyPxxhtvYOzYsVavP2fOHEyaNAlXr15FsWLFFN1nYXxvstmRI0Ddurrzjz4KjBsnsklZWcCAAaIbUk6O+IbPXBmFSiU66q1eDTRuLNbvuH497+3KiahI4xwnN1O9ulj4PDoaOHNGBE0AIL84bdBAbIsVU/a+wTlPRORubty4gT///DPX/j///BN//fWX4tvJzMzEgQMH0KpVK+0+Dw8PtGrVCnv37lV0G0uWLEHPnj0tBk0ZGRlITU01+HF7586JbVSUCHYOHhSle1lZQPfuolxPpRJveEpqz9euFefr1WPQREROwcCpkKhUSbyXVKsmzjdtKt57AOCxx8RWloMrDZ4uXRK3SURU2A0ZMgSXjOfNAEhOTsaQIUMU386tW7egVqu1y2JIoaGhuHbtmtXr79u3D0ePHsWrsp22GTNmzEBQUJD2JzIyUvEYCy0ZODVqBGzerGsV26YN8M03unlJesuQWCQbQ8TE2HecRERmMHAqRCIiRKAzbpz4Yk6SGadLl0TjIeM1Ai1R+v5ERFSQ/fPPP3j00Udz7a9fvz7++ecfp41jyZIlqFOnDh5//HGLx40bNw4pKSnaH1NBn9uRgVOlSkD9+sDu3WLdprVrAR8f3XFlyyq7PfkGVr++fcdJRGQGA6dCpmxZYPp0oE4d3b7KlYGgICAjQ2Skzp8HPv5Y2e3JLBURUWHm6+uL69ev59p/9epVeHl5Kb6d4OBgeHp65rqt69evo1y5chavm56eju+++w6vvPKKovEGBgYa/Li9s2fFtlIlsa1dG3jjDSAgQHdMfLyuq545co7T+fPiPDNOROQkDJzcgEqlyzodOCCqHd54Q7yvmCvbU6nE+oDNmjlvnEREjvLss89qszjSvXv38L///Q/PPPOM4tvx8fFBgwYNsG3bNu2+nJwcbNu2DY0bN7Z43e+//x4ZGRl48cUXbX8ARYHMOFWubPry+HjRMS852fxtyDe1sWNFlz5fX92ChkREDsbAyU3IeU5yDrSnJzB3rjhtHDzJ83PmcKkLInIPM2fOxKVLlxAVFYUWLVqgRYsWqFixIq5du4ZZptpaWzBq1CgsXrwYX331FY4fP45BgwYhPT0d/fv3BwD06dMH48aNy3W9JUuWoFOnTihTpoxdHpNbyckRi9ICuoyTPrXa/Cru+sqXFy1hZfavTh3AhowiEVF+8L+Nm5CB04EDun1xceL9ZfhwwwZFEREiaGIrciJyF+XLl8fff/+N5cuX4/Dhw/D390f//v3Rq1cveHt723RbPXr0wM2bNzFp0iRcu3YN9erVw6ZNm7QNIy5evAgPD8PvHU+ePIldu3bh119/tdtjcitXrogFB728xJuQsYQEy530pMWLRTOJiRPFea7fREROxMDJTchSvcOHxVwnX19xPi4O6NhRNJW4elXMaWrWjJkmInI/xYoVw8CBA+1yW0OHDsXQoUNNXpaQkJBrX/Xq1VHElkW0jX4rcuMMUXy8WMNJiUOHROCUmCjOc34TETkRAyc3UbEiULIkcO8ecPy44Zdwnp5AbKxrxkVE5Ez//PMPLl68iMzMTIP9HTp0cNGICIBhRz19cl6T0qBTzmGTgRMzTkTkRHkKnC5dugSVSoWI/9Lt+/btw4oVK1CrVi27fdtHtlGpRIOiXbuAY8f4XkJERcu5c+fQuXNnHDlyBCqVSpv9Uf03qVPN1b5dy1TgpHRek74HD4Dbt3VlfXXr2m+MRERW5Kk5RO/evbF9+3YAwLVr1/DMM89g3759GD9+PKZNm2bXAZJyjzwitseOuXYcRETONnz4cFSsWBE3btxAQEAAjh07hh07duCxxx4zWVpHTmbcihwQNeRK5jXp+/tv3cK3lSvrFtElInKCPAVOR48e1S7ut3r1atSuXRt79uzB8uXLsWzZMnuOj2zAwImIiqq9e/di2rRpCA4OhoeHBzw8PPDkk09ixowZGDZsmKuHR6ZakStdgb1MGeCjj8TpxEQxzwng/CYicro8BU5ZWVnw/a/7wNatW7W14zVq1MBVpf8Iye5q1RJbBk5EVNSo1WqUKFECgFjE9sqVKwCAqKgonDx50pVDI8B0qZ7SFdhXrRKLE3p5iYm8P/0k9rMmnYicLE+B0yOPPIJFixZh586d2LJlC9q0aQMAuHLlCtevcCGZcTp3TpSBm6JWi66vK1eKLcv+icgd1K5dG4f/K+Fq1KgRPvzwQ+zevRvTpk1DJVPrBpHzpKUBN26I0/q/i2bNlK3UHhsrWsXKbwd//11sGTgRkZPlKXD64IMP8NlnnyE2Nha9evVCzH/p8vXr12tL+Mj5QkOB0qXFPNsTJ3JfHh8PREcDLVoAvXuLbXS02E9EVJhNmDABOTk5AIBp06YhKSkJzZo1w8aNG/HJJ5+4eHRFnFz4tnRpIChIt9/WldqNAyUGTkTkZHnqqhcbG4tbt24hNTUVpUqV0u4fOHAgAgIC7DY4so1KJbJOO3eKcr369XWXmev4evky0KULMHUqMH4813ciosKpdevW2tNVqlTBiRMncOfOHZQqVUrbWY9cxFwrcsC2ldr15zSVKmV6IV0iIgfKU8bpwYMHyMjI0AZNFy5cwJw5c3Dy5EmULVvWrgMk25hqEKGk4+vkycw+EVHhlJWVBS8vLxw9etRgf+nSpRk0FQSWAidABEfnzwPbtwMrVohtUpJh0AQYZpjq1TNf4kdE5CB5yjh17NgRcXFxeP3113Hv3j00atQI3t7euHXrFmbPno1BgwbZe5ykkKnASWnH18uXRVZqzZrc71dERAWVt7c3KlSowLWanOHOHcDfX/woZaoVuTElK7XrZ5xYpkdELpCnjNPBgwfRrFkzAMCaNWsQGhqKCxcu4Ouvv2YtuYuZCpxsbXQ4YgSbRhBR4TJ+/Hj873//w507d1w9FPeVkgJUrCiaOtjCWsZJqTJlRLMIgIETEblEnjJO9+/f17Z9/fXXXxEXFwcPDw888cQTuHDhgl0HSLaRgVNSEnD/PhAQoLzjKyDK+S5dEh33WrZ0yBCJiOzu008/xZkzZxAeHo6oqCgUK1bM4PKDBw+6aGRu5NQpIDUVOHBAbJUuPmtqDae8Gj8eWLsW6Ngx/7dFRGSjPAVOVapUwbp169C5c2ds3rwZI0eOBADcuHEDgVzF26VCQsSXcrdvi856jz6q6/ianGx5npO+7t2BxYtZskdEhUOnTp1cPQT3d/Om7vTJk0DDhtavk5Oj66oXFSW+lbt6VXyj16yZ7R2JXntN/BARuUCeAqdJkyahd+/eGDlyJJ5++mk0btwYgMg+1ddv5UZOJzvr7dghyvUefVTX8bVrV+W3c+cO5zsRUeExefJkVw/B/cm1mADxzZySwOnKFSAzU7wRNW8uvsGTIiLEmxPfZIiokMjTHKeuXbvi4sWL+Ouvv7B582bt/pYtW+Ljjz+22+Aob0zNc5IdX8uXt+22ON+JiIgAGAZOJ08qu47sdKhWGwZNgDjftSvbuRJRoZGnwAkAypUrh/r16+PKlSu4/F/Ltscffxw1atSw2+Aob0wFToAIni5cEGs2KSHnO+3cad/xERHZm4eHBzw9Pc3+kB0YZ5yU2LHD/GWydpzf0BFRIZGnUr2cnBy8++67mDVrFtLS0gAAJUqUwOjRozF+/Hh4eOQ5HiM7MBc4AaJaYtIkoHZtYMAAUZJnja1d+YiInO2HH34wOJ+VlYVDhw7hq6++wlSl3xaRZfpznJQGTr/8YvlydiQiokIkT4HT+PHjsWTJErz//vto2rQpAGDXrl2YMmUKHj58iPfee8+ugyTb6HfWS08HjJpLYdUqoFYtYPVqoFUr67dnS1c+IiJX6Giiy1rXrl3xyCOPYNWqVXjllVdcMCo3o59xOn0ayM4GvCx8jMjMBP75R9ltsyMRERUCeUoNffXVV/jiiy8waNAg1K1bF3Xr1sXgwYOxePFiLFu2zM5DJFuFhIgfADh+3PCy/fuBnj2Bl14Saw1GRJhffF2lEktm2LpkhykPHwJZWfm/HSIiWzzxxBPYtm2bq4fhHvQDp8xM4Px5y8cfOiSOU0J2JOJ8JyIqwPIUON25c8fkXKYaNWpw8cECQmad5Lxc6c8/xTYpSddtD8gdPMnzc+bY3i3W2P37YvmOp57K3+0QEdniwYMH+OSTT1De1q44ZJoMnGSWyVqDiF27xNbPz/w3dMY434mICrA8BU4xMTH49NNPc+3/9NNPUbdu3XwPivJPLqpuvOZjYqLYpqaKLJC5bnsREfZrRX7ihOhI+8cffD8kIscoVaoUSpcurf0pVaoUSpQogaVLl+Kjjz5y9fAKP41GN8epQQOxtTbPafduse3WTfl9sCMRERVgeZrj9OGHH+K5557D1q1btWs47d27F5cuXcLGjRvtOkDKG/m+Zi5wAoDr18V6hHFxYhH2nTvzty6hORcu6E6npgKlStnndomIpI8//hgqvayGh4cHQkJC0KhRI5TiP538+/dfICNDnG7WTJQvWAqcNBpdxun114FOndiRiIgKvTwFTs2bN8epU6cwf/58nPjvH2dcXBwGDhyId999F83sMSmG8uXRR8X20CGR5fH0FPN49Uv3ZOAEiMtjY63frlpte4B18aLu9L17DJyIyP769evn6iG4N1mmV7w4IBe6txQ4nT4tMlS+vuKbPF9fICiIHYmIqFDLU+AEAOHh4bm65x0+fBhLlizB559/nu+BUf5Ury666aWnizL0WrXEVn5hCIjAyRbx8cDw4cB/y3YBULbwu37G6d492+6TiEiJL7/8EsWLF0c3o7Kw77//Hvfv30ffvn1dNDI3IQOnkBBAznG2FDjJMr2GDUXQBOg6EiUn69Zw0qdSicv55SsRFVBccMlNeXrq5jkdOCC2+mV6gG2BU3y8aHikHzQByhZ+N844ERHZ24wZMxAcHJxrf9myZTF9+nQXjMjNyPlNZcsC1aqJ07duAbdvmz5eluk1aSLWaFq5UpQrfPyx2O/IjkRERA7CwMmNyXlOMnA6fNjwcqWBk1otMk2mviBUsvA7M05E5GgXL15ExYoVc+2PiorCRf1vbyhvZMapbFlRrhcZKc6b66wnA6clS4AWLYDevcV25EjgzTcd25GIiMhB8lyqRwWfceAkM04hIeLLQ/0lOYzdugW88w4gP4cYZ5r06TdCMjVPyt4Zpz/+AJYvB959V5TMExGVLVsWf//9N6Kjow32Hz58GGXKlHHNoNyJfqkeIMr1Ll0S5XpNmhgee/MmcOqUOG2ckUpOBmbOFCuxh4Q4piMREZGD2BQ4xVn5Juge0wkFigycZIMIGTg98wywYoX5jFN8PNCvn2iiZAtTjZAePDAM0OzxJzJxIrB1q2iA0b9//m+PiAq/Xr16YdiwYShRogSe+m/RuN9//x3Dhw9Hz549XTw6N6BfqgeIwGnLFt08p2XLgI8+EhNpHz40fzsajSjLGz1at6AgEVEhYVPgFGTl6/2goCD06dMnXwMi+6lRAwgIEA0ifv9dvO95eAAtW5oPnORcJlNledaYaoR06ZLheXsETvJ9mh1riUh65513cP78ebRs2RJe/y3QmpOTgz59+nCOkz3ol+oBogMRIP4hf/ONbd9iWStTICIqoGwKnL788ktHjYMcQDaI2LMHWLpU7KteXdeC3DhwsjSXyRJLjZCMpxbkN3C6f19XNmip1JCIihYfHx+sWrUK7777LhITE+Hv7486deogSv7Do/wxDpxkZ72EBECu3zh4sJi79P77ykoW+O0XERUynOPk5ho0EIHT2rXifL16QGioOG0cOO3caXkukynWGiHpN4YA8h84nT2rO83AiYiMVa1aFVWrVnX1MNyPqTlOgC5A6ttXNH/o3l35t29cr4mIChl21XNzciFcWXIeE6MLnO7cAbKydMfm5cs/a42QZMbJ21ts8xs4yfnGAAMnItLp0qULPvjgg1z7P/zww1xrO1EeGM9xCg8HAgPF6c6dgc8+Ex3zlARNKpXoysf1moiokGHg5OZkgwipXj2gTBlddkg/+LD1y7+pU8XcXks9Q2TgVKuW2OY3cDp9WneagRMRSTt27EC7du1y7W/bti127NjhghG5kZyc3IGTSgUsWgSMGSMmze7da1vJAtdrIqJCiIGTm6tZE/D3152vV080iJDVFvrBR7NmIoOkhEoFfPGF9eNkqV5MjNgycCIiR0hLS4OPj0+u/d7e3khNTXXBiNzI3bu6hfr0Fxnu1UvMZ/LzU16yUKYM12siokKLgZOb8/LSBS2hoboyPVPznDw9gblzld2uflMkS2TGqW5dsbVn4HTzpvlFd4moaKlTpw5WrVqVa/93332HWjLlTXkjv6UqWRIwEZwCUF6ysGoVgyYiKrTYHKIIaNBALBpbr55un7kGEXFxQLt2uiZJ1lj6kjEnR9eO3F4ZJ/05Tjk5Yp6WzJ4RUdE1ceJExMXF4ezZs3j66acBANu2bcOKFSuwZs0aF4+ukDMu0zNFliwkJ5ue5yTbr7L9OBEVYsw4FQH9+wPR0cCAAbp95gInwLayc0tfMl6/DmRmitJA+YVvamres0Spqbrx+vmJrTPL9XJynHdfRGSb9u3bY926dThz5gwGDx6M0aNHIzk5Gb/99huqVKni6uEVbsYd9Yyp1aL8QC4CKNutStbarxIRFRIMnIqABg1EE4cuXXT75BeHpgKnpCSxDQ7O/f4nKWmKJMv0ypcXZe1SXqcbnDkjtiEhIhAEnBc4LV8OlCoFbN3qnPsjIts999xz2L17N9LT03Hu3Dl0794db775JmJkypvyxngNJ33x8eIfcosWIjACxLdl+qy1XyUiKiQYOBVR5jJOGo0ucJo8WWzNBU/WvjyUjSGiogBfX12TiryW68n5TdWq6cbvrMBpyxYR8P3+u3Puj4jyZseOHejbty/Cw8Mxa9YsPP300/jjjz9cPazCzVSpnloNTJsmvpEz7qYnywpGjAC2b7fefpWIqJDgHKciylzgdPMmkJ4ugqUBA8RSHcOHG74vli0LLFxo/X1QZpwqVBDbkiWBBw/yHjjJ+U1Vq4oxAs4LnOQaj2lpzrk/IlLu2rVrWLZsGZYsWYLU1FR0794dGRkZWLduHRtD2INxxik+Hhg2TMxnMkelEiuvz5zJ8jwichvMOBVR5jI2MtsUHi6yRHFxwPnz4kvDatXEZR9/LPar1UBCArBypdgaz13SzzgBInAC8p9xqlpV9/7NwImoaGvfvj2qV6+Ov//+G3PmzMGVK1cwb948Vw/LvejPcYqPF3OZLAVNgPLWq0REhQgzTkWUuYyTDJwqVtTt8/QUjZCeeEJkfZKSxHuncSYqOBh48UWgY0cx98lUxgmwT+CUnS1OOztwkpkuIioYfvnlFwwbNgyDBg1C1apVXT0c9yT/0QYHi3/8prrmmaN0fSciokKAGaciSgZOxmshmQqcpMqVxfa338QXjsZl7bduiXlPLVqIucJ//y32OzLjZKq5hSMw40RUMO3atQv//vsvGjRogEaNGuHTTz/FrVu3XD0s9yLnOF27lvsfvzVK13ciIioEXB44zZ8/H9HR0fDz80OjRo2wb98+i8ffu3cPQ4YMQVhYGHx9fVGtWjVsVLroEGmFhIgS9Jwc4PZt3X5LgZPs6Ltrl/UvHJOTRYkfYJ+M0507unFWqcJSPSISnnjiCSxevBhXr17Fa6+9hu+++w7h4eHIycnBli1b8K988VLeyX+0WVnKr6Ok9SoRUSHj0sBp1apVGDVqFCZPnoyDBw8iJiYGrVu3xg0zn4YzMzPxzDPP4Pz581izZg1OnjyJxYsXo3z58k4eeeHn5aVrEa6ftZGBU6VKua8jM06ZmdZvXz+wkr+e/AROMtsUHg4UL+66wImlekQFU7FixfDyyy9j165dOHLkCEaPHo33338fZcuWRYcOHVw9vILv0CFg2bLc34plZ+u+tbK1FJLrNhGRm3Fp4DR79mwMGDAA/fv3R61atbBo0SIEBARg6dKlJo9funQp7ty5g3Xr1qFp06aIjo5G8+bNuUZHHpma56SkVM9WiYlia4/ASb5vO7MduUbDjBNRYVK9enV8+OGHuHz5MlauXOnq4RQOr7wiVkuX/7AlWfaoUgHPPSfWZDK3RoXEdZuIyE25LHDKzMzEgQMH0KpVK91gPDzQqlUr7N271+R11q9fj8aNG2PIkCEIDQ1F7dq1MX36dKiN27npycjIQGpqqsEPCcbzhNRqXSc8U4FTmTJAsWK234+cG2zPwEmO/d9/RYtzR8rI0DWjYOBEVHh4enqiU6dOWL9+vauHUvDJAMl4DpOc3xQcDPj4AHPnivPmgqepU0WdNoMmInJDLgucbt26BbVajVCZOvhPaGgorl27ZvI6586dw5o1a6BWq7Fx40ZMnDgRs2bNwrvvvmv2fmbMmIGgoCDtT2RkpF0fR2FmnLW5fFkECN7eoiTOmEqla0luCzk3WAZOKSm234b+Gk4AEBgo3sMB3fu6o+hPkWDgRERu6eFDsb1713C/fityQAREa9boarClyEixbtOkSSzPIyK35fLmELbIyclB2bJl8fnnn6NBgwbo0aMHxo8fj0WLFpm9zrhx45CSkqL9uXTpkhNHXLAZl+rJMr2oKPPve7aW6wUF6eYG2yPjJAM3lcp585z0AyfOcSIit2QtcJL/cAHDBf5WrBDbpCRmmYjI7blsHafg4GB4enriulE/6evXr6NcuXImrxMWFgZvb2946n2qr1mzJq5du4bMzEz4yBSEHl9fX/j6+tp38G7CXOBkqkxPkoFTuXKiM601I0eKbUKCmHsM5C1wOntWbGVnP0C8j1++7PiW5PqBU0aGaCzl7e3Y+yQicipzgZMs4QsONtwvF/gjIipCXJZx8vHxQYMGDbBt2zbtvpycHGzbtg2NGzc2eZ2mTZvizJkzyMnJ0e47deoUwsLCTAZNZFl+AicZNOlNUTOpUiWxplOLFsD774t9R4+KBXSVysrSBVv6MbUrMk4As05E5GZycnStxo0Dpzt3xFa2YSUiKsJcWqo3atQoLF68GF999RWOHz+OQYMGIT09Hf379wcA9OnTB+PGjdMeP2jQINy5cwfDhw/HqVOnsGHDBkyfPh1Dhgxx1UMo1IwDp3PnxFZJ4ASIuUs//ACUKiXOL1okqjZkgBQeDvTtm3uusVotFtBVGjzpv4/Lcj+AgRMRkV1kZOhOmwucSpd23niIiAoolwZOPXr0wMyZMzFp0iTUq1cPiYmJ2LRpk7ZhxMWLF3FVtmQDEBkZic2bN2P//v2oW7cuhg0bhuHDh2Ps2LGuegiFmgycrl4FpkwBvvtOnK9Rw/x19Evl3ntPrKn02GPivEYD9Oqlq/i4d8/8QrkaDTBihAiirJHv2yVLivWnjMfv7MCJDSKIyK3If9pA7sBJruHEwImIyHVznKShQ4di6NChJi9LSEjIta9x48b4448/HDyqokE/cJo6VZzu3Rto3978dSIjRRZJrQb69BH7Hn8c2LIF2LcPeP11YP9+sf/+fcv3f+kSsHOn9TJ5c+/brso4MXAiIreiJONUpoz4x79zp3jTCAsTnX/YQY+IihCXB07kOvpNkkqWBBYuBHr2tHwdlUosLq+vYUOx3b9fZJJ27VI+Br2EolnmSuwZOBER2YGljJP8B3zypJiwql97HREh1nViNz0iKiIKVTtysi9fX2DMGFFed+SI9aDJHBk4/fMPMG+ebes0yTWeLCloGSfOcSIit6KkVO+DD3JPWE1Otm3CKhFRIceMUxEnGznkR3i4+LlyBRg/Xvn1IiN1azxZwowTEZEDKSnVM0WjEWUII0YAHTuybI+I3B4zTmQXMutkS1AxZ46y91klGSe9DvV2x8CJqOiZP38+oqOj4efnh0aNGmHfvn0Wj7937x6GDBmCsLAw+Pr6olq1ati4caOTRptP+hmnhw+BBw/E6Zyc3IGUMY1GN2GViMjNMXAiu3j8cduOHzJEeVm8uYxTSIjYZmfnbVFdpViqR1S0rFq1CqNGjcLkyZNx8OBBxMTEoHXr1rhhJr2dmZmJZ555BufPn8eaNWtw8uRJLF68GOXLl3fyyPNIP3ACdMGSpdaoxpRMWCUiKuRYqkd2ITNOSum3NbfGXMbJ1xcIChJzqm7ccFy3XBk4qVTiMwQzTkTubfbs2RgwYIB2TcFFixZhw4YNWLp0qcnlL5YuXYo7d+5gz5498Pb2BgBER0c7c8j5YypwCg+3XKZnTMmEVSKiQo4ZJ7ILuZaTJSoVUKyYOG1LhsjSwvXOWMtJBk7BwWLLwInIfWVmZuLAgQNo1aqVdp+HhwdatWqFvXv3mrzO+vXr0bhxYwwZMgShoaGoXbs2pk+fDrWFheoyMjKQmppq8OMy+nOcAF3GSX5r5ekp/oGbolIpn7BKRFTIMXAiuyhVyjCLZPweK8+3bi22tgROltZfdEaDCBk4yS9UWapH5L5u3boFtVqtXYhdCg0NxbVr10xe59y5c1izZg3UajU2btyIiRMnYtasWXj33XfN3s+MGTMQFBSk/YmMjLTr47CJuVI9+a1VhQpia+4fu9IJq0REhRwDJ7IbOc/p+ecB49L+iAhgzRqgUSNx/t49sZZiQgKwcqXYmvty1lLGyRWBEzNORKQvJycHZcuWxeeff44GDRqgR48eGD9+PBYtWmT2OuPGjUNKSor259KlS04csRFrgVOlSuIfuLl/7FzHiYiKCM5xIruZPBnw9wfeeUcENKYWmJefI3buFPtv3tRd39xaigUl41SunNgycCJyX8HBwfD09MT169cN9l+/fh3l5D8BI2FhYfD29oanXtalZs2auHbtGjIzM+Hj45PrOr6+vvD19bXv4PPKWqle6dLiH3PHjqb/sRMRFRHMOJHdVKsGfPGFeD/19ARiY8XiurGx4nx8vG6dp3PnDIMmwPRaihkZutI4SxmnCxfs/Wh05NQDZpyI3J+Pjw8aNGiAbdu2affl5ORg27ZtaNy4scnrNG3aFGfOnEGO3roIp06dQlhYmMmgqcCxlnGS/3xN/WMnIipCGDiRU8THi6DI2lqKgFhLUZbtyeM9PEQHPWNNm4rtunW6pUfsKSdHFyhxjhNR0TBq1CgsXrwYX331FY4fP45BgwYhPT1d22WvT58+GDdunPb4QYMG4c6dOxg+fDhOnTqFDRs2YPr06RgyZIirHoJtrAVO//5rvaaaiKgIYKkeOZxaDQwfrmw5EP21FGNjde/bpUqJ4MlYq1Zi3vLFi8APPwC9e9t16AZBEjNOREVDjx49cPPmTUyaNAnXrl1DvXr1sGnTJm3DiIsXL8JD7x9SZGQkNm/ejJEjR6Ju3booX748hg8fjjFjxrjqIdjGXKleYqLYLl8ufgDzNdVEREUAAydyuJ07gcuXbbuOXEvR0vwmQARTL78MTJkiygTtHTjJ+U0eHroFdxk4Ebm/oUOHYujQoSYvS0hIyLWvcePG+OOPPxw8KgeRGSd/f5G6v3tXlAns3Jn7WFlTzaYQRFQEsVSPHC4vC8rL7I5xib2pTnz9+4uuuNu3A2fP2mPEOjJwKl4cKFFCnGapHhG5FRk46f/jHT7c9LGmaqqJiIoIBk7kcLYuKF+6tG4tRf2MU3w8EB0NtGghMkstWojzf/0FPPusOG7pUnuNWpCBU4kSusV7mXEiIrciAyfZNTA52XKZgH5NNRFREcLAiRyuWTNRFm9u4Xlj5cvrmjXJjFN6uqgOMX4vl1UjdeqI819+CWRn22fcgGHgVLy4OM3AiYjcipzjJL/lkt9YWZOXcgIiokKMgRM5nKenmEsMWA6eZGtx/cBEvn8fOGC6uYTc9913QHCweB//5Zf8j1kyFThlZQGZmfa7DyIil5IZp/v3xVbpt0O2lhMQERVyDJzIKeLiTC88HxIiSuW3bxcld4DokJeVJU7LjJOl93GNRmSiWrQQ55cssd+4TZXqAZznRERuRAZOSr91UqmAyEhdTTURURHBrnrkNNYWns/KAnx8RDbn+++BHj2UV4wAolzv+++BvXvtN2b9wMnbWze+tDTRIp2IqNAzXsfJElk2MGcOF8AloiKHGSdyKnMLz8fHA5Uq6UrgXnhBNH44eVL5bdevL7Y3bugCnvzSD5wAznOiwmH5cuD33109Cio0rl1TfmxEBFuRE1GRxcCJXC4+3nzjh2PHxOngYPPzo2TVSNu2urbl587ZZ2zmAieW6lFBdekS8OKL4ssHIkWUfhM0YQKQlMSgiYiKLAZO5FJqtVguxFLjBwB4802xNQ6ejKtGKlUS5x0VOLElORV0t24ZbonspmVLlucRUZHGwIlcaudOy8uFSBUqmG4uYVw1Urmy2NprIVyW6lFhIxujZWRwfVJSyMfH8uVsBkFEBIDNIcjFlC4Dcv++mBdlqbkE4LjAKTBQbBk4UUEnAydAzPnX7wZJZJKS5hBsBkFExMCJXEvpMiBRUWIrm0uY4+iMk/wQyjlOVFDpB04PHjBwIgVk4PT++8A77xj+gwsMFCuLc14TERFL9ci1mjUT5XaWFsYFgP79RRMJa1iqR0Wd/mfeBw9cNw4qRDIyxLZtW2DoUMPLJk1i0ERE9B8GTuRSnp7A3LnitKXgKTlZdN6zFjzJwOnCBd0iuvnBwIkKG/2Mk/5pIrNkxsnPT9eaVAoOdv54iIgKKAZO5HJxcaLBQ3i4+WNkh70RIwwnvKvVQEICsHKl2JYtK9771WrRljm/XN2O3FS3QSJLjEv1iKySgZOvb+6VvUuXdv54iIgKKAZOVCDExQFffWX5GI1GBEM7d4rz8fFikdwWLYDevcW2UiXdF6T2KNdzZTvy7dvFl7/ffuv4+yL3wcCJbKLR6Er1/PxyB07GGSgioiKMgRMVGDduKDvu6lXLi+bKfY4InJxZqrd5M3D3rsimESnFwIlskpmpO20qcGLGiYhIi131qMBQ2mGvbFmgXz/ri+aePp2/8WRn6ypYXBE4Xbsmtn//7fj7IvfBwIlsot+K3FSpHjNORERazDhRgSE77Jkj12AElC2au39//sYjs02Aa9qRX78utpcvA3fuOP7+yD2wOQQZ2L0baNAA2LXL9OWyTA8wHTgZnyciKsIYOFGBod9hz5jsuDdnjvKSvgsX8jceGTj5+IgfwDUZJ4BZJ1KOGScysHo1cPAgMGyY6TS9fmMIlcowUAoMBLxYmEJEJDFwogIlLg74/vvc+yMiROe9uDjlJX03buSvK53x/CbAuYGTzDgBwOHDjr8/cg9cx4kMyMDo0CFgyxbzl3t5iQmVBw4AHv99NGCZHhGRAQZOVOB07QrUqqU7P2sWkJSkW4NR6aK5Dx8CN2/mfRyWAidHl+rl5Bhm1phxIqWYcSID+qV4H3yQ+/Kffxbb9HTRnrRlS91lbAxBRGSAgRMVSJUq6U4//bQo45MsLZqrUokfe7QkNxU4Oasd+e3bhutVMeNESnGOExnQD5x++81w8md8PDB6dO7r5OSIbXa2Y8dGRFTIMHCiAkk/cDJVLSIXzS1f3nC/LOmrXVuct3fg5KxSPTm/SQaGx47xMwwpw4wTGZCBU0CA2Mqsk1oNDB9u+bqnTxt+g0NEVMQxcKICST9wCgoCEhJE+X1Cgu59PC4OOH9eLBS7YoXYypK+ypXFMWfPinlO48cDjzwCXLmifAzWAqf8zJ+yRs5vqlFDZLkePgTOnHHc/bna5cuGXZEp7xg4kQEZOA0eLLbx8cCpU2IlcWvtSe/f1604TkREDJyoYJKBk7e3mO/UooUov2/RAoiOFu/9gCjbi40FevUSW1nSpx84zZ4NTJ8O/POPrpxfCUulemq14bqR9iYzTmFhQJ064rS7luudOQNERQHdurl6JO6BgRMZkIFT/fpA+/biG5/Zs8VK4kooPY6IqAhg4EQFUt26orFTVhaQnGx4WXKyaCAhgydTZOC0cSPw1lu6/ceOKR+DpcAJcGy5nsw4lSsnngvAfRtEHDggplQcOODqkbgHBk5kQAZOvr5A377i9MGDytuTKj2OiKgIYOBEBVJEhPlOuLJEbsQI8+X3MnC6fVscX7WqOH/0qPIxmAqcvLwAPz9x2pGBk8w4hYYCMTHitLtmnGS10PXrnE5hD2wOQQb0AyfZNefff62vOA6IFcebNXPs+IiIChEGTlQg7dxpuZW4RgNcumS+/F4GTgDQrh3w9dfidH4DJ0CXdXJkS/KilHG6dElsc3KAW7dcO5bCTqPhOk5kRD9wCgwUp1NSrK84rlKJFcf1W5oSERVxDJyoQMpv+X3JksDAgUCHDsDy5cDdu2L/jRu6bI415gInZ3TW0884yTlOly4Bd+447j5dRX9+OqdT5E9WlmHWjoETmQycUlPFNi4OePXV3NfRX3GciIi0vFw9ACJT8lJ+r1aLDNTVq2L/ggXAjz+KwEP/w3mdOsBnn1n/TODKwEk/4xQUJBpinD8PHDkCNG/uuPt1BZlxAsTvrl49lw2l0DMuzWPgRCYDp/R08Q/T01O07gSAZ54B+vcX/zybNWOmiYjIBAZOVCDJ8vvkZNNtv1Uqcbksv4+PF0uS6AdIZcqIOU7Gbt0SzSWsfaFaUDJOgJjndP68mOfkboGT/u9MaTaQTGPgRLmYCpwA8Q+uZEndOgAVKoj2pEREZBZL9ahA0i+/l4vASvK8LL+PjxeBkPGSJKaCJn2WmksArpvjpFbr5vqUKye27jrPKSvLsDyPpXr5Yxw4sTkEGQROvr6Aj484L8v15OWy6w0REZnFwIkKrLg4kRUqX95wv375vVotMk22LkYrm0vMm2c+eJLBS1CQ4X5HZ5xu3hSNElQqXRMsdw2crl41/N0x45Q/zDhRLvqBE5B7npPMODFwIiKyioETFWhxcaJEbft2YMUKsU1K0pXY7dyZO9Nki5EjDRfUlW7fFguzArrmDJKjAyc5vykkRLQ/B4CKFcXWeE2rwk5/fhPAjFN+MXCiXBg4ERHZDQMnKvA8PYHYWFF+HxtrOGfZHh+0TS2o+8cfYlu9ui7rI1kq1Rs1CnjssfyVSBnPbwJEEAX8v707D4+qvNsHfk8mO5CEEAhLAkFFAVFAEATlVUoqqEVpwAVRI1X8qWBBXjeqgtjXQtUi1lpQKmqrLC4Rl1ZcIigoAoLghrixKJCENQlbgJnz++PpM2eZc2bOzJxZkrk/15Vr9pkzE8g593yf5/uIalSo1bVEZgy9DE6Rkf/u5DEyg1OS83qBEyfEeavgZAxWRERkicGJGjUnFrU3W1D344/F6cCB/ve3qjgpCjBvHrBuHfDZZ+Fvj7ajniTD2/Hj6vFOUyArTh07ilMO1YuMDE5y8WjOcUpyMhQBajCSY49ZcSIiChmDEzVqsvuesYFEqIwL6n7yiTg991z/+1oFp9pa9bpIhg+aVZyys8UPEHhh4MZGfk5nny1OjXOeKDSyCiqD04kTasGBkpBZcOJQPSKisDE4UaOm7b7nhF27RFVnzRpxOVDFyThUb/t29bxx7k4ozCpOgDpcTzataArk5ySD0+HD0W3z3tQZK04Ah+slNW1wSksTpxyqR0QUNgYnavRk9738/Mifq107YMMGcbDZsqWY42Qk5zgZD/C1wcnpihOgn+fUVMjg1LWr2va9scxzWrECWLIk3luhJ4OT9v8Cg1MS04YiWZZnxYmIKGwMTtQklJUBL70U/uNdLqC4WAz9k8P0Bg4EUkz+h8iKk3GukVPBKVjFqSkFJ/k5FRWp77exBKeyMvEjf1+JQAan5s3V42AGpyRmVk1icCIiCltCBKcnn3wSJSUlyMzMRP/+/bFGjpMKYtGiRXC5XBgxYkR0N5AahQsuCG++k3FB3UCNIQB1XSltUDJejkbFSTaIaCrB6dgx9b0WFamNPhpDgwi5SLGiJFbQk8EpOxvIytJfR0koUHCqrQWWL1fXOJAL4xIRkaW4B6fFixdj8uTJmDZtGtavX4+ePXti6NChqKmpCfi4rVu34o477sCgQYNitKWU6LTznYzhyeUSP3feqQ71l7QL6ipK8OB0yini9Kef9Ivnxqri1FTmOMlGEOnp4r3J4KQNItXV4tgu0RpGaOe37d8fv+0wMgtOrDglsUDBaeFCYPBgdcG6ceP8F7QjIiKduAenWbNmYdy4cRg7diy6d++OuXPnIjs7G/Pnz7d8jMfjwZgxYzB9+nScdNJJAZ+/oaEBdXV1uh9quuR8J1kVkmQ4evhhdfHcq67yX1B3+3Zg504Rwvr1M3+N4mJxsH/smD4gaYNTdbW4PVTHj6vBqKkP1ZPzmzp0EEMi5fvVVpyuvVYc28l1tRJFYwhOsgsjg1MSMwtO330nTo3/MPbs8V/QjoiIdOIanI4dO4Z169ahtLTUd11KSgpKS0uxatUqy8c9+OCDaNOmDW644YagrzFjxgzk5ub6foqLix3ZdkpcZWXA1q0iFC1Y4B+OuncXp82a+S+oK+c39e6tHngaud2AzOvyy1pAH5wURQSwUMlQ5HbrO6MBTS84ydAp/0saK04nTqjt4b//PrbbFkyiB6dmzVhxIvgHJ49H/FEMRLugHRER6cQ1OO3ZswcejweFhskchYWFqLKY6LBy5Uo888wzmDdvnq3XmDJlCmpra30/P0fSJ5oaDbdbhKLRo/3DUefO4nTrVv/HBVq/SUsO15PB6cQJdaqAbB4RznA9+c++TRv/xhRNLTjJ/4pFReLU2Bzi66/Veet798Z224JJ1OAkt4tznAiAf3BasSLwfybjgnZERKSTGu8NCEV9fT2uvfZazJs3DwVypnwQGRkZyOD6FKRRUiJOt2zxvy3Y/CZJBidZCdm5E/B6xfyp3r3FcUc4wUnObzI2hgDU5hBNZY6TVcVJhsfPPlPvm2jvOVGDE+c4kY4xONntZJJIHU+IiBJIXINTQUEB3G43qg39fKurq9HWOMEDwI8//oitW7di+PDhvuu8Xi8AIDU1FZs3b8bJJ58c3Y2mRk9WnLZvFyNSZDXq8GFg40Zx3m5wkhUnOUyvuBjo2FGcj6TiZPLPv8lXnIxD9RicQsc5TqRjDE7yP1kwdu9HRJRk4jpULz09HX369EFlZaXvOq/Xi8rKSgwYMMDv/l27dsWXX36JDRs2+H4uvfRSDB48GBs2bOD8JbKlXTtRGdIOrwPEnGmvV8wtkgfzVqyCU8eO6mMDBafPPgO2bfO/PlDFSQangwfVIWyNmbHiJMPinj2iScbatep9GZzsYcWJdIzBadCgwKFIu6AdERH5iftQvcmTJ6O8vBx9+/ZFv379MHv2bBw6dAhjx44FAFx33XXo0KEDZsyYgczMTPTo0UP3+Ly8PADwu57IitsNdOokQs8PP4i24rt2Ad9+K24/9dTgzyGD048/irAVSnB65x1g2DDgzDPVCpcUqOKUmwukporAt3u3GjhizeMRQxF37RLHYIMG6eeQ2WWsOLVqpb6/n38GvvhCvS+Dkz0MTqQjv2GRwcntBv7yF+Dqq60fIxe0IyIiP3EPTldeeSV2796NqVOnoqqqCr169cLSpUt9DSO2b9+OFOMseaIIde4sQtOoUf4HvgcOiLWDAgWCTp3EQf7Ro2J+k1lwMutDcugQcPPN4vzXX+uHCgLWi98C4svgggJxnz17Qg9O77wDZGYC558f2uO0KiqAiRP1obCoSKyfJbsW2nHsmFpdk+9DtiT/5RexrcePq/dncLKHC+CSjlk78quuAq65Rnzjo9WhA/DXv4b2H5mIKMnEPTgBwIQJEzBhwgTT25YvXx7wsc8995zzG0RNnlxQ1eygd9MmsXZQoECQmiqaTMiqld2K09Spajc/jweoqdGPnAlUcQLEcL2qqtDnOdXVAcOHi+3evVu0qw5VRYUImsbFaHfsENfLRYTt2LlTXfxW2+dFBqc33xSX27UTla1E7qq3b1/8tsOIFSfSMQtOLpcoX+/fL6pLkyaJ67ds8V8dnIiIdFjKoaTj8QBr1gS/nwwEVutBauc5mQWnXbv0VZPPPhPHKYB6fGJc68k478co3AYRO3eKbTlyBFi/PrTHAuIzmzjRPzQB6nWhLP+iHaanLSjLEPnBB+J06FBxumeP+WvHS6JXnJo1Y3MIgnlwAkRwAtQ/VmlpDE1ERDYwOFHSWbFCVGCCCRYIrIJTmzbiGERR1ArS8ePAuHFidMzVV4v5TYC+OYWiqMHJqjlFuMFJe/9PPw3tsUDw9uqhLv9i9T5lcJLHe8OGiVOPB6ittb+90aYNTgcOJE6oM1vHicEpiVkFp5wccVpTI04zM2O3TUREjRiDEyWdUJYoCRQIZHBat049qC8uFhWUDh3EZRkQXngB2LAByM8HHntMvV1bcdq7Vz3Oad/efHtkcAp1zo82OK1eHdpjAWeXf/nwQ+DRR8V5Y3AyDlE87zx1QeFEmuekDU4eD1BfH79tkU6cEHPHAM5xov9icCIichSDEyWdcJYo0QYCj0c0j5DVIrlobn6+epBvnOckh/vdfruoSMngpK04yfsWFoq5P2bkfKBQK07y+AgILzg5sfzL99+LCtIFF4jhgpmZYp661ePbtROfUyIu/KsNTkBiDNfTVpZYcSIAwYOT/EPCReKJiGxhcKKkM2iQGlzsatNGnFZUiKYQgwcDjzwirpMHpnLhW0AfnA4fBt5/X1y+9FJxKitKZsEp0BpSZkP1/v53sWBvoDClve2XX/Sva8egQWK7XC7z2+0s/zJ5suiWl5oK3HKLaOWuWcsagL7i1LevOGVwskdbWcrM5BwnAitOREQOY3CipON2i667obj+euCuu0SzCKu5Ptq51dqW5B98INqWd+wInHGGuN5sqF64wenRR4FVq0QosWIMVaFWndxu0WEQ8A9P8nKw5V/kPLDFi0XYMxuOqK04nX22OG3VSpwmUme9RA5O2dnid8KKU2SefPJJlJSUIDMzE/3798eaAB1lnnvuObhcLt1PZiKEEQYnIiJHMThRUiorA846y/79f/lFVJgCNQHYtEltIqGtOMnW2sOHqyHDqYrT/v2iizAAbNtm/Th5fJT63wUIwhmuV1YmWo4bq3VFRWorckUBHn4YWLrU//Fy3aaTTrJ+DW1wYsUpNNrgBDA4RWLx4sWYPHkypk2bhvXr16Nnz54YOnQoarRjXg1ycnKwa9cu38+2QP8hY8XuUD0GJyIiWxicKGmdc444HTNGrWpE4uBBMfcJ0Fec3npLnNcOSzOb46Rt0W3FGCI+/1y9TVZ0zMjjI7n4bTjBCRDhaOtWYNkyYMECcbpli7p+08aNwN13AzfdpH+cx6Nug9nivlJhoTiGS01VK06JGJxkSJFBOJGDE5tDhG7WrFkYN24cxo4di+7du2Pu3LnIzs7G/PnzLR/jcrnQtm1b309hoH/osWK34sQ5TkREtiTEArhE8dC5szg9cUKEHidccQUwb54aftauFaGhWTM1tABqcNq/X1QEsrJCqzjt2yeeV7smU6AvuGVo+c1vgMpKsV0nTqgVqFC43aLBgxkZ3n75Rf/8e/aIVuwul/oezGRkAEuWiMfKwJSIwUlWnNq2FY1DEik4ycWNWXEKz7Fjx7Bu3TpMmTLFd11KSgpKS0uxatUqy8cdPHgQnTp1gtfrxVlnnYU//elPOP300y3v39DQgAYZbADU2VkjIVTBgpMc/8qKExGRLaw4UdIqKRGnK1aI44tA83Ps2rdPzIP64gtxWQ7du/BC/bFJXp56Wc5zshOcZGVMUcQxj93gJL9Y/p//EcdMhw8DX39t6y2FRHYfVBR9Jz85TK9Vq+BhbehQ4JJL1MuJHJzk7yoRgpN2DSftKYNTaPbs2QOPx+NXMSosLESVXJjN4LTTTsP8+fPx+uuv44UXXoDX68XAgQPxS4DFz2bMmIHc3FzfT7HVqteRCBac5NhjBiciIlsYnChpyYqTDC6BAkuoHnxQH8SM3eNcLv1wPTuL3wIidOTni/O7d/sHJ7M5WF6vGjoKC9UhcOEO1wtE27Zde14Gp3BGLzE42cM5TvEzYMAAXHfddejVqxfOP/98VFRUoHXr1njqqacsHzNlyhTU1tb6fn6WY3WdFCw4SRyqR0RkC4MTJS0ZnKSePQO33LZLhiBZHXK59BUUSdtZ78AB9cA3WKt0OdRtyxbgu+/U648cMQ8XBw6ola+CAnVu16ef2nk3odF2CTQLTsYFbu1I5K56Mjjt2xe/bZE4x8kZBQUFcLvdqJb/aP+ruroabW3+A05LS0Pv3r3xww8/WN4nIyMDOTk5uh/H2Q1OrDgREdnC4ERJq2VLoEUL9fJpp6ktt52QmytO+/dX14HS0nbWk9WmVq3UA14rsgLz/vsipHXooHajMxuuJ+c35eaK46f+/cVlVpzCoyhqGGksFadA3SBJLz09HX369EFlZaXvOq/Xi8rKSgwYMMDWc3g8Hnz55ZdoF85q205icCIichSDEyUtl0tfdTr1VOuW2+GQz33ZZea3aytOdobpSbLiJNdtOussoFMncd4sOMm5RvJxMjht2gSEOx9961bgscf823JHMzjt3SuGHcaSoojKnvZ1tUEkkYOTPPV6gePH47NNjdXkyZMxb948PP/889i0aRNuueUWHDp0CGPHjgUAXHfddbrmEQ8++CDeffdd/PTTT1i/fj2uueYabNu2DTfeeGO83oIgg5MxGDE4ERGFhcGJkppsEAGI4ASI8LRtGzB9enjP6XIBxcXA3Lliod3Jk83vZ1ZxCiU4ffutOA0WnGTFST6uTRsR6hQF+Oij4K9nZupU8b5eeEF/vVVwknPqwwlOcqie1yuGHcbSG2+IdaemTlWv04ZFbXfEUL32GlBe7txQOquKE8B5TqG68sor8eijj2Lq1Kno1asXNmzYgKVLl/oaRmzfvh27NP/A9+/fj3HjxqFbt264+OKLUVdXh08++QTdu3eP11sQOMeJiMhRDE6U1LQVp9NOU8+73eJg+dVX/cNMcTFw550iIBnnQ8nLs2eL577tNiA93fy1tc0hwglOkt3gpB0uKOdcVVTo73v8uBiuqJ07ZWbrVnGqvZ/Ho1aWAP18p0gqTunp6nFerIfryeGMsksioAanzEy1GhZOcJo2DfjnP4H33otsGyVjcEpPV/89MjiFbsKECdi2bRsaGhqwevVq9JelWgDLly/Hc88957v82GOP+e5bVVWFf//73+jdu3ccttqAQ/WIiBzF4ERJTQannBzzeUhWC74+/LD5kL6iInH9ZZeJxXAXLhSnsjmDVrhD9eTBuhTqUD0AGDlSnC5Zoh/G9dhjwKRJIhgGIp9TBihAhBrt+3RqqB4Qv3lOstGZttIlg1OzZmKenLw91HlE8ndl0eE6ZMbg5HKxQUTSswpOzZrpv/VhcCIisoUL4FJSk1WmHj2su+lZLfhaViYC0ooVIiS0awcMGgS8/roYAqhdwqWoSFRyysrU67RD9eQBeqgVp9atRQALZageILazdWtx27JlYp0prxeQ3ZMDNAMDoAYhbXDSBiXj5Ui66gFiuN5PP8W+s578HWorSmbByeMB6uv9v8i3Ulurzi/TrncVCeMCuIAITocPs+KUtKyCU0qK+MdaW2t+OxERmWLFiZLar38N/O1vYj5SOGSoGj1anL7+ulgA17ju5Y4d4nrt0DgZnBoa1KFgoQans84Sga9jR3HZ7lA9t1sNca++Kk7fe0+EE8B/+7UaGtQKjFlwknOSqqpEGPN61W1orBUnq+CUlaUec4YyXG/7dvW8U8HJuACu9jyDU5KyCk6APuWz4kREZAuDEyU1txsYPx4444zIn8vjASZONB+yJa+bNEkdzpaZqYYMWZEJJzgBasVp/35R+dAyG6oHiCAHiCYFJ07ow2NdnXXHPRmCALF+kbyfDE69eonTEydEhWjvXvU9G7fBrngEJ+2ixFbBCVCrTuEGJ8NyQWEzDtUDuAhuUlMUBiciIocxOBE5ZMWKwJUaRREVjBUr1Otk1Umy0wZdO8epTx9xmpMD5OWJ88aqk9lQPQA4/3wgP1/cvnCh6CAHAKn/HcC7Y4f56xsP9OXryeDUsaP6Wrt2qXN4WrUC0tICvjVL8QhOu3erx52HDwPHjonzTgcnp4fqmQWnSOc4mc3RowSnnbzI4ERE5AgGJyKHGOf42LmfNijl5uoX5LXSurU6H0tWnAC16qQ9KAfMh+oBIsSMGCHOjx8vhtT9z/+o877sBic5XE++r3bt1AV5d+6MvDEEEJ/gZAzBcnhiYwxOkVSc7rtP/NvcsCH856A4kKkfCB6cOMeJiMgWBicih8iwEMr9tBUnO8P0AHEwPHOmaJeubadu1iBCO7/IbJicHK4nh/fdfLO6HVbVs1CC065diRuc3nkHWL/e+nY5v0mSwcgqOO3bZ/+1tc8dzaF6TsxxevNN8Z5l4xBqJEIJTqw4ERHZwuBE5JBBg0TosOrOJxfGHTRIvU5bcSoutv9ad93lv0CvWXA6cEAdZmVsYw4AQ4aIagIgglVZWfDgZKyQ2A1O4XbUA9S5YE511du+HbjoIvFj1UY81OAUbsVp3z79qKpwRaviJH+/FRVi3ho1EjI4paaKLnpGDE5ERCFjcCJyiNstWo4D5uFJUcT6SStWqGFGG5zsVpysmAUnWW3KzTX/0jk9XV3T6cYbxX3kNgWrOMngYJzj1BgqThs3it9HTY15J0LA//1bBaf8fP3tdhiHUzrxvqIRnA4c0LdN/+ijsDePYi1QYwiAQ/WIiMLA4ETkEI9HHERPnOhf3XG7xens2cDgwWKdp4qK8IbqWQkUnAJ1s5s1C/jXv4AHHtBvR7Dg1LevON26VYQQbXCS70vbHCKRgtOmTep52QreKFoVJ49H/Wzlvwsn5jlZreOkvS1UxlD58svhPQ/FQSjBiRUnIiJbGJyIHFBRIcLQ4MEiHO3eLQ72f/MbcbuxK5lc12nzZvW6aAQnq1bkWrm5wDXXiOqTdjusmkPI5+zXT5xu3SoqE/I4LZoVp337nOnwpg1OGzea30cGJxlunApOu3aJ9+B2q404nJjnFI11nOQwPflvg8P1GhGz4OTxAMuXizaa2rTO4EREZAuDE1GEKirMF73dswd46y3zx8h5NY89pl7nVHDatUttnW3VUS8QuxUnGZz27gW+/16cz8sTx2BOByc5HE5RQhsSZ8VOxUm+fxlunOqqJ4fpFRWplblIK05erxqOnByqJ0P4sGHid8Dheo2IMThpv925+mpgzhz1vgxORES2MDgRRSDQorfBKIpo1y3XTYo0OLVuLQ6U5XpRgL2hekZyO/bsAY4e9b9dBqEuXdTQsGqVOJWByel25Glp6jpVkQ7XU5TgFSevVw1OcnFkuxWnL74ALrhAv16XlgxOHTuqgTbS4KT9PUUjOJ1yCvDb34rzHK7XSGiDk9W3O9KyZbHbLiKiRozBiSgCwRa9tSMtDfjVr4Bu3SJ7HpdLHIwD6gGvnaF6Rnl56gG3cbiex6MGlzZtxBfYgBqcZAVFBqeGBnXuUyRd9QDnOuvt3CkaHsgGHj/8oIYhqaZGdLpzuYDu3cV1xuAkA4oxON1zD/Dhh6JdvBkZarXBKdKheto5TPJ3pz0faXDq1Am44gpxnsP1GgltcAr27c5DD3GVYyIiGxiciCJgd9HbQI4cEV/4LlkS+XMZ5zmFM1TP5bIerrd3r6jGuFwijBmDkwxMmZlqoJBC2QYzTjWIkNWmLl1EFUxRgK++0t9Hhpt27dTQaafi9OOPwNKl4vJHH5kHIm3FSVbhIq04yeCUkaHOyQIibw4h5zjJEV4crteIyOB07Fjwb3d27rQukRIRkQ+DE1EE7C56a8ekSZF/6SuDk5xzFM5QPcC6QYQMAq1aiSGGMjjJMKD9PLTn8/NFZS0STgenbt2Anj3FeeM8J3mcWVzsX1GyCk4HDohpI/KLfa9XVGeMojFUz6wVufayExWntDQO12tUZHCyO47YiW+BiIiaOAYnoggEW/TWLjkvKdIvfc87T5w+84w4mA5nqB5gXXGSwUke8MvgJFkFp0jmN0mhBidFAWbOFOFn5Ur1em1wOvNMcd44z0lWnLTBKVhzCI8HeOopcX7wYHH60kv+2yWDU3Gx80P1jMEpkqF6hw6pn7UM5FddJeZvnXtuWJtJsSSDk7Y/fSBOfgtERNREMTgRRSDQorcul/i58061K1wwkX7pO3q0CDM1NcDcuZFXnIzBSQYxGYRiGZzke7ATMhQF+N//BaZMEe/h739Xb7NTcZLBqagoeMUpK0ttSnbwoAgZ//iHuGw2XC+aQ/WMx8iRBCdZbcrJURtzlJaKYaXXXBPWZlIsyeBUWBj8253iYvEtEBERBcTgRBShsjLglVeADh301xcViesffti88mAm0i9909KA++4T5//8Z30jh1DI92JVcYpHcArWJl06cQK44QZ9q/f//Ec0ewDMK05ffKEf0aQdqidDg1VwAvTzuW65BTjpJODss/2H6x06JNaiAvyH6lmNqPrnP4HXXw/8ns3WcAIim+Mkg5Pxd0yNhAxOmZnW3+5Is2frJ8cREZEpBiciB5SViYn0y5YBCxaI0y1bxPWAGN4U6Etfl8u5L32vu06tOsnuZ3KYm112h+rJIVySVXCKtKMeID4fQK3YWJk0CXj2WSAlRQxZbN0aqK0Vw/X271ffQ9eu4ictTdyufV6zoXp1dWI4XqDglJ4O/O534rzsQqedDySfNydHLDwsP8eGBvH8Rm+8AZSXiyFyMviZicYcJ+38JmqEtF31rL7dKS4GXn1V/UNFREQBMTgROcTtFgFp9Ghxqv0CN9iQPiC8L309HmD5cmDhQnHq8eirToA4SJdrYNp5PGDdHMI4VC83V63IAPqwJFuTa+8fCdlqXYYPM4oCvPCCOP/Pf4oQc8kl4vIbb6jVpqIioEULEXRkG3jtPCdtcNK+v5oa9TMyC05XXqkOKRw1Spx++KEa1rTD9ABREWrRQn1urYMHgQkTxPmjRwMP44zGHCcGp0bOuABusG93iIgoKAYnohgJNqQv1OOXigq1TfTVV4vTkhJxvaw6AdbD9AI9XganXbv0lQ6zxWzl6zRrpoYAwPmherLitGuX6LBsZts2UT1KSwMuv1xcd+ml4vTNN/XD9CTjPCePRw2MRUXiuZo3F5e1FThtcLr8cvE53HOPel1Jif9wPWNwAqw7602frg+JVoFRGxaNQz0jCU7aVuTUCBmDExD42x0iIgqKwYkohpz60reiQlQ0jEPpduwQ17/5JnD//eK6U04J/fErVojAoChAVZV6u3GoHqAeWBsP2qPRHCIjQ2zTzp3m99mwQZx27y6qSQDw61+L8z/+qAYYbXAydtarrhbhye1W34OsKMlAlZqqPj8g1hfdskVdLFeSw/XmzRNhz25w2rhRnaMlK15Wc7sWLBBrR6WnA3/4g/42VpyS2NGj4tSq3ExERCFLjfcGECUb+aUvIA7QV6wQVZR27cQcp2BfAns84kDdrJmAooihf5MmAT/9JLr59eoV+uMnTxZD7bZtEwfsstoTqOIU7eCUkiK244cfRAAxq4TI4KR9z82bA0OGAG+/LZpEAIErTrKy0769+rvIyxPXy+Bkt8PzmDHA//0f8PnnwB13qPOY5OcJqJ+N/Gy9XuDmm8XvadQoEWAXLjQPTrt3i98lAEydKuZsaTnRHILBqZEyqzgREVFEWHEiipNAQ+UCWbEicGc5uSbUypXAiBH+AcPu4+WwO3lfRfGf4wQAp50mTjt31j9P8+bioDs93f+2cMnAYTVsTVaNZBiShg/XXzarOH3/vWgeoZ3fJMmKk/wsQlka51//EuefeELtjheo4vTWW8Cnn4rPf/bswN0EJ00C9u4V7+Guu/xv1zaHsLsOKiCOuWVVj8GpkWJwIiJyHIMTURwEGyoXKDzZXevJ6n52H2+c11Nbq84t0g7Vu/Za4K9/Bf74R//nWL4cWLsWaNXK3msGIwOHVWc9s4oTAPzmN/rL2uBUWCjCpaIAffoAr70mrpeBBQg/OAEitMlmHXIR3UDBSVbFysvFfDi5HcawuHSpGKYnuwempfm/tqw4AepxtB3ytbKyQl8DjBIEgxMRkeM4VI8oxoINlQPEUK2LLgJWrxZBR3twbWcBWEA/V0fL7lpRHTuKyoccniZft0UL/QF5s2bAbbeZP4fTjQUCtSQ/cEBtaGCsOBUXA717iyFz+fn+YWDhQtHye8sW8aN9LSCy4AQADzwgAuQ774jL2uCkHaqnKOp9hg3Tb4cxZD//vDgdPx7o29f8dbW/pyNH1IV6jU6cEBWrXr1EYxHtML1A66ZSAmNwIiJyHIMTUYwFGyoHiLkrzZuL+S5m3G61LbaV228H/vIX0QZd23xi0CBRxdixwzy8uVzi9v79xcK9clvNhunFWqCW5HKOUnGxCEdGw4eL4NStm38YOOcc8fjJk0X1BtCHPmODhuxsUU2zOzfN7RbVocGDxXltKNOG4u+/F+EvLU2dB2c1VO+778Rpaan166alqf9WDh/WL9Sr9e67ohlFSgpw+umc39QkMDgRETmOQ/WIYszuUDmr0AQED02S2dA/u2tKGSsdZo0hYi1QxUnObzIO05MmTABGjtSvcaWVkwP84x9ijtH48aJjs2TsqrduXehz0/LzgfXrxWO1IUsbnN59V5w/7zy1qqVtDS8XNFYUEbIAoEuXwK9rZxHc5cvFqdcLjBsnGnAAbEXeqDE4ERE5jsGJKMbsDpWzI1gHPllRmjRJH7bsrCllnFtj1oo81gJVnOT8JuMwPal1a/He5BA4K5dcAvztb/p5WTI4yfBhnC9kZ24aIH5fxrCqHaonh+kNHare3qaNaH/u9aqhu6YGqK8XzxWs8YYclijnbplZtkw9//nnwJNPivOsODViDE5ERI5jcCKKMTlUzom5Ix6PqI4EIrvkrVihvz7YmlJduogD/e3bxZC9RKo4HTgggoNWsIpTJKyGuElWAdUOGUT37wc++ECc1wYnt1sNuLL6J6tNHTtaz1uSpkwRp1OnqsP7tGprRSUMEIvuAmrbdAanRozBiYjIcQxORDGmHSrnBLsBzGyIoFxTavRocaqtYBUUqAuq3nqrOofIGJw8HjHUa+FCcRpqcAhFixbqfCNt1enECeCrr8R5q4pTJIIFJ8A6oNp5bvm5Hz4sgpRskS4Z5znZHaYHADfcIBYBPnoU+N3v/H8/K1aIatYpp4hFk+XcKoDBqVFjcCIichyDE1EcyKFyBQWRP9fJJ9u7XzhDBO+7T3Sj27tXXYNIO1Qv3LWoImE2z2nzZnGc2Lw5cNJJzr+mDGt22J3DJqWk6D/TCy8U12kZg5Ocg2QnOLlcwLx54rP5+GMxDFFLzm+64AJx36eeEsfaqan2np8SFIMTEZHjGJyI4qSsTMyNCXedHJdLhIhbbw089E/eb9Cg0F8jPR345z/FqSQrTpGsRRUJs3lOcn7TmWf6hw4n2Kk4SeEEVG1w0g7Tk4wL/4ZScQJE5ejhh8X5KVOAn35Sb5PzmwYPFqennioC1nvvxXc+G0WIwYmIyHEMTkRxlJ4OzJ0rwk0oc5603e/S06275AFiCNmNN4a/jT166Be3LSy0txZVOPN97DBbBDea85sAe8EpkoCqDSi//rX/7ZEM1ZP+3/8TVaUjR4C77xbXHTggmkEA+iF6ffroL1MjxOBEROQ4BieiOLPqcBeoY562+12g55CmTYtsCN3//i9w6aViGFzPnsHXogp3vo8dZkP1gnXUi1Sw4KQNssE6HZqRVbxevcybb2iDUyityLVSUoAnnhCnr7wCrFoFfPSReL5TTwXatw99uymBMTgRETmOC+ASJYCyMuCyy0TQkIuqDhwIfPKJuKxd68dqwVX5HA89JIKSkRxCpw1cdrndwJIl4rzLZX8eT6jzfewwDtVTFDU4nXFGaAvT2pWZKX6OHhWXW7YUXfCkoiIRmkL9XKVu3cTpiBHmt2uDU1UVcOiQCEDBWpEb9egBjB0rFvm94w6gXz9xPatLTRCDExGR4xiciBKE7HCnFc4B7bx55tcrigg9kyaJgBVqoNAOA7Q7j8fJNaskY8Vp0yZg924RJEaNAnbuVO9bVCSGMYYbaLTy8kRoAYC//x1o29a5gDZpEnD66cDFF5vfLt/zzp3At9+K85066eee2TV9umg//8kn6hBHOb+JmhAGJyIixyXEUL0nn3wSJSUlyMzMRP/+/bFmzRrL+86bNw+DBg1Cy5Yt0bJlS5SWlga8P1EyidUQumBrUUUy3ycYWXH65RfRRvupp8Rlr1cfmgBnG1Voh+u1aGHdxj0c2dkizKalmd9eWChew+NRf3fhdrzr0EEMvQRE5QoAzj8/vOeiBMbgRETkuLgHp8WLF2Py5MmYNm0a1q9fj549e2Lo0KGoqakxvf/y5csxevRoLFu2DKtWrUJxcTEuvPBC7NixI8ZbTpR4YjWETrsWlTE8RTrfJ5gOHcRrNDQA27YBzz9vfV8nG1Vog1OzZpE9V6jcbnUOkuyCF0mr8LvuUod/du0ancogxRmDExGR4+IenGbNmoVx48Zh7Nix6N69O+bOnYvs7GzMnz/f9P4vvvgibr31VvTq1Qtdu3bFP/7xD3i9XlRWVsZ4y4kSTyyH0Fk1pDA2rnBaWpq6/Y88AtTWBr6/U1W2eAYnQJ3ntGqVOI0kOLVoAfz5z+L85ZdHtl2UgDwe9ZsCBiciIsfEdY7TsWPHsG7dOkyZMsV3XUpKCkpLS7FKHh0EcfjwYRw/fhz5+fmmtzc0NKBBfvMGoK6uLrKNJoozOVzLbH6NHEK3Y4d5q3CXS9zu1BA6s6YWTjVkCKS4WAzLs5rPZSbSKlu8g1NxsQhN8s9ZpIvTXn+9aH3etm3Em0aJRrPPw9q1ou98rP5zEhE1YXGtOO3ZswcejweFhv67hYWFqJKzsIO4++670b59e5SWlprePmPGDOTm5vp+iuUsa6JGqKJCtBUfPBi4+mpxqm0zHo8hdLKphVPzfeyQ85xOnLCeF2QUaZUtL089H8+KkxRpcAJEtZDH0U2QNjhdfLH5HwsiIgpZ3IfqRWLmzJlYtGgRXnvtNWRmZpreZ8qUKaitrfX9/Cx7GBM1MhUVotGBsfmDsQGC1RC6ggKxaG1+fnQWpgXE8y5fDixcKE6j9ToyOAFiqFksGlVoK07Z2ZE9Vzi0wcntFsfARKaswpGT3VKIiJJQXINTQUEB3G43qqurdddXV1ejbZDxI48++ihmzpyJd999F2eeeabl/TIyMpCTk6P7IWpsPB4ResyG35k1QCgrA7ZuFY0EJk0CWrcWLbtnz47eF8/BqmFO0haOb7klNlW2eA/V0wankhL7lTZKMh4PcN995rc52S2FiCgJxTU4paeno0+fPrrGDrLRw4ABAywf9/DDD+OPf/wjli5dir59+8ZiU4niKpw24243sG+fCBW7d+vv/8svwMiRwIMPOnP8ZLca5pTu3cXpmWcC554bm0YVMji5XEBWVuTPFyptWHRimB41UStWqAuOmXGqWwoRURKK+wK4kydPRnl5Ofr27Yt+/fph9uzZOHToEMaOHQsAuO6669ChQwfMmDEDAPDnP/8ZU6dOxYIFC1BSUuKbC9W8eXM0b948bu+DKJrCaTMeqEolTZsmGizIRWIDNZ6wEqwaFu6iu4G2pbQUWLwYOOcctaoU7UYVMjhlZ1sPC3SC1fvWVpwYnMhSrNYkICJKQnEPTldeeSV2796NqVOnoqqqCr169cLSpUt9DSO2b9+OlBS1MDZnzhwcO3YMo0aN0j3PtGnT8MADD8Ry04liJpw248GqVNIvv4iq0B13iLlJ2scUFamhyordatjy5cCQIcG3BxAVqokTrbfF5QKuuML/cbJRRTTI5hDRHKYX6H1feimQkiIW+mVwIkuxXJOAiCjJuBQl0PfRTU9dXR1yc3NRW1vL+U7UaHg8Yl5LsDbjW7aoFZaFC8Vco0jIykqg4W52Xyc/X1S3gg2bk8P+jO/TzrZE0759wKmnimD2yivOP7+d9y1D1dtvA8OGOb8NscC/weYc+1w8HhGKjONzJbM/FkRESSyUv7+NuqseUbIIp824E18o25lLbvd19u1T51UdO2befS/UJhixlJ8vguvLLzv/3Hbf9x/+IMJVtKpq1AS43cD48ea3RWtNAiKiJMHgRNRIhNoAQS6GG+l8nGBzyUN9nWnTxDwhs+574TTBiKWMjOjMb7L7vrt1E8HNYvUFIqFfP3FqbL3oZLcUIqIkFPc5TkRkXygNEGSVyjAdMGxWc8nDeR1jxUh2+bP7HE1tXjvn85Oj5AK4ffoAM2ZEp1sKEVESYnAiamRCaYAgq1S//70YZhaJ6moxtM7s+Eu+zrhxYkheuOzOHWpq89o5n58cJYNTZibHdRIROYhD9YiauLIyYNs2YPr08J8jJQW4/fbAC9uWlQEvvRTRpgblcon1jAYNiu7rxFqw4Y5N9X1TlMjglJER3+0gImpiGJyIkoDbDUydCrz6qn49IEAckN95pzg4tzpw93r1l60Wtr3gAmfmVZlJ1HntHo95o4tQBGr+AYg5TjfeGMlWUlJhcCIiigoGJ6IkUlYGbN0KLFsGLFggTrdsAR5+2LzxhBWrDnfaAOC0RJzXXlEhqm9mjS5CZdX8Q5o2LfznpiTD4EREFBUMTkRJRs6RGj1anMrqTVkZ8OOPQOvW9p7HqsNdsAAQivvu0we8RAtNo0b5d8OzqsbZIYOt1bDKSJ6bkgiDExFRVDA4EZHPJ59Yr5tpxazTmxPzqgBgyBD/gAc4MzwuEtFeb2rePPPr472WVTJ58sknUVJSgszMTPTv3x9r1qyx9bhFixbB5XJhxIgR0d3AQBiciIiigsGJiHzCaXdt1ekt0LyqFBt/eVq3BgYO9L/eyeFxQHghLJrrTSX6WlbJYPHixZg8eTKmTZuG9evXo2fPnhg6dChqamoCPm7r1q244447MCjeXTwYnIiIooLBiYh8Qml3bbfTm9m8qiNHglejdu8GTj5ZH4giGR5nFpDCDWHRXHeJazrF36xZszBu3DiMHTsW3bt3x9y5c5GdnY358+dbPsbj8WDMmDGYPn06TjrppBhurQkGJyKiqGBwIiKfYG2xpVA73BnnVaWnW1ejtLSBKJLhcWYBqbBQLLobTgiL5rpLXNMpvo4dO4Z169ahtLTUd11KSgpKS0uxatUqy8c9+OCDaNOmDW644QZbr9PQ0IC6ujrdj2MYnIiIooLBiYh8grXFlpzqcBesIYU2EC1fHt4QNqsq1d69wV/TatheNNdd4ppO8bVnzx54PB4UFhbqri8sLERVVZXpY1auXIlnnnkG86wmp5mYMWMGcnNzfT/FxcURbbcOgxMRUVQwOBGRjlVXvNatRZhwusNdsIYUMhA9/7y959MOYQtUpQok2DwiO+sujRwpHh9qE4dAz52oa1kls/r6elx77bWYN28eCgoKbD9uypQpqK2t9f38/PPPzm0UgxMRUVSkxnsDiCjxlJUBl10mDvx37RLDwgYNis7But25Ov/6l737aYewBWu0EMyOHda3yYA5caL+NdxuEZZmzxY/RUUiCIUSNK2eu6hIPGcitWVvagoKCuB2u1FdXa27vrq6Gm3btvW7/48//oitW7di+PDhvuu8/10xOjU1FZs3b8bJJ5/s97iMjAxkRCvYHD0qXyQ6z09ElKQYnIjIlJyXFG1OzdVxuUSw0A5hi7SBwu23A1lZIqh4PP5BUhswX39dhBpjhUnOmQp1aGMswyup0tPT0adPH1RWVvpainu9XlRWVmLChAl+9+/atSu+/PJL3XX33Xcf6uvr8fjjjzs7BM8uVpyIiKKCwYmI4krO6dmxI/QhdZLVELZIQ9mePSL03HGH6MZnrP7IStKgQcC115o/h6KI7Zs0SQShUIJPrMIr6U2ePBnl5eXo27cv+vXrh9mzZ+PQoUMYO3YsAOC6665Dhw4dMGPGDGRmZqJHjx66x+fl5QGA3/Uxw+BERBQVDE5EFFdyTs+oUSJghBOeCgqAMWOA/HxR8ZHhJNJQJh/zyCP+t2krSfn59htXXHCBvnrVpo24T00Nq0qJ4sorr8Tu3bsxdepUVFVVoVevXli6dKmvYcT27duRYmcxsnhhcCIiigqXooT7HW/jVFdXh9zcXNTW1iInJyfem0NE/1VR4T+nx44WLYD6evWycU6R7KoH6MOTDGk5OUC4naDl8MAZM4Brrgl+/xdeEEP/Ar3PcOZEOclsSKKTQY5/g81F9LkoCnDihHp5yBDxS1y8GLjiCmc3lIioiQnl7y8rTkSUEIxzeqqrxRyjYLShCVArQYsXi06ADQ3AAw8A8+aZN1o4csRe6DEjK0mBugJq3Xpr8JAW7pwoJ5iF13gHObLh+HHz6hIrTkREjmJwIqKEoZ3T4/EAf/lL6MPs5H1Hj9Y3aujQAZg+HejSRT88zm7oCaR1a3tDAu1UtiKZExUJWZkzbn88gxxFoGVLoHfveG8FEVGTwqF6RJSwrIbZhUM2kDBr9CBbiIdr2TJg3z7z4BGJZcti0xzC4wFKSqyHD8ohiVu2RB7k+DfYXMRD9Wpr9ddlZwPp6c5tIBFRExXK398Ent1KRMnOajHe/PzQn0tRxM8jj/gHhHBDk8sFFBerrclfeUU0qnBKpO3U7Qq23lWwBYEpzlwuIC9P/8PQRETkOA7VI6KEZraekccDlJY6/1qhVJ7MWqCXlUU2Z8rIqTWugrEb0GIV5IiIiBIRgxMRJTzjekYeT+RrP5mR86oeekgMvQukQwfzpgnG6lg4zBbztSucrnh2A1qsghxFINptEYmIkhiH6hFRoyPXfgLUyo9T9u8PHpoA4LnnzJslyLWjwt0uq8V87aioEHOVBg8Grr5anJaUiOuNPB5g+XIx30sGUatt1g5JpAQWyj8AIiIKGYMTETVKVvOfYvXlek2N+fWBQp283KqV9fMWFYXXwU420jDOVZJd8bTHzsbj69JSMcRQdvQz2+ZwghzFUCj/AIiIKCzsqkdEjZpxZNKePeqan6H8dZPD45591t78qWAd78zWRCouFgFEO2dL2xo93JFVoXTFe/118+5/ckHgVq2AvXv9t9mpVuT8G2wuos8llm0RiYiaGC6AS0RJwzj/CRAVG7PQctVVwKOPisva4KCtqlxwQeD5U3bnH5k1tdCGIifbjNvtildZKT4Xs/clq01ZWcD770cW5CjGQmmLGIv+9kRETRSDExE1OYFCyznn+IeqoiJ9VeXxx0VVRlZhpFCHrZmFumiw2+1u1Cigvt76dkVRP5fRoyPfLooRtkUkIooJBiciapKsQkuwSpC8j1nVyhiwQuFkszPjc8nhfsEECk1aV1wBzJvn3PA8ijK2RSQiignOcSIisuBU2DGb71RUZN7OPJznat8eOHgQqKsLfdusuFzhNakIhn+DzTkyxynY+FLOcSIi8hPK31921SMisiCrVqNHi9NwQ5MTzc48HuDBB4GRI/2fa+dOZ0OTNGmSfkFgbQvz5cvtLxZMUWanlSPbIhIRRYzBiYgoSjyewM0YAP9wYqaiAujUCZg2zfFNtCT7CTzxhAhKDz7IJYISlscD5OeLf2wFBfrbwu1vT0REfjjHiYgoSpxodiYrVvEaVH377da3yaoZj8vjyGzsZkEBcM01YjIf2yISETmGFScioiiJtNlZoIpVIgilakZRYDUOdO9eMXRv3z6GJiIiBzE4ERFFSaTNzoJVrBKBtmpGMeTUOFAiIrKNwYmIKEoGDRJTTIzz9SWXSyzMa7WYbqyW3bHavlBwiaAYC2UcKBEROYLBiYgoSiJtdhbJsjuyA7VVQwmXS/zceSfQoUP4ryNxiaAY46K3REQxx+BERBRFcjFdYzix0+wsWMXKirz/448DDzwAvPqqeB6z13/4YWDrVmDZMmDBAuCxx0J/rUBVM4oSLnpLRBRzXACXiCgGwl1MV87/B8yns1x5JfDxx/pRW8XFopKlDWV2Xz/YWqpaMqCF0lWPf4PNhfy5cNFbIiJHhPL3l+3IiYhiQC6mGypZsTJ2nNaGIzuhyO7ry+GFo0aJY+9A4amoyD+gUYwE+kVx0VsioqhgxYmIqBEIt2IVLrPlgYqKgHHjgC5dwt8G/g02F/bnYvaLMis5EhGRqVD+/jI4ERGRqWiENf4NNhfR5xLrVE1E1IRwqB4REUUs3OGFFGP8RRERxQS76hEREREREQXB4ERERERERBQEgxMREREREVEQDE5ERERERERBMDgREREREREFweBEREREREQUBIMTERERERFREAxOREREREREQTA4ERERERERBcHgREREREREFASDExERERERURAMTkREREREREEwOBEREREREQWRGu8NiDVFUQAAdXV1cd4SIqLkI//2yr/FJHDfREQUH6Hsl5IuONXX1wMAiouL47wlRETJq76+Hrm5ufHejITBfRMRUXzZ2S+5lCT72s/r9WLnzp1o0aIFXC6XrcfU1dWhuLgYP//8M3JycqK8hYkp2T+DZH//AD8DgJ8BEPlnoCgK6uvr0b59e6SkcLS4xH1T6JL9/QP8DAB+BgA/g1jul5Ku4pSSkoKioqKwHpuTk5OU/yC1kv0zSPb3D/AzAPgZAJF9Bqw0+eO+KXzJ/v4BfgYAPwOAn0Es9kv8uo+IiIiIiCgIBiciIiIiIqIgGJxsyMjIwLRp05CRkRHvTYmbZP8Mkv39A/wMAH4GAD+DRJLsv4tkf/8APwOAnwHAzyCW7z/pmkMQERERERGFihUnIiIiIiKiIBiciIiIiIiIgmBwIiIiIiIiCoLBiYiIiIiIKAgGJxuefPJJlJSUIDMzE/3798eaNWvivUlRMWPGDJx99tlo0aIF2rRpgxEjRmDz5s26+xw9ehTjx49Hq1at0Lx5c4wcORLV1dVx2uLomjlzJlwuFyZNmuS7Lhne/44dO3DNNdegVatWyMrKwhlnnIHPPvvMd7uiKJg6dSratWuHrKwslJaW4vvvv4/jFjvL4/Hg/vvvR+fOnZGVlYWTTz4Zf/zjH6Hto9PUPoOPPvoIw4cPR/v27eFyubBkyRLd7Xbe7759+zBmzBjk5OQgLy8PN9xwAw4ePBjDd5FckmW/BHDfZMR9E/dN3DcJcdk3KRTQokWLlPT0dGX+/PnK119/rYwbN07Jy8tTqqur471pjhs6dKjy7LPPKl999ZWyYcMG5eKLL1Y6duyoHDx40Hefm2++WSkuLlYqKyuVzz77TDnnnHOUgQMHxnGro2PNmjVKSUmJcuaZZyoTJ070Xd/U3/++ffuUTp06Kddff72yevVq5aefflLeeecd5YcffvDdZ+bMmUpubq6yZMkSZePGjcqll16qdO7cWTly5Egct9w5Dz30kNKqVSvlrbfeUrZs2aK8/PLLSvPmzZXHH3/cd5+m9hn85z//Ue69916loqJCAaC89tprutvtvN9hw4YpPXv2VD799FNlxYoVyimnnKKMHj06xu8kOSTTfklRuG/S4r6J+ybum1Tx2DcxOAXRr18/Zfz48b7LHo9Had++vTJjxow4blVs1NTUKACUDz/8UFEURTlw4ICSlpamvPzyy777bNq0SQGgrFq1Kl6b6bj6+nqlS5cuynvvvaecf/75vp1TMrz/u+++WznvvPMsb/d6vUrbtm2VRx55xHfdgQMHlIyMDGXhwoWx2MSou+SSS5Tf/e53uuvKysqUMWPGKIrS9D8D487Jzvv95ptvFADK2rVrffd5++23FZfLpezYsSNm254sknm/pCjcN3Hf5K+p/11WFO6bEmXfxKF6ARw7dgzr1q1DaWmp77qUlBSUlpZi1apVcdyy2KitrQUA5OfnAwDWrVuH48eP6z6Prl27omPHjk3q8xg/fjwuueQS3fsEkuP9v/HGG+jbty8uv/xytGnTBr1798a8efN8t2/ZsgVVVVW6zyA3Nxf9+/dvMp/BwIEDUVlZie+++w4AsHHjRqxcuRIXXXQRgOT4DLTsvN9Vq1YhLy8Pffv29d2ntLQUKSkpWL16dcy3uSlL9v0SwH0T903cNwHcN8Vr35Qa2WY3bXv27IHH40FhYaHu+sLCQnz77bdx2qrY8Hq9mDRpEs4991z06NEDAFBVVYX09HTk5eXp7ltYWIiqqqo4bKXzFi1ahPXr12Pt2rV+tyXD+//pp58wZ84cTJ48GX/4wx+wdu1a/P73v0d6ejrKy8t979Ps/0RT+Qzuuece1NXVoWvXrnC73fB4PHjooYcwZswYAEiKz0DLzvutqqpCmzZtdLenpqYiPz+/SX4m8ZTM+yWA+ybum7hv4r5JiNe+icGJTI0fPx5fffUVVq5cGe9NiZmff/4ZEydOxHvvvYfMzMx4b05ceL1e9O3bF3/6058AAL1798ZXX32FuXPnory8PM5bFxsvvfQSXnzxRSxYsACnn346NmzYgEmTJqF9+/ZJ8xkQJSrum7hvArhv4r4pfjhUL4CCggK43W6/zjTV1dVo27ZtnLYq+iZMmIC33noLy5YtQ1FRke/6tm3b4tixYzhw4IDu/k3l81i3bh1qampw1llnITU1Fampqfjwww/x17/+FampqSgsLGzS7x8A2rVrh+7du+uu69atG7Zv3w4AvvfZlP9P3Hnnnbjnnntw1VVX4YwzzsC1116L22+/HTNmzACQHJ+Blp3327ZtW9TU1OhuP3HiBPbt29ckP5N4Stb9EsB9E/dN3Ddx36SK176JwSmA9PR09OnTB5WVlb7rvF4vKisrMWDAgDhuWXQoioIJEybgtddewwcffIDOnTvrbu/Tpw/S0tJ0n8fmzZuxffv2JvF5DBkyBF9++SU2bNjg++nbty/GjBnjO9+U3z8AnHvuuX5tfr/77jt06tQJANC5c2e0bdtW9xnU1dVh9erVTeYzOHz4MFJS9H8a3W43vF4vgOT4DLTsvN8BAwbgwIEDWLdune8+H3zwAbxeL/r37x/zbW7Kkm2/BHDfxH0T900A901Gcds3hdVSIoksWrRIycjIUJ577jnlm2++UW666SYlLy9PqaqqivemOe6WW25RcnNzleXLlyu7du3y/Rw+fNh3n5tvvlnp2LGj8sEHHyifffaZMmDAAGXAgAFx3Oro0nYuUpSm//7XrFmjpKamKg899JDy/fffKy+++KKSnZ2tvPDCC777zJw5U8nLy1Nef/115YsvvlAuu+yyRt3u1Ki8vFzp0KGDr+VrRUWFUlBQoNx1112++zS1z6C+vl75/PPPlc8//1wBoMyaNUv5/PPPlW3btimKYu/9Dhs2TOndu7eyevVqZeXKlUqXLl3YjjxKkmm/pCjcN5nhvon7Ju6b4rNvYnCy4YknnlA6duyopKenK/369VM+/fTTeG9SVAAw/Xn22Wd99zly5Ihy6623Ki1btlSys7OV3/72t8quXbvit9FRZtw5JcP7f/PNN5UePXooGRkZSteuXZWnn35ad7vX61Xuv/9+pbCwUMnIyFCGDBmibN68OU5b67y6ujpl4sSJSseOHZXMzEzlpJNOUu69916loaHBd5+m9hksW7bM9P9+eXm5oij23u/evXuV0aNHK82bN1dycnKUsWPHKvX19XF4N8khWfZLisJ9kxnum7hv4r4pPvsml6JolhwmIiIiIiIiP5zjREREREREFASDExERERERURAMTkREREREREEwOBEREREREQXB4ERERERERBQEgxMREREREVEQDE5ERERERERBMDgREREREREFweBE1ES5XC4sWbIk3ptBRETkw30TNWYMTkRRcP3118Plcvn9DBs2LN6bRkRESYr7JqLIpMZ7A4iaqmHDhuHZZ5/VXZeRkRGnrSEiIuK+iSgSrDgRRUlGRgbatm2r+2nZsiUAMVRhzpw5uOiii5CVlYWTTjoJr7zyiu7xX375JX71q18hKysLrVq1wk033YSDBw/q7jN//nycfvrpyMjIQLt27TBhwgTd7Xv27MFvf/tbZGdno0uXLnjjjTd8t+3fvx9jxoxB69atkZWVhS5duvjtTImIqGnhvokofAxORHFy//33Y+TIkdi4cSPGjBmDq666Cps2bQIAHDp0CEOHDkXLli2xdu1avPzyy3j//fd1O585c+Zg/PjxuOmmm/Dll1/ijTfewCmnnKJ7jenTp+OKK67AF198gYsvvhhjxozBvn37fK//zTff4O2338amTZswZ84cFBQUxO4DICKihMN9E1EAChE5rry8XHG73UqzZs10Pw899JCiKIoCQLn55pt1j+nfv79yyy23KIqiKE8//bTSsmVL5eDBg77b//3vfyspKSlKVVWVoiiK0r59e+Xee++13AYAyn333ee7fPDgQQWA8vbbbyuKoijDhw9Xxo4d68wbJiKihMd9E1FkOMeJKEoGDx6MOXPm6K7Lz8/3nR8wYIDutgEDBmDDhg0AgE2bNqFnz55o1qyZ7/Zzzz0XXq8Xmzdvhsvlws6dOzFkyJCA23DmmWf6zjdr1gw5OTmoqakBANxyyy0YOXIk1q9fjwsvvBAjRozAwIEDw3qvRETUOHDfRBQ+BieiKGnWrJnf8ASnZGVl2bpfWlqa7rLL5YLX6wUAXHTRRdi2bRv+85//4L333sOQIUMwfvx4PProo45vLxERJQbum4jCxzlORHHy6aef+l3u1q0bAKBbt27YuHEjDh065Lv9448/RkpKCk477TS0aNECJSUlqKysjGgbWrdujfLycrzwwguYPXs2nn766Yiej4iIGjfum4isseJEFCUNDQ2oqqrSXZeamuqb5Pryyy+jb9++OO+88/Diiy9izZo1eOaZZwAAY8aMwbRp01BeXo4HHngAu3fvxm233YZrr70WhYWFAIAHHngAN998M9q0aYOLLroI9fX1+Pjjj3HbbbfZ2r6pU6eiT58+OP3009HQ0IC33nrLt3MkIqKmifsmovAxOBFFydKlS9GuXTvddaeddhq+/fZbAKKr0KJFi3DrrbeiXbt2WLhwIbp37w4AyM7OxjvvvIOJEyfi7LPPRnZ2NkaOHIlZs2b5nqu8vBxHjx7FY489hjvuuAMFBQUYNWqU7e1LT0/HlClTsHXrVmRlZWHQoEFYtGiRA++ciIgSFfdNROFzKYqixHsjiJKNy+XCa6+9hhEjRsR7U4iIiABw30QUDOc4ERERERERBcHgREREREREFASH6hEREREREQXBihMREREREVEQDE5ERERERERBMDgREREREREFweBEREREREQUBIMTERERERFREAxOREREREREQTA4ERERERERBcHgREREREREFMT/B/y1g3mjN3fWAAAAAElFTkSuQmC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descr="data:image/png;base64,iVBORw0KGgoAAAANSUhEUgAAA04AAAIjCAYAAAA0vUuxAAAAOXRFWHRTb2Z0d2FyZQBNYXRwbG90bGliIHZlcnNpb24zLjcuMSwgaHR0cHM6Ly9tYXRwbG90bGliLm9yZy/bCgiHAAAACXBIWXMAAA9hAAAPYQGoP6dpAADoGklEQVR4nOzdd3iTVRsG8DvdLdAyWkpLS8seAgURERApgjKUVTYqQwVlyFSBj40KDkAQGYogDkAQKqIgCEhlKggUAdmUVfZqbYGONN8fx5PVjDdtRpvev+vq9SZv3iQnadPkyfOc56g0Go0GREREREREZJaHqwdARERERERU0DFwIiIiIiIisoKBExERERERkRUMnIiIiIiIiKxg4ERERERERGQFAyciIiIiIiIrGDgRERERERFZwcCJiIiIiIjICgZOREREREREVjBwIofo168foqOj83TdKVOmQKVS2XdABcz58+ehUqmwbNkyp95vQkICVCoVEhIStPuU/q4cNebo6Gj069fPrrepxLJly6BSqXD+/Hmn3zcRWcf3Ecv4PqLjqvcRKnoYOBUxKpVK0Y/+P0Si/NqzZw+mTJmCe/fuuXooRJRPfB8hV+D7CBUEXq4eADnXN998Y3D+66+/xpYtW3Ltr1mzZr7uZ/HixcjJycnTdSdMmICxY8fm6/5Jufz8rpTas2cPpk6din79+qFkyZIGl508eRIeHvwOh6iw4PsIGeP7CBUVDJyKmBdffNHg/B9//IEtW7bk2m/s/v37CAgIUHw/3t7eeRofAHh5ecHLi3+azpKf35U9+Pr6uvT+icg2fB8hY3wfKRzS09NRrFgxVw+jUGN4TrnExsaidu3aOHDgAJ566ikEBATgf//7HwDgxx9/xHPPPYfw8HD4+vqicuXKeOedd6BWqw1uw7jeWdY1z5w5E59//jkqV64MX19fNGzYEPv37ze4rqnadJVKhaFDh2LdunWoXbs2fH198cgjj2DTpk25xp+QkIDHHnsMfn5+qFy5Mj777DPF9e47d+5Et27dUKFCBfj6+iIyMhIjR47EgwcPcj2+4sWLIzk5GZ06dULx4sUREhKCN998M9dzce/ePfTr1w9BQUEoWbIk+vbtq6jU4K+//oJKpcJXX32V67LNmzdDpVLh559/BgBcuHABgwcPRvXq1eHv748yZcqgW7duiubvmKpNVzrmv//+G/369UOlSpXg5+eHcuXK4eWXX8bt27e1x0yZMgVvvfUWAKBixYraMh45NlO16efOnUO3bt1QunRpBAQE4IknnsCGDRsMjpF19qtXr8Z7772HiIgI+Pn5oWXLljhz5ozVx23OggUL8Mgjj8DX1xfh4eEYMmRIrsd++vRpdOnSBeXKlYOfnx8iIiLQs2dPpKSkaI/ZsmULnnzySZQsWRLFixdH9erVta8jInfH9xG+jxSF9xFbnrN79+5h5MiRiI6Ohq+vLyIiItCnTx/cunVLe8zDhw8xZcoUVKtWDX5+fggLC0NcXBzOnj1rMF7jMlhTc8fk39fZs2fRrl07lChRAi+88AIA5X+jAHDixAl0794dISEh8Pf3R/Xq1TF+/HgAwPbt26FSqfDDDz/kut6KFSugUqmwd+9eq89jYcKvY8ik27dvo23btujZsydefPFFhIaGAhAT6osXL45Ro0ahePHi+O233zBp0iSkpqbio48+snq7K1aswL///ovXXnsNKpUKH374IeLi4nDu3Dmr31jt2rUL8fHxGDx4MEqUKIFPPvkEXbp0wcWLF1GmTBkAwKFDh9CmTRuEhYVh6tSpUKvVmDZtGkJCQhQ97u+//x7379/HoEGDUKZMGezbtw/z5s3D5cuX8f333xscq1ar0bp1azRq1AgzZ87E1q1bMWvWLFSuXBmDBg0CAGg0GnTs2BG7du3C66+/jpo1a+KHH35A3759rY7lscceQ6VKlbB69epcx69atQqlSpVC69atAQD79+/Hnj170LNnT0REROD8+fNYuHAhYmNj8c8//9j0La8tY96yZQvOnTuH/v37o1y5cjh27Bg+//xzHDt2DH/88QdUKhXi4uJw6tQprFy5Eh9//DGCg4MBwOzv5Pr162jSpAnu37+PYcOGoUyZMvjqq6/QoUMHrFmzBp07dzY4/v3334eHhwfefPNNpKSk4MMPP8QLL7yAP//8U/FjlqZMmYKpU6eiVatWGDRoEE6ePImFCxdi//792L17N7y9vZGZmYnWrVsjIyMDb7zxBsqVK4fk5GT8/PPPuHfvHoKCgnDs2DE8//zzqFu3LqZNmwZfX1+cOXMGu3fvtnlMRIUV30f4PuLu7yNKn7O0tDQ0a9YMx48fx8svv4xHH30Ut27dwvr163H58mUEBwdDrVbj+eefx7Zt29CzZ08MHz4c//77L7Zs2YKjR4+icuXKip9/KTs7G61bt8aTTz6JmTNnasej9G/077//RrNmzeDt7Y2BAwciOjoaZ8+exU8//YT33nsPsbGxiIyMxPLly3M9p8uXL0flypXRuHFjm8ddoGmoSBsyZIjG+M+gefPmGgCaRYsW5Tr+/v37ufa99tprmoCAAM3Dhw+1+/r27auJiorSnk9KStIA0JQpU0Zz584d7f4ff/xRA0Dz008/afdNnjw515gAaHx8fDRnzpzR7jt8+LAGgGbevHnafe3bt9cEBARokpOTtftOnz6t8fLyynWbpph6fDNmzNCoVCrNhQsXDB4fAM20adMMjq1fv76mQYMG2vPr1q3TANB8+OGH2n3Z2dmaZs2aaQBovvzyS4vjGTdunMbb29vgOcvIyNCULFlS8/LLL1sc9969ezUANF9//bV23/bt2zUANNu3bzd4LPq/K1vGbOp+V65cqQGg2bFjh3bfRx99pAGgSUpKynV8VFSUpm/fvtrzI0aM0ADQ7Ny5U7vv33//1VSsWFETHR2tUavVBo+lZs2amoyMDO2xc+fO1QDQHDlyJNd96fvyyy8NxnTjxg2Nj4+P5tlnn9Xeh0aj0Xz66acaAJqlS5dqNBqN5tChQxoAmu+//97sbX/88ccaAJqbN29aHAORO+D7iPXHx/cR93wfUfqcTZo0SQNAEx8fn+v4nJwcjUaj0SxdulQDQDN79myzx5h67jUa3WtD/3mVf19jx45VNG5Tf6NPPfWUpkSJEgb79Mej0Yi/L19fX829e/e0+27cuKHx8vLSTJ48Odf9FHYs1SOTfH190b9//1z7/f39taf//fdf3Lp1C82aNcP9+/dx4sQJq7fbo0cPlCpVSnu+WbNmAERK3ZpWrVoZfONSt25dBAYGaq+rVquxdetWdOrUCeHh4drjqlSpgrZt21q9fcDw8aWnp+PWrVto0qQJNBoNDh06lOv4119/3eB8s2bNDB7Lxo0b4eXlpf3mEAA8PT3xxhtvKBpPjx49kJWVhfj4eO2+X3/9Fffu3UOPHj1MjjsrKwu3b99GlSpVULJkSRw8eFDRfeVlzPr3+/DhQ9y6dQtPPPEEANh8v/r3//jjj+PJJ5/U7itevDgGDhyI8+fP459//jE4vn///vDx8dGet+VvSt/WrVuRmZmJESNGGEwyHjBgAAIDA7UlHkFBQQBEmcv9+/dN3pacuPzjjz86fMI0UUHF9xG+j7j7+4jS52zt2rWIiYnJlZUBoC3/XLt2LYKDg00+R/lpra//OzA1bnN/ozdv3sSOHTvw8ssvo0KFCmbH06dPH2RkZGDNmjXafatWrUJ2drbVeY+FEQMnMql8+fIG/0SkY8eOoXPnzggKCkJgYCBCQkK0Lwz9+R3mGL/45Jvf3bt3bb6uvL687o0bN/DgwQNUqVIl13Gm9ply8eJF9OvXD6VLl9bWmzdv3hxA7sfn5+eXq0xAfzyAqH8OCwtD8eLFDY6rXr26ovHExMSgRo0aWLVqlXbfqlWrEBwcjKefflq778GDB5g0aRIiIyPh6+uL4OBghISE4N69e4p+L/psGfOdO3cwfPhwhIaGwt/fHyEhIahYsSIAZX8P5u7f1H3JDl0XLlww2J+fvynj+wVyP04fHx9UqlRJe3nFihUxatQofPHFFwgODkbr1q0xf/58g8fbo0cPNG3aFK+++ipCQ0PRs2dPrF69mkEUFSl8H+H7iLu/jyh9zs6ePYvatWtbvK2zZ8+ievXqdm1q4uXlhYiIiFz7lfyNyqDR2rhr1KiBhg0bYvny5dp9y5cvxxNPPKH4NVOYcI4TmaT/bYR07949NG/eHIGBgZg2bRoqV64MPz8/HDx4EGPGjFH0odDT09Pkfo1G49DrKqFWq/HMM8/gzp07GDNmDGrUqIFixYohOTkZ/fr1y/X4zI3H3nr06IH33nsPt27dQokSJbB+/Xr06tXL4J/rG2+8gS+//BIjRoxA48aNERQUBJVKhZ49ezr0w3r37t2xZ88evPXWW6hXrx6KFy+OnJwctGnTxmlBgqP/LkyZNWsW+vXrhx9//BG//vorhg0bhhkzZuCPP/5AREQE/P39sWPHDmzfvh0bNmzApk2bsGrVKjz99NP49ddfnfa3Q+RKfB/h+4gShfl9xNnPmbnMk3EzEcnX1zdXm3Zb/0aV6NOnD4YPH47Lly8jIyMDf/zxBz799FObb6cwYOBEiiUkJOD27duIj4/HU089pd2flJTkwlHplC1bFn5+fiY74SjpjnPkyBGcOnUKX331Ffr06aPdv2XLljyPKSoqCtu2bUNaWprBN28nT55UfBs9evTA1KlTsXbtWoSGhiI1NRU9e/Y0OGbNmjXo27cvZs2apd338OHDPC0UqHTMd+/exbZt2zB16lRMmjRJu//06dO5btOWMoOoqCiTz48s4YmKilJ8W7aQt3vy5ElUqlRJuz8zMxNJSUlo1aqVwfF16tRBnTp1MGHCBOzZswdNmzbFokWL8O677wIAPDw80LJlS7Rs2RKzZ8/G9OnTMX78eGzfvj3XbREVFXwfsR3fR4SC+D6i9DmrXLkyjh49avG2KleujD///BNZWVlmm5zITJjx7Rtn0CxR+jcq3wetjRsAevbsiVGjRmHlypV48OABvL29DcpA3QlL9Ugx+Y2M/jcwmZmZWLBggauGZMDT0xOtWrXCunXrcOXKFe3+M2fO4JdfflF0fcDw8Wk0GsydOzfPY2rXrh2ys7OxcOFC7T61Wo158+Ypvo2aNWuiTp06WLVqFVatWoWwsDCDDxxy7MbfjM2bN8/st1D2GLOp5wsA5syZk+s25boRSt6A27Vrh3379hm0ME1PT8fnn3+O6Oho1KpVS+lDsUmrVq3g4+ODTz75xOAxLVmyBCkpKXjuuecAAKmpqcjOzja4bp06deDh4YGMjAwAovTEWL169QBAewxRUcT3EdvxfUQoiO8jSp+zLl264PDhwybbdsvrd+nSBbdu3TKZqZHHREVFwdPTEzt27DC43JbXj9K/0ZCQEDz11FNYunQpLl68aHI8UnBwMNq2bYtvv/0Wy5cvR5s2bbSdD90NM06kWJMmTVCqVCn07dsXw4YNg0qlwjfffOPQkihbTZkyBb/++iuaNm2KQYMGQa1W49NPP0Xt2rWRmJho8bo1atRA5cqV8eabbyI5ORmBgYFYu3atzXNl9LVv3x5NmzbF2LFjcf78edSqVQvx8fE212336NEDkyZNgp+fH1555ZVcqffnn38e33zzDYKCglCrVi3s3bsXW7du1bbXdcSYAwMD8dRTT+HDDz9EVlYWypcvj19//dXkN8cNGjQAAIwfPx49e/aEt7c32rdvb3IhvrFjx2LlypVo27Ythg0bhtKlS+Orr75CUlIS1q5d67DV4UNCQjBu3DhMnToVbdq0QYcOHXDy5EksWLAADRs21M7B+O233zB06FB069YN1apVQ3Z2Nr755ht4enqiS5cuAIBp06Zhx44deO655xAVFYUbN25gwYIFiIiIMJisTFTU8H3EdnwfEQri+4jS5+ytt97CmjVr0K1bN7z88sto0KAB7ty5g/Xr12PRokWIiYlBnz598PXXX2PUqFHYt28fmjVrhvT0dGzduhWDBw9Gx44dERQUhG7dumHevHlQqVSoXLkyfv75Z9y4cUPxmG35G/3kk0/w5JNP4tFHH8XAgQNRsWJFnD9/Hhs2bMj1WujTpw+6du0KAHjnnXdsfzILCQZOpFiZMmXw888/Y/To0ZgwYQJKlSqFF198ES1bttSuA+FqDRo0wC+//II333wTEydORGRkJKZNm4bjx49b7dbk7e2Nn376STtfxc/PD507d8bQoUMRExOTp/F4eHhg/fr1GDFiBL799luoVCp06NABs2bNQv369RXfTo8ePTBhwgTcv3/fZPp77ty58PT0xPLly/Hw4UM0bdoUW7duzdPvxZYxr1ixAm+88Qbmz58PjUaDZ599Fr/88otBNyoAaNiwId555x0sWrQImzZtQk5ODpKSkky+4YWGhmLPnj0YM2YM5s2bh4cPH6Ju3br46aeftFkfR5kyZQpCQkLw6aefYuTIkShdujQGDhyI6dOna0snYmJi0Lp1a/z0009ITk5GQEAAYmJi8Msvv2g7QXXo0AHnz5/H0qVLcevWLQQHB6N58+aYOnWqtisfUVHE9xHb8X1EKIjvI0qfs+LFi2Pnzp2YPHkyfvjhB3z11VcoW7YsWrZsqW3e4OnpiY0bN+K9997DihUrsHbtWpQpUwZPPvkk6tSpo72tefPmISsrC4sWLYKvry+6d++Ojz76yGoTB8mWv9GYmBj88ccfmDhxIhYuXIiHDx8iKioK3bt3z3W77du3R6lSpZCTk4MOHTrY+lQWGipNQfqah8hBOnXqhGPHjpmsmyYiIrKG7yNE5mVnZyM8PBzt27fHkiVLXD0ch+EcJ3I7Dx48MDh/+vRpbNy4EbGxsa4ZEBERFSp8HyGyzbp163Dz5k2DhhPuiBkncjthYWHo16+fdu2dhQsXIiMjA4cOHULVqlVdPTwiIirg+D5CpMyff/6Jv//+G++88w6Cg4PzvGhxYcE5TuR22rRpg5UrV+LatWvw9fVF48aNMX36dL7ZERGRInwfIVJm4cKF+Pbbb1GvXj0sW7bM1cNxOGaciIiIiIiIrHDpHKcdO3agffv2CA8Ph0qlwrp16xRfd/fu3fDy8tKujUJEREREROQoLg2c0tPTERMTg/nz59t0vXv37qFPnz5o2bKlg0ZGRERERESkU2BK9VQqFX744Qd06tTJ6rE9e/ZE1apV4enpiXXr1lldkE5fTk4Orly5ghIlSkClUuV9wEREZDONRoN///0X4eHhDlvMuDDiexMRkWvY8r5U6JpDfPnllzh37hy+/fZbvPvuu1aPz8jIQEZGhvZ8cnIyatWq5cghEhGRFZcuXdIu/EjAlStXEBkZ6ephEBEVWUrelwpV4HT69GmMHTsWO3fuhJeXsqHPmDEDU6dOzbX/0qVLCAwMtPcQiYjIgtTUVERGRqJEiRKuHkqBIp8PvjcRETmXLe9LhSZwUqvV6N27N6ZOnYpq1aopvt64ceMwatQo7Xn55AQGBvLNiYjIRViOZkg+H3xvIiJyDSXvS4WmwPzff//FX3/9haFDh8LLywteXl6YNm0aDh8+DC8vL/z2228mr+fr66t9I+IbEhERWZOXjq8JCQl49NFH4evriypVqhSJ9UyIiIqaQhM4BQYG4siRI0hMTNT+vP7666hevToSExPRqFEjVw+RiIjcgK0dX5OSkvDcc8+hRYsWSExMxIgRI/Dqq69i8+bNDh4pERE5k0tL9dLS0nDmzBnt+aSkJCQmJqJ06dKoUKECxo0bh+TkZHz99dfw8PBA7dq1Da5ftmxZ+Pn55dpPRESUV23btkXbtm0VH79o0SJUrFgRs2bNAgDUrFkTu3btwscff4zWrVs7aphERORkLg2c/vrrL7Ro0UJ7Xs5F6tu3L5YtW4arV6/i4sWLrhoeUZGh0WiQnZ0NtVrt6qFQIefp6QkvL68iNYdp7969aNWqlcG+1q1bY8SIEWavY9zxNTU11er98HVK+VEUX5tE9ubSwCk2NhaWlpGyViM+ZcoUTJkyxb6DIipiMjMzcfXqVdy/f9/VQyE3ERAQgLCwMPj4+Lh6KE5x7do1hIaGGuwLDQ1FamoqHjx4AH9//1zXMdfx1Ry+Tskeitprk8jeCk1XPSKyv5ycHCQlJcHT0xPh4eHw8fHht5GUZxqNBpmZmbh58yaSkpJQtWpVLnJrhrmOr6bwdUr5xdcmkX0wcCIqwjIzM5GTk4PIyEgEBAS4ejjkBvz9/eHt7Y0LFy4gMzMTfn5+rh6Sw5UrVw7Xr1832Hf9+nUEBgaazDYBouOrr6+votvn65TsoSi+NonsjV83EBG/eSS7Kmp/T40bN8a2bdsM9m3ZsgWNGze26/0UteeV7I9/Q0T5w1cQERGRnrS0NO2yF4Cu46tsVjRu3Dj06dNHe/zrr7+Oc+fO4e2338aJEyewYMECrF69GiNHjnTF8ImIyEEYOBEREen566+/UL9+fdSvXx+A6Phav359TJo0CQBydXytWLEiNmzYgC1btiAmJgazZs3CF198wVbkRERuhoETEeWbWg0kJAArV4ptYeyWHB0djTlz5ig+PiEhASqVCvfu3XPYmADRXbRkyZIOvQ8yJDu+Gv/ITq/Lli1DQkJCruscOnQIGRkZOHv2LPr16+f0cVvlBi/Ugvo6JaKigYETEeVLfDwQHQ20aAH07i220dFivyOoVCqLP3ldomD//v0YOHCg4uObNGmCq1evIigoKE/3R+RUTn6h8nVKRO6IXfWIKM/i44GuXQHj5diSk8X+NWuAuDj73ufVq1e1p1etWoVJkybh5MmT2n3FixfXntZoNFCr1fDysv6vLiQkxKZx+Pj4oFy5cjZdh8glXPBC5euUiNwRM042cIMqByK7UauB4cNzfxYDdPtGjLD/66RcuXLan6CgIKhUKu35EydOoESJEvjll1/QoEED+Pr6YteuXTh79iw6duyI0NBQFC9eHA0bNsTWrVsNbte4BEilUuGLL75A586dERAQgKpVq2L9+vXay41LgGRJ3ebNm1GzZk0UL14cbdq0MfgAmZ2djWHDhqFkyZIoU6YMxowZg759+6JTp042PQcLFy5E5cqV4ePjg+rVq+Obb77RXqbRaDBlyhRUqFABvr6+CA8Px7Bhw7SXL1iwAFWrVoWfnx9CQ0PRtWtXm+6bChkXvVCL2uv09u3b6NWrF8qXL4+AgADUqVMHK1euNDgmJycHH374IapUqQJfX19UqFAB7733nvbyy5cvo1evXihdujSKFSuGxx57DH/++Wcenn0iJ3L1h2Mn3z8DJ4WcXY5EVNDt3Alcvmz+co0GuHRJHOdsY8eOxfvvv4/jx4+jbt26SEtLQ7t27bBt2zYcOnQIbdq0Qfv27Q0m+JsydepUdO/eHX///TfatWuHF154AXfu3DF7/P379zFz5kx888032LFjBy5evIg333xTe/kHH3yA5cuX48svv8Tu3buRmpqKdevW2fTYfvjhBwwfPhyjR4/G0aNH8dprr6F///7Yvn07AGDt2rX4+OOP8dlnn+H06dNYt24d6tSpA0A0PRg2bBimTZuGkydPYtOmTXjqqadsun8qZArwC9WdXqcPHz5EgwYNsGHDBhw9ehQDBw7ESy+9hH379mmPGTduHN5//31MnDgR//zzD1asWIHQ0FAAopNj8+bNkZycjPXr1+Pw4cN4++23kZOTo+CZJHIRSx+OLQU09gp2XPHhXFPEpKSkaABoUlJSFF9n7VqNRqXSaMQ7jO5HpRI/a9c6cMBEDvTgwQPNP//8o3nw4IHN112xIvdrwtTPihUOGPh/vvzyS01QUJD2/Pbt2zUANOvWrbN63UceeUQzb9487fmoqCjNxx9/rD0PQDNhwgTt+bS0NA0AzS+//GJwX3fv3tWOBYDmzJkz2uvMnz9fExoaqj0fGhqq+eijj7Tns7OzNRUqVNB07NhR8WNs0qSJZsCAAQbHdOvWTdOuXTuNRqPRzJo1S1OtWjVNZmZmrttau3atJjAwUJOammr2/uzB0t9VXv4HFwWWnpf8vE4Lwgu1KLxOTXnuuec0o0eP1mg0Gk1qaqrG19dXs3jxYpPHfvbZZ5oSJUpobt++bdN92Cpff0tE+sx9OJY/gYGG5yMixHXWrhWnTV2mVHa2RjN1qun7zcOHc1vel5hxssJV5UhEBV1YmH2Ps6fHHnvM4HxaWhrefPNN1KxZEyVLlkTx4sVx/Phxq99k161bV3u6WLFiCAwMxI0bN8weHxAQgMqVK2vPh4WFaY9PSUnB9evX8fjjj2sv9/T0RIMGDWx6bMePH0fTpk0N9jVt2hTHjx8HAHTr1g0PHjxApUqVMGDAAPzwww/Izs4GADzzzDOIiopCpUqV8NJLL2H58uW4f/++TfdPhUwBfqG60+tUrVbjnXfeQZ06dVC6dGkUL14cmzdv1o79+PHjyMjIQMuWLU1ePzExEfXr10fp0qUt3g+R3eUl+2Ppw7GUmmp4PjkZ6NJF/BhnweV8S+NMkamxxccDUVHA5Mmm79fBH84ZOFlRgKsciFyqWTMgIgJQqUxfrlIBkZHiOGcrVqyYwfk333wTP/zwA6ZPn46dO3ciMTERderUQWZmpsXb8fb2NjivUqksls6YOl5j6Y3FASIjI3Hy5EksWLAA/v7+GDx4MJ566ilkZWWhRIkSOHjwIFauXImwsDBMmjQJMTExbNXszgrwC9WdXqcfffQR5s6dizFjxmD79u1ITExE69attWP39/e3eH1rlxM5RF5L3ax9ODbF0mvMVLBjamyhoSLwSk62fl8O+nDOwMkKvfmidjmOyF14egJz54rTxp/J5Pk5c8RxrrZ7927069cPnTt3Rp06dVCuXDmcP3/eqWMICgpCaGgo9u/fr92nVqtx8OBBm26nZs2a2L17t8G+3bt3o1atWtrz/v7+aN++PT755BMkJCRg7969OHLkCADAy8sLrVq1wocffoi///4b58+fx2+//ZaPR0YFWiF6oRbm1+nu3bvRsWNHvPjii4iJiUGlSpVw6tQp7eVVq1aFv78/tm3bZvL6devWRWJiosW5WUR2JbttKs3+6HPEh14Z7CQkmB/b7du23aYDxsl25FYU4CoHIpeLixOdjIcPN/z/FhEhPovZuxV5XlWtWhXx8fFo3749VCoVJk6c6JJJ12+88QZmzJiBKlWqoEaNGpg3bx7u3r0LlblsgAlvvfUWunfvjvr166NVq1b46aefEB8fr+0+tmzZMqjVajRq1AgBAQH49ttv4e/vj6ioKPz88884d+4cnnrqKZQqVQobN25ETk4Oqlev7qiHTAVBIXmhFubXadWqVbFmzRrs2bMHpUqVwuzZs3H9+nXtFxp+fn4YM2YM3n77bfj4+KBp06a4efMmjh07hldeeQW9evXC9OnT0alTJ8yYMQNhYWE4dOgQwsPD0bhxY2c9dCoqrM1DUalE9qdjR9NfqjjyQ6/sXmmPag0HjJOBkxWyyiE52fTvUKUSl7uiHImoIIiLE/9bd+4UX+6EhYnXQwH4Altr9uzZePnll9GkSRMEBwdjzJgxSDWuv3aCMWPG4Nq1a+jTpw88PT0xcOBAtG7dGp42PFmdOnXC3LlzMXPmTAwfPhwVK1bEl19+idjYWABAyZIl8f7772PUqFFQq9WoU6cOfvrpJ5QpUwYlS5ZEfHw8pkyZgocPH6Jq1apYuXIlHnnkEQc9YiowCsELtTC/TidMmIBz586hdevWCAgIwMCBA9GpUyekpKRoj5k4cSK8vLwwadIkXLlyBWFhYXj99dcBiPWmfv31V4wePRrt2rVDdnY2atWqhfnz5zv88VIRZMs8lP/eWwxY+3CcH2lp+b8NB344V2mcXYDvYqmpqQgKCkJKSgoCAwMVXUdmDAHDvw/55ZMjFvkkcoaHDx8iKSkJFStWhJ+fn6uHU+Tk5OSgZs2a6N69O9555x1XD8duLP1d5eV/cFFg6Xnh69S13Ol1yr+lAkCtdv0XGCtXinlD1qxYAfTqZfoycwtrFwQqlU0fzm15X+IcJwVklUP58ob7IyIYNBGRchcuXMDixYtx6tQpHDlyBIMGDUJSUhJ6K3kDIyKn4OuUHKagLApqj3ko5j4cu5qDP5wzcFIoLg44fx7Yvl0E4Nu3A0lJDJqISDkPDw8sW7YMDRs2RNOmTXHkyBFs3boVNWvWdPXQiOg/fJ2SQyhpxmCvhWGtadIECAkxf7nSbptxccCFC8DUqfYdX15NnSo+rDvwwznnONnA09N0qScRkRKRkZG5OuIRUcHC1ynZnZJmDAMHmm7gMneuYSBgXOrXpAmwZ4/y0r/4eHE/N2+avtzWbpuensCkSUDt2rnHHxQE6M3zc5jISKc1umHgRERERETkKEqaMZhqtS2zUbL0TAY9+rfl6WmYmTIVbElK5iXJbpsdO4qsl9KAzFQDmiZNgMqVHdNEQpo6FRg/3mnzxFiqR0RERETkKHldT0h/Ydg1a0yX+hmX85lbh8lS1ksKCQHOnBGn8zIXS5Zm9eoltj4+5teRsweVCvjiC/vfrgUMnIiIiIiIbGVpTpL+Zdev5/0+ZGvwwYOVZW30gy398VjLegGifO/114EuXfK2MK4p5ppIREYCb70lMlx5pd823UlYqkdEREREZAtTZXOyTA6wXlJnK3NzkkwxtQ6T0qzXl1+av01rC+OaY2kduRkzxP4ffwSWLzd8nKVLA3fuWL/9vGb08oCBUz4UhFb8RERERORE5uYKXb4ssjWmOKpDniX6AYXSFuSWWFsY1xJzHdbk/thYYOZMww/WajXQqpX127bHY1OIgVMeZGUB69YBo0ZZb35CRERERG5CyVwhSzw8gJwc+47JHP2Aolkz8UHVHo0aHJXhMQ6u1GrLY1apxOXW2qbbEec42SguDiheHOje3X7ln0TkfLGxsRgxYoT2fHR0NObMmWPxOiqVCuvWrcv3fdvrdiyZMmUK6tWr59D7IHI0d3+dUiGhP19p3jzrc4UscUbQZLwOkyyRklmy/DZqcFaGx9PTfHMJW9um2wkDJxtlZoofU8zNxyMi+2nfvj3atGlj8rKdO3dCpVLh77//tvl29+/fj4EDB+Z3eAbMBS9Xr15F27Zt7XpfRAUJX6fkNuLjDTvMjRzp6hFZZhxQ6I9ffungkceP/0oXxrUnc80lIiJ0bdqdiKV6NrIWZOen/JOIrHvllVfQpUsXXL58GRFG3Xi+/PJLPPbYY6hbt67NtxtiaRV1OytXrpzT7ovIFfg6Jadw9GRzJeseuZpx6Z9ch0mu+2Rq/PLb/REjgKgo24JBJ2d4AFhuLuFkzDjZSGl20okNPojsRqMB0tNd86P0fen5559HSEgIli1bZrA/LS0N33//PV555RXcvn0bvXr1Qvny5REQEIA6depg5cqVFm/XuATo9OnTeOqpp+Dn54datWphy5Ytua4zZswYVKtWDQEBAahUqRImTpyIrKwsAMCyZcswdepUHD58GCqVCiqVSjtm4xKgI0eO4Omnn4a/vz/KlCmDgQMHIi0tTXt5v3790KlTJ8ycORNhYWEoU6YMhgwZor0vJXJycjBt2jRERETA19cX9erVw6ZNm7SXZ2ZmYujQoQgLC4Ofnx+ioqIwY8YMAIBGo8GUKVNQoUIF+Pr6Ijw8HMOGDVN83+QArnqxKnyh8nWq7HV69uxZdOzYEaGhoShevDgaNmyIrVu3GhyTkZGBMWPGIDIyEr6+vqhSpQqWLFmivfzYsWN4/vnnERgYiBIlSqBZs2Y4e/asxeexUJNlcyNHig9ltq41pFRmpmjNbc+gSc7JiYiw37pGv/wCbN8OrFghtklJItCwNn6VCli7VrQ5VzIeF2V4tIzXiHJRNzZmnGzUpImy45zY4IPIbu7fF3P4XCEtDShWzPpxXl5e6NOnD5YtW4bx48dD9d8/+++//x5qtRq9evVCWloaGjRogDFjxiAwMBAbNmzASy+9hMqVK+Pxxx+3eh85OTmIi4tDaGgo/vzzT6SkpBjMs5BKlCiBZcuWITw8HEeOHMGAAQNQokQJvP322+jRoweOHj2KTZs2aT8IBQUF5bqN9PR0tG7dGo0bN8b+/ftx48YNvPrqqxg6dKjBh87t27cjLCwM27dvx5kzZ9CjRw/Uq1cPAwYMsP6kAZg7dy5mzZqFzz77DPXr18fSpUvRoUMHHDt2DFWrVsUnn3yC9evXY/Xq1ahQoQIuXbqES5cuAQDWrl2Ljz/+GN999x0eeeQRXLt2DYcPH1Z0v+QgrnqxKnyh8nWq7HWalpaGdu3a4b333oOvry++/vprtG/fHidPnkSFChUAAH369MHevXvxySefICYmBklJSbh16xYAIDk5GU899RRiY2Px22+/ITAwELt370Z2drbV569QMtUCXJ+cbJ6XD/j62avTp8Vcpv+eZ7uQgYmcs9O1q9iX18BMBmEtW+YOIuLjgddeszx+WSK1Z48Yk6XxTJ0KjB/P1tEAoCliUlJSNAA0KSkpebp+drZG4+2t0Yi/rNw/KpVGExkpjiMq6B48eKD5559/NA8ePNBoNBpNWpr5v21H/6SlKR/38ePHNQA027dv1+5r1qyZ5sUXXzR7neeee04zevRo7fnmzZtrhg8frj0fFRWl+fjjjzUajUazefNmjZeXlyY5OVl7+S+//KIBoPnhhx/M3sdHH32kadCggfb85MmTNTExMbmO07+dzz//XFOqVClNmt4TsGHDBo2Hh4fm2rVrGo1Go+nbt68mKipKk633j6Vbt26aHj16mB2L8X2Hh4dr3nvvPYNjGjZsqBk8eLBGo9Fo3njjDc3TTz+tycnJyXVbs2bN0lSrVk2TmZlp9v70Gf9d6cvv/2B3Zel5Mfl8uurFasMLla9T669TUx555BHNvHnzNBqNRnPy5EkNAM2WLVtMHjtu3DhNxYoV7fLaLPDWrhUfsqz9jeblg9jatRpNRIRjXzuRkeJ+LN1nZKRG89Zb4jFYeqzycv3bs/V5kj8rVlgez9q14rncvl0cu327RpORYXi+kH/oteV9iRknG3l6As8+C2zYkPsyFzX4ILKbgADxhbKr7lupGjVqoEmTJli6dCliY2Nx5swZ7Ny5E9OmTQMAqNVqTJ8+HatXr0ZycjIyMzORkZGBAIV3cvz4cURGRiI8PFy7r3HjxrmOW7VqFT755BOcPXsWaWlpyM7ORmBgoPIH8t99xcTEoJjet/hNmzZFTk4OTp48idDQUADAI488Ak+9fyxhYWE4cuSIovtITU3FlStX0LRpU4P9TZs21WaO+vXrh2eeeQbVq1dHmzZt8Pzzz+PZZ58FAHTr1g1z5sxBpUqV0KZNG7Rr1w7t27eHlxffQlzGVS9WG16ofJ1af52mpaVhypQp2LBhA65evYrs7Gw8ePAAFy9eBAAkJibC09MTzZs3N3n9xMRENGvWDN7e3jY9nkLHlhbgMpOiZLK5Wg289x4weXLex9a/v/lFYwHg1VeBF17IPSfH0rydJ56wnFnTn8dk/HhsbZUuS6TMjefHH0UJpKXFfIvQejx818uDPn1E4OTtLdZ0ksz9HRMVFiqVsnK5guCVV17BG2+8gfnz5+PLL79E5cqVtR8uPvroI8ydOxdz5sxBnTp1UKxYMYwYMQKZ5lpi5sHevXvxwgsvYOrUqWjdujWCgoLw3XffYdasWXa7D33GH4xUKhVy7NjW9tFHH0VSUhJ++eUXbN26Fd27d0erVq2wZs0aREZG4uTJk9i6dSu2bNmCwYMH46OPPsLvv//u/h/YCqpC8mLl69Ty6/TNN9/Eli1bMHPmTFSpUgX+/v7o2rWr9jnw9/e3eH/WLncbO3fa3gLc2mTz+Hhg2DBR3pcXslRu8WLg+edzBzplygC3bwN37pgP4MwtCmscxJQtK/bfuGG5MYItz5OpNZCMx2OtuYSUnxLJQobNIfJAznPKyQE2bsw9H4+IHK979+7w8PDAihUr8PXXX+Pll1/WzqPYvXs3OnbsiBdffBExMTGoVKkSTp06pfi2a9asiUuXLuGq3hvvH3/8YXDMnj17EBUVhfHjx+Oxxx5D1apVceHCBYNjfHx8oLayNkHNmjVx+PBhpKena/ft3r0bHh4eqF69uuIxWxIYGIjw8HDs3r3bYP/u3btRq1Ytg+N69OiBxYsXY9WqVVi7di3u3LkDQHxAa9++PT755BMkJCRg7969ijNeVHTxdWrZ7t270a9fP3Tu3Bl16tRBuXLlcP78ee3lderUQU5ODn7//XeT169bty527txpU6OYQikvHbfMTTZXq4Fp04AuXfIeNAEimHj1VXE6Lg44f96wSUPXruKyc+fydvv6zRBathQ/1hoj2Po8WSqRsjXLBxSJ9XgYOOVBRIRoY69WA35+Lm/wQVQkFS9eHD169MC4ceNw9epV9OvXT3tZ1apVsWXLFuzZswfHjx/Ha6+9huvXryu+7VatWqFatWro27cvDh8+jJ07d2L8+PEGx1StWhUXL17Ed999h7Nnz+KTTz7BDz/8YHBMdHQ0kpKSkJiYiFu3biEjIyPXfb3wwgvw8/ND3759cfToUWzfvh1vvPEGXnrpJW35jz289dZb+OCDD7Bq1SqcPHkSY8eORWJiIoYPHw4AmD17NlauXIkTJ07g1KlT+P7771GuXDmULFkSy5Ytw5IlS3D06FGcO3cO3377Lfz9/REVFWW38ZF74uvUsqpVqyI+Ph6JiYk4fPgwevfubZChio6ORt++ffHyyy9j3bp1SEpKQkJCAlavXg0AGDp0KFJTU9GzZ0/89ddfOH36NL755hucPHkyz2MqkGzpuGVpraH4eNF+Oz+lefomT9Z18jPu+ia/qLpxwz73pYTS5ykkxHp2yNYsn36JpBtj4JRHMuu0Z49rx0FUlL3yyiu4e/cuWrdubTDPYcKECXj00UfRunVrxMbGoly5cujUqZPi2/Xw8MAPP/yABw8e4PHHH8err76K9957z+CYDh06YOTIkRg6dCjq1auHPXv2YOLEiQbHdOnSBW3atEGLFi0QEhJistVyQEAANm/ejDt37qBhw4bo2rUrWrZsiU8//dS2J8OKYcOGYdSoURg9ejTq1KmDTZs2Yf369ahatSoA0Xnsww8/xGOPPYaGDRvi/Pnz2LhxIzw8PFCyZEksXrwYTZs2Rd26dbF161b89NNPKFOmjF3HSO6Jr1PzZs+ejVKlSqFJkyZo3749WrdujUcffdTgmIULF6Jr164YPHgwatSogQEDBmgzX2XKlMFvv/2GtLQ0NG/eHA0aNMDixYvdq4RWrRY/pUtbP9bSZHNZdpafLJMpskxNvw363bvAsWPi9M2bts05yo9mzay3Fg8JEQGRtRKpvK6r4+br8ag0Gmf9NguG1NRUBAUFISUlxebJofo++URkMNu1E/OdHL0GG5EjPHz4EElJSahYsSL8/PxcPRxyE5b+ruz1P9jdWHpe+Doleyl0f0vW2o8bi4w03zTBuMGBPcn5QklJ4sPfxo3Ac8/pLr97FyhZ0jH3bUwGiIBhwCaDKaXzkBISxNpYttq+3XpTjgLGlvclNofII/2M05o1Yh02/ddjEWowQkRERGQ7/W+djRsg3LoFdO9uPVsTEiK61nXsaJ+mCXlh3Mlv1y7Dy2/ccF7gFBcnPpgaB5y2djCT2avkZGUZM1PNJtwQA6c8iokB/P2Be/eAbt1yX16EGowQERER2cZaNsnT0/IH9tKlgdWrlU0yz0t5XvnywMCBQNWqwD//AO++a/06skzNVOBUrZrtY8grS63OlfL0tL4wrmTP9XguXgS2bQP69gU8Ct6MooI3okLC2xto2ND85UWowQgRERGRcrKczFIWyNqHpzt3xId0ax/U4+PFhzFbTJ0KXLgATJqk62qnRFgYkJEB7N8vzoeEiO3Nm7bdvz0YN6vIS0Ajs1fly+e+bX0REfbLFPTvD7z8MrB0af5vywEYOOVDRITly4tIgxEiIiIiZfKySKs5StZq6tpVlP0pEREBrF0rAib94MBa0wX9Tn4HDwIPH4qg6YknxOXO7Kxnb6Zard+/b3jeXuvx3Lol5lYB4vdQALFULx+Cg5Ud5+YNRsgNFLEeMeRg/HtyDD6vlF8O/RtS2iXLnvONLLXftjVAmzoVGD/e9Jgtla0Zl6nJMr2mTXUfFJ0VODmqU5mphXod0QDi55/FIqkA8NtvQGoqoN+sQT7vlroGOhgzTvlgqVRPny3LDxA5k2xZe//+fRePhNyJ/Htyq5bILsTXKdmLw16b8fGia12LFkDv3mIr1zfSp1aL+Sv5ZWmtJklpgBYSYjrLZMxc2ZpxmZoMnJ58Utfwwhmlekp/B47Ws6eYz3X7tvlj0tOBWrVEGaG+det0pzMzgU2bdOcvXADCw8XzbGKtNWdhxikfevQA+vQx/2VGEWkwQoWYp6cnSpYsiRv/fRsWEBAAlQu/yaHCTaPR4P79+7hx4wZKliwJT67JYBd8nVJ+OfS1KcvhjD8MGXfJsrW1uDlKGxEoLff5+GPlZWbWmi5oNLqFb598EvjjD3H6+nVRguaoNWuU/g4cbdcuYNUq3ZgGDDB9XGIicPy4+BkyRDxX9+8Dv/4qLn/2WXH6xx9FZ0UA+OAD4No1EVy9+CLw3XcuWfeHgVM+eHuLoNrUAt32bDBC5EjlypUDAO2HMqL8KlmypPbviuyDr1OyB7u/Ni2Vw2k04sPQiBGi/EpJa3FTPD0NG0UobauttNzHOIOkZDzmytROnhSZFj8/oH594OxZsf/HH0UHQMmea9Yo/R107Oj4D6QffKA7vW6d+cBJ///Y+++LEr0tW4AHD0SWbNIkETht2ABkZYlGILJZhKenCARfew1YvNjpZXsMnPKpZUvxOileHEhL0+23tV0+kauoVCqEhYWhbNmyyMrKcvVwqJDz9vZmpskB+Dql/HLIa9NaOZzskjV4sO1Bk/xAvHKlKKezNVtjbR0iR5QFyTK9Ro0AHx/dN+vGpWX2zAQp/R3INaYc5ehREQBJW7cC//4LlCiR+1j9wGnDBuDIERFcAiLAe+IJIDRUZOp+/100oMjIEM/rW2+JIHzJEtGS/sMPHfeYTGDglE/16ontE0+IOYWOysISOZqnpyc/8BIVcHydUoGitBwuL3N88vsNtC0NHezh4kVg2jRx+qmnRCZo0SLTx9ozE6T0d+DoTmUffSS2XboAhw8DZ84AmzeL59+Y8d/DjBm6Mr1OncTz0b498MUXwNdfA+vXi8vGjhWXf/GFaFn+0UdinlT9+o56VLmwOUQ+ycDp8GGgefP8tcsnIiIiKlDUajE/Z+VKsdUvm7Nn96v//U9kKezZ4lppQ4f8unEDeOYZkdmpXh0YNkxkeCyV1tprzRqlvwNHdiq7eFH83gBgzBgRDAKGzR70yeeldWuxXblSlDiWLi3mOwEiQAKAb74BUlKAGjWADh3Evv79RQMMwLA80AmYccqn2rXFwsY3b4pgPjzc1SMiIiIisgNTDR2Cg8Xk/I4dgSZNrJfDBQcryzg984xjSsmsNXTIr5QUoE0b4NQp0elvyxbxmO2RCcrKEuP0sJDnaNZMBIZXrthWkpidDXjZKQyYPVvc3tNPi5bTGRnArFm6OUrGXRxl4NS2rbie7LT4/PO6MbVsCRQrJjrwAaJET/95ePttEax9/z3w3ntA5cr2eSxWMOOUT/7+IggGRJMQIiIiokJPdmoznj9z65YocWvRQnxYlS2ljSfpy/Pz5ytfPNZRZEMHR5QFDR4MHDok5mFt3SoeC5D/TNDdu+J5a9IEuHfP/PXnzxdzgWT5nz5zJYlr14oGFsuWKRujJSkpokkDILJNANC4sXg+7t0DduzIfR0ZOJUtK8rvJJmpAsT42rQRp8uXB154wfA2YmJE4JWTA8ycmf/HoRADJzuQ5XoMnIiIiKjQU7p4bHKy+ND65puWy+EGDDCfDQEKdwti2RDiq69Eq2VJNqcwx1rAuGuXCDD+/FNkYkyt47Z0qfg9ZWeLBXeVliR+/734HY8fn/81kTZsEGOrUUNkDQHdHCXAdLmezECWLSsyS927iwBRBkrSiBGilGvmTMDXN/ftyEDtyy9F8OgEDJzsgIETERERuQ2li8dqNOJnyRLxYzxHCRDtpSdPNn19e881kizNy7InjUasLQSIBV31yeYUpigJGPU/VO7eLZouZGbq9q1da9juOyAAOH9ePPfW5onJ275yBVi+3PT9KyW74XXubJjxknOUfvwxd9AsM04hIeI6q1aJxxgQYHjck0+K4LxnT9P3/dRTojtbRgbwySf5exwKMXCyAwZORERE5DZs7cB2546Y6N+vn8gMxMaKD8ymSv2kqVPt0wDCWHy8CNZatBANBFq0EOfj4+17P4AoRZPBTGho7svj4sQHe2NlyoiOYj/+CPTtK7JGd+4YHiM/VPboIQKKTZvEY+nbF3jpJfHYcnLEZHtAXN+4JHH58tyd/dLTxXws6cMPxe3kRUYGsHGjOC0DJalVKzHuS5dEKaOkVotyT0BknPJDpdJlnebPB1JT83d7CjBwsoOYGLE9c0a0rCciIiIqtPLagU2uT/T995ZL/VQq0VLa3szNy5LjsnfwJLNNJUuKOTmmyFbZffqITNBvv4kmBwkJotX211+LbMnChYbXk4HTgAGi3M3bG9izRxz/7bciYOvWDViwQBxnHHhlZQGvvgoMGqTL/gFizSSNRgRvJUuKtaZk1shWv/0mFjENCwMee8zwMn9/ETwB4rFKd+7oArXg4Lzdr74OHUSZYEqKY/6mjLg0cNqxYwfat2+P8PBwqFQqrDPXtvA/8fHxeOaZZxASEoLAwEA0btwYmzdvds5gLShbVvzNaDTi75GIiIio0JLzc8w1dDBHBkpDhihflNVeLM3LkvtGjLBv2Z4MnMqVM39MSIjYBgSITFC1aqJUzdNTZHt69BCX6z8XqanAuXPidEyMmDu0f79Yt0j+fPONCKBk1ub2bcP7vX1bBE+Abh4WINbPAUT3u8GDxekPPrB9gWLAcNFaU53/qlcX24sXdfvk/KbSpe3T1c/DA3jnHTEPSr900UFcGjilp6cjJiYG8+fPV3T8jh078Mwzz2Djxo04cOAAWrRogfbt2+OQfgrQRViuR0RERG7B0vwcazQa5QvemisJtGWOUmqqCBCszctyRLAmAydTZXqSDGzkvB75QbFGDdFiW5aa7d2re5x//y22ERG6rExMjGjCIX9efBHw8REBCKB7HiRZDgeI+UOSvP+YGLHelJ+faEDx+++5x56VZb78LSdHFzgZl+lJFSqIrX7gpN9Rz166dgVGjwZKlLDfbZrh0sCpbdu2ePfdd9G5c2dFx8+ZMwdvv/02GjZsiKpVq2L69OmoWrUqfvrpJweP1DoGTkREROQ25OKxljrD5ZepkkBb5ijt2CE6ybVsaZ91k2wlO7lZyjgZB04y4yM/ONapIz7wp6YCR4+KffLDpDzGklKldKf125brB076GSf92w4NFYvJAqYXko2LE7+j06dzX7Z/vwgcS5Qwv/6WDJwuXdLtc0Tg5ESFeo5TTk4O/v33X5SW0bYJGRkZSE1NNfhxBDnPiaV6RERE5Bbi4nSd2kaM0JWd5Ze5Vty2zFE6eFC0vE5LE1mkoCBl953X+VumKCnVkwGCzMIZB0VeXroGEjLAsSVw8vLSPXb9cj39wOnYMTG3SK3WZbPkbb/5pih327RJF9QBIkv188+i1fiKFbnvV06vadfOdKtwwHLGyV5/S05WqAOnmTNnIi0tDd27dzd7zIwZMxAUFKT9iZQLk9mZbJ2v/3dKREREVKjJTm0ffyyyNVu36srD8sJcK25b5iidOCG6+Ol/GV68uPMX2rVljpNxqZ5+UPTkk2IrS+pkACO/lbdG/j70G0QYfyDduxc4e1YEQv7+QNWqYn+lSmIdJcAw66R/2lTzCBk4mSvTA3SB040bwIMH4rT+Gk6FUKENnFasWIGpU6di9erVKGvhyR83bhxSUlK0P5f004V2VLKk2Fpa3JmIiIiowDM3x8jTU5TFLV4sAhFbm0cAYkFTU2s3KZ2j9OOPolnCrVtAgwairTcgSn7kvCzjcTlqoV1bMk5374qfM2fEef2gSAZOu3aJxWxl+ZKSjBMgOuQBhoGTcbOIXbt0QVudOobPw9tvi+2qVaIpxdGjwE8/iefNw0O0E79wQXf8qVMiePX2Btq2NT+uUqWAYsXEafm7Zame83333Xd49dVXsXr1arSSrQ7N8PX1RWBgoMGPI8jA6e5d8TfvjHXXiIiIiOxKyRwjOf9JltvYYvp002s3KZ17tHy5+BBevTrwyy+6oCMx0fy4HLXQrpLAqXRpXce5334TAWB4uGGpWqNGIpC5dAnYskWsj1S8uMgGKSEzTqZK9WTjCv3AyTggq19fZPBycoBZs0TXPkA8X/L5Xb9ed/zixWL79NOWSyRVqtzleizVc66VK1eif//+WLlyJZ577jlXD0dLBk5qNRAV5Zx114iIiIjsxpY5Rvrzn1asACZMUHYfe/aY3q907pEsYxs3Tnz4Nu7OZTyu7dsds9AuoCxw8vDQBQlbtoitceBSrJhuvSfZaTomxnSLb1NMZZxk4NShg9ju3y+655m6f0DX3W/pUt2cpjFjdKV4sjTv7l3dorpvvGF9bHKKjAycWKqXd2lpaUhMTETif3/sSUlJSExMxMX/ntxx48ahT58+2uNXrFiBPn36YNasWWjUqBGuXbuGa9euISUlxRXDN1CsmC7reeWK4WWOWneNiIgcY/78+YiOjoafnx8aNWqEffv2mT02KysL06ZNQ+XKleHn54eYmBhs2rTJiaMlsoO8rIMk5z/16iVK+JQwN2XC2tpRKpUIrs6eFQHF88+L/TIIOHpUlPzIcTVtKm4zNjZ3ed7ly7o5N3mlVuuCAEuBE6ALnH791XDM+mRmZ+NG88eYY2mOU+PG4v4zMkQQae62Y2OBxx8HHj4Uz+PTT4u1njp2FJf//ru4/YULRUOO2rVFYwhrjDvrsVQv7/766y/Ur18f9f+LskeNGoX69etj0qRJAICrV69qgygA+Pzzz5GdnY0hQ4YgLCxM+zN8+HCXjF9fTo75tcMcte4aERHZ36pVqzBq1ChMnjwZBw8eRExMDFq3bo0b8g3fyIQJE/DZZ59h3rx5+Oeff/D666+jc+fOBWKNQSLF8rsOktJFc+XCrsb0144yN0epTRuxfeopXZalUiVR1vbwoZh7I40aJbIdxuNNSgIqVtRlYvLq5k3x4U8/o2SODBKSksTWVNMHGTjJD41KG0MAlkv1QkIMb1ulEnOcjKlUuqwToDtdqZI4Xq0G1q7V/Y7GjFE2x81cqR4DJ9vFxsZCo9Hk+lm2bBkAYNmyZUhISNAen5CQYPF4V9q5U7x+zHHEumtERGR/s2fPxoABA9C/f3/UqlULixYtQkBAAJYuXWry+G+++Qb/+9//0K5dO1SqVAmDBg1Cu3btMGvWLCePnMgEpYvJ5ncdJEuBj74TJ8wvkGttjpIMPGQWBBCBS9264rQs18vIAL76Spzets3wtvbuFRmVvXvNf+OthFzDKTjYesMJ4yDBVManaVPrx5hjqVQvONjwtqtUEYGmKZ06iXWdXn9dNOCQ5PP95psi8ImKAnr0UDY2/cApK0uU+gGc41TUuWLdNSIisq/MzEwcOHDAoPGQh4cHWrVqhb1795q8TkZGBvz8/Az2+fv7Y5f+opMmruOMNQapiLNlMVmlGQBLc5EsNY0YPBioVUucNjfPSd6GqTlKzZuLBW8Bw8AJyD3PKSEB+PdfcfrECcNj5fn0dPMBnBJK5jdJ+kFCsWJA5cq5jylXTrffw0OUwillqVQvOFiXcQIsB2QeHmKO08KFhsGvnOck/0+NHi066imhHzjJMXl45K+lvQsxcLITpXMa7bnuGhER2detW7egVqsRKjtR/Sc0NBTX5AclI61bt8bs2bNx+vRp5OTkYMuWLYiPj8dVC9+UOWuNQSrCrDV6+P57XSZq2jSgb1/Lt6d0HSTjwEd2huvQwbDttiX6c6fkHKUNG0RpT926otROnwwGZOMI/XWHzAVOgPmyQSVsCZz0g9K6dc1nqOTzU6OGWGtJKZlxkqV6Dx+KeUiACJzq19fdni2ZLOnRR0XWT97Xyy8rv65+4CSzdCEhyhtfFDCFc9QFULNmlv/GHbHuGhERud7cuXNRtWpV1KhRAz4+Phg6dCj69+8PDwsfDJy1xiAVUdYaPWg0IiiRmajJk0VAZY6t6yDpBz6ygVd4eO6FXm1hacFVGQwcOiSCK/3A6eRJw7kUrg6cLM1dat9ebJU22pCMM04ygPL0FO3CfXx088NatLDttgHx+3/hBXF69Gjd2kxKyIDrwQPg+HFxupCW6QEMnOxGNnAxxVHrrhERkX0FBwfD09MT1+U3o/+5fv06ypn5gBQSEoJ169YhPT0dFy5cwIkTJ1C8eHFUsrAGi7PWGKQiylqjB8C2blXly+dtHaSHD3Uf4suX131Q+usv27raPXgAbN4sTpsKnGrXFhmMmzfFwq1Xroh5PD4+YgyyMYFaDZw+rbueKwInSxmfLl3Ec/P++7aNxThwkiVxZcroPoR++aXIyDVubNttS1OnioB37Fjbrufrq1tL6sABsS2kjSEABk52JVvwG8+5c9S6a0REZF8+Pj5o0KABtulNKM/JycG2bdvQ2MoHDj8/P5QvXx7Z2dlYu3YtOhrPwyByFntPqF62LG8fYuQ4fH2BUqVEiV1YmGgSsH+/8tvZuhW4f1+UfZkKPPz9xYK4gPiADwBt2wJVq4rTMst08aIIpCRnBU76GRZrpXINGgABAbaNRZbqpaaK51Z/fpMUFKRropEXvr5AkybKOukZk+V6DJxIn1wEt2tX56y7RkRE9jdq1CgsXrwYX331FY4fP45BgwYhPT0d/fv3BwD06dMH48aN0x7/559/Ij4+HufOncPOnTvRpk0b5OTk4O2333bVQ6Cizt4Tqs204rdKlv+VLy8+cKtUunI9Sw0ijP30k9h27Gj+g7t+uR4gMlM1aojTJ0+KrfF8J2cFTjLjolLZ1vRBKfkBFBBd60wFTq5kHDgV4lI9L1cPwJ2UKiW2KSmitJeIiAqfHj164ObNm5g0aRKuXbuGevXqYdOmTdqGERcvXjSYv/Tw4UNMmDAB586dQ/HixdGuXTt88803KKn/YYbImeSaSsnJ+Wu5LeU1EJOBU3i4bl+9eqIxxT//KL8d2U1Pv0W2sXr1RKMLAPDyEouzHjsmzsuASW4jIkQpo7MCp8qVgUGDxGR3W+YHKeXpKYKne/dEaaQsjyxogZPsdFiIM04MnOxIvkfeu+fKURARUX4NHToUQ4cONXmZ/vqCANC8eXP8Y8uHQCJHk2sqde0qshx5DZ5UKhFk5LWz1ZUrYqvfnlxmgYyzP+bcvKnLGJmbTA4YNl2IjRUfyozvS95Ou3bA55+L4CkjQ5Sh2UrOg1QSOKlUwIIFtt+HLcqUER9A79wpuBknqRAHTizVsyMGTkRERFQgmFtTSWmXKnt0ttIv1ZP0gxklAZ3swFerluW1f/TnDskGEsaBk9w2ayYyPxqNaJ1uzfnzwHPPAUuWiPMZGbqFXI2WLnAZ/QYRBT1wKsSlegyc7IiBExERERUYphaT/e473XwjS+zR2UpmnPRL9SpXFoHYv/8qa2IhAyf9RVxNCQ0VwVNgINC5s9gnG0ZcuyY+nMnAqWZN3WKz1sr1rl0TJYIbNwJjxgDZ2bpsk7e3bp6Gq+mv5VTQAifjdeoKccaJpXp2JAMn+SUEERERkUvJNZX0rVkj1nnSb1keEQEMGCA60YWFiaxMftdQMZVx8vUVi+KePi0CGf2gyhS5WK61wAkQgeGDB7o5WYGB4vTVq8Cff+oCnmrVxBj+/tty4HT3LtC6NXDmjDh/+7ZoauHnJ86XK5e3LnOOUJgyTgycCDBsDpGTU2gXRSYiIiJ3pFaLNZ4yMkSLcUB0zLNXoLR/v2g5Lj+wm8o4ASITdPq0mHP09NPmb+/+fV0nNiWBU8mShh3mAFGud/UqsH69OF++PFCihAicAMPA6eZN0fpcrnG1YIEIrkJDgUceAX77TSyu27y5uFzJ/CZnMRU4ySyUq4WEiIA5I0OcZ+BEgO61qtGIDHRQkEuHQ0RERCTEx5vOMs2da59WwIcOAY8/LoKKhATxYchUxgkQwczPP1tvELF/v1iXKCwMiI7O27hq1BCZqB9/1J0HTAdOL7wAbNlieP2SJYFffxVZp99+A9atExkroGAFTgW5VM/DQ5TrnTkjyhsL8YLfDJzsyM9PF1Dfu8fAiYiIiFxAZpauXhVBx61bQPfuuZsxJCeLznv5ncsEAIcPi+3vv4vgrHhxUTYH5M44Ke2spz+/yVpJnPFjlhk0eV8yiDMXON28CciFr595RtxfiRLAuHFi4dhKlcSHvHPndMcVpMCpIJfqAaJc78wZkW0qKOWNecDAyc5KlhQltPfuAVFRrh4NERERuSVzgYKpzJKnp+kOdhqN+BA7YoRYXDY/pXoyMAFEWZwsZytVCvD3NzxWaeCkdH6TpWyabBAhyfP6gZNGIzJgOTlA/foiw2SseHERUP38M/DDD2JfQQqcZMbp8mVdwFrQAiegUJfpAeyqZ3dynhMbRBAREZFDxMeL0rUWLYDevcU2Ohp4+22RQdIPIADdnB1TNBrg0iURhOWHnM8EiLI4c/ObAF3wcvEikJ5u+vbUatGIAbC8flN8vOnHLLNpSUmG+2XQFh0tgsa0NJGhkaV8spW5KfKy7GyxLUiBk8w4ybWqvL1FxqygkJ31CnErcoCBk92xJTkRERE5jLlA4fJl4KOP8r7YrZLW4JboZ5x++w2Qi0Ibz28CRCZEZkhOnTJ9e8eOiW5bxYoZLm6rT60WmSZz2TQAeO89w4yXDJx8fUVWCgCOHtVlmTp2NH1fAPD884ZlZgUxcLp9W2yDgwtWSZwMfhs2dO048omBk50xcCIiIiKHsBQo5Jds4Z1X+hmn7Gzgiy/EaXPtxmUAIzMkxuT8psaNAS8zM0t27swdQOrTaMTlMngrVswwkJPleosWifK26Ggxn8mc0FCgSRPd+YIUOBl30CtIZXqAaOt+9SrwzjuuHkm+MHCyMwZORERE5BDWAoW8UKlEGVWzZvm7HZlxeuYZsT16VGxNZZwA0/Octm8H5s0TP99+K/ZZKtNTmiWT5WHVqxuuFSMDp7VrxbZjR+tZGv1SvtBQZffvDDLjJBW0wAkoWOte5RGbQ9gZAyciIiJyCP1yOHuQH2LnzMlfYwi1Grh2TZwePNiwpbe1jJMMnI4eBVq2zJ1Ns9QYQmmWrEYNYO9eoGZNw/0ycJJzwCzNb5I6dgTeektkwQpSxqlkSfH7lM9fQQyc3AADJztjcwgiIiKyu/h40f0uPzw9DRtFRESIoCm/rcivXxcd6Tw8gOeeEwGNzAaZyzjJBhEycPrwQ/Ghv0YNXblclSqWF8ht1kw8huRk0+WLKpW4/J13RKOE114zvFwGToDI2ChZZLdqVWDJEtF8oVgx68c7i4eH+BB65444X1AWv3UzDJzsjBknIiIisivZEELp3Cb9zIM8DwArV4qyNeMW5vklM2HlyomAomNHMW8IsJ5xOnUKOH9ejA0Avv5aeQMBT0/RcrxrV/OPec4cEbzNnZv7+pUr604//7z5uVTGXn5Z2XHOVrq0LnBixskhOMfJzhg4ERERkd0obQihUomft97KneWJiBCL3HbrBsTGAr16ia09giZA1xhC3q9+ZzpzGaeKFUWQ9eABMHKkaCjx9NO2d12LixOPzdxjtpRN0884WeqmV1joZ5kYODkEM052xsCJiIiI7EZpQ4jgYJHliYsDZswwvTiuo8iMk8wutWgB1KolMjjmGih4eYmyt3/+AdatE/vGjs3b/cfFicDH1sccHCwCtbt3Rde3wk6/QQQDJ4dg4GRnDJyIiIjIbpR2jhswAMjIABISRNAQG+vIURkyzjj5+gKJiSI4stRFrXp13XpP9esDrVrlfQyenrY/ZpUK+PNPke3y9s77fRcUDJwcjoGTnbE5BBEREdlN2bLKjps+XXc6IkLM6bGl6UN6OvD550BamjivUgEdOlhe10iSGSf9cjklgYic5wSIbJMrWlWrVO4RNAEs1XMCBk52xowTERER2UV8PDBsmO3XS04WDROszfHRN3Uq8NFHhvumTwc2b7a+xpPMOJlrBGFOnTpiW7ky0KWLbdel3JhxcjgGTnYmA6d//xWZX6UNWoiIiIi0bO2kp0+jEZmUESPE3B9rc33u3gUWLhSnu3cX5TOHDwN//CG6zSUkiFI6c0xlnJTo1g24cEHchyPnYBUVzDg5HD/W25kMnAAgNRUICnLu/EwiIiIq5NRqkWnKS9AkaTTApUviQ4i1uT8LF4oSvdq1ge++E0HXgwdAmzbAjh2iccLOnbq1l4zlNePk5ZX3hhCUm8w4+fkBAQGuHYubYjtyO9NfD+2774DoaNFcpndvsY2OFl8iEREREZn07ru6LE5+WWsu8eCBbo2jMWN084z8/YH164FHHwVu3gTatQOyskxfX07stjXjRPYlA6cyZVwzX6wIYODkADLrNGRI7g6isuyYwRMRERGZ9Ouv9rutsDDLly9bBty4AURFAT16GF4WFARs2iSCqHPnRFmdMZlt8vcXx5PrNGggmom0a+fqkbgtBk4OoF+uZ0xm3UeMEJl4IiIiIi21Wnm2KSTEfGZBpQIiIy03dsjOBmbOFKdHjzbdXS4kRJdJunYt9+X685uY5XCtkBARyH7+uatH4rYYODmAtf8b+mXHRERERABEOUp0tOnMjj4ZFC1YoDtvfDkAzJmTe2L1tm3AqFHip08fkUkKDgZeecX8/ZUrJ7amAqe8zm8ix+BEeodicwgHULocgNI17YiIiMjNKe2ipx8UxcWJluPDhxvODYiI0F2uLztb3IfxmilvvGG5mYClwCmvHfWICiEGTg6gtAOktbJjIiIiKgLUahH8KOmiZxwUxcWJluNKWvgeOSKCpuLFgaFDxb6SJcV9W8KMExEABk4OUa0asGWL+ctVKvF/z9p6ckRERFQE7NyZu5uUKR9/LLJDxkGRp6f1luMAsGuX2D75JDBjhvLxMeNEBIBznByiVCnzl1kqOyYiIqIiSGntfmiosg8Pf/4J+PoC06cb7tcPnGyhJOPEwImKAAZODiC76lWrlvuyiAhRjmxcdkxERERFlNLafaXHffYZkJkJzJsH5OSIfRpN3gOn0FCxtZRxYqkeFQEMnBxABk6nThnu79cPSEpi0ERERER6mjUT36zmp7W4pFYDP/0kTl+7BuzfL05fuCCyQ15eQMOGto1PZpyuXzfcr9Ew40RFCgMnBzAu1ZPrwYWEsDyPiIiIjHh6AnPnWj5GaY3/nj3ArVu68+vWia3MNjVoYLmDnin6gZPMYAHA3bvAw4fiNDteURHAwMkBjBfA7dJFbNPSnD4UIiIiKojUaiAhAVi5Umw7dgRWr859nK+vbTX+MlAKCTE8v3u32NpapgcAZcuKbVaWCJYkmW0qUwbw87P9dokKGQZODqAfOD32GFCjhjidnu6S4RAREVFBIhe6bdEC6N1bbKOjgTt3xOWensD48eJ0RITyoEmj0QVKH3wgFpY8cQI4eTLv85sAwMdHBEeA4Twnzm+iIoaBkwPoB06dO4vlEgBmnIiIiIo8udCtcfvxy5eB114TpytWBF59VbdfvzzOkmPHgHPnRPane3cRkAHAsmXA0aPidJMmeRu3qc56bEVORQwDJwcoXVp3unNnoFgxcZoZJyIioiJM6UK3ly4B+/aJphAZGcDNm8puX2abWrUSHz46dhTn5fypatV0ZXe2shQ4MeNERQQDJwcoWRJ47z3gnXeAmjWZcSIiIiIoX+g2IwPo2VPXberiRWW3LwOnTp3EtkMHsX3wQGzzUqYnmQqczp4V24oV8367RIWIl6sH4K7+9z/daWaciIiIiii1WgRMV6/qyuWUkt+4XrxovYX4pUvAgQMiS/X882JfRIS4nmxJ3rSpbfevz1TgdOKE2MrJ3ERujoGTEzDjRERE5Gb0A6KwMLHGknG78Ph4UZqnJMtkTKMRi9gCyjJO69eLbZMmugVrAVGuJwOn/GScjBfB1WgYOFGRw1I9J2DGiYiIyI2Y64oXH294jKkmEHmhJHCS7cbbtTPc36WLCOiio4GqVfM+BuOM0/XrQEoK4OEBVKmS99slKkQYODmBDJyYcSIiIirkzAVEyclif3y88iYQSl26ZP0YGdAYzzeqUQPYuxfYulWU8eWV/iK4gC7bVLEi13CiIoOlek4gS/XS08X/0Pz83yIiIiIXsRQQyTf4ESOAoKD8Z5pUKrF20q1byjJOMnCSAY4+a/OjlDDOOMnAqXr1/N82USHBjJMTyIxTTo5olENERESFkLWueBqNyA4lJOTvfuQ3rGPGiG1+Ayd7kLd76xaQlSUW1QU4v4mKFAZOTiADJ4DlekRERIXW1avOuZ+ICGDNGqB/f3H++nXg4UPzx2dkAHfvitOOCpzKlBFzpTQasa4UG0NQEcTAyQk8PXXlv2wQQUREVEiFhSk7LjZWBD9KavNVKnGsXKy2d28gKQmIiwNKlwYCAsR+S5kuOe/Ix0csJukIHh6GnfUYOFERxMDJSdiSnIiIqJBr1sxyQKRSAZGRInCaO1e3zxx52dy5utbjLVro2pqrVECFCuK0pXI9WaYXGurYidQym3XuHHDhgjjNwImKEAZOTsKW5ERERIWcp6f5gEienzNHHBcXJ8rtypc3f3uyJC8uDjhzRuyrXNnwGBk4Weqs5+j5TZK8/Z07RcleqVJAcLBj75OoAHFp4LRjxw60b98e4eHhUKlUWLdundXrJCQk4NFHH4Wvry+qVKmCZcuWOXyc9iAzTrt2AStXinmjarVLh0RERES2MhcQ6QdB+seePw9s3w6sWAEMGSL2e3gAmzfrSvIyM0UWB8jdpS4yUmyVZJycFTjJ5hc1arBVMBUpLm1Hnp6ejpiYGLz88suI0/9HY0ZSUhKee+45vP7661i+fDm2bduGV199FWFhYWjdurUTRpx3MgM/erRuX0SE+OJKwUMnIiKigiIuTsxJ2rlTNIwICxNlfLLETp+npyjdA4CDB8U2J0d8CJDHnz0rvk0tUSL3PCqZcfrjD2DTJnG6fn3dfCNAN8fJ0YGTvM+//xZblulREePSwKlt27Zo27at4uMXLVqEihUrYtasWQCAmjVrYteuXfj4448LdOAUHw+cPp17v1wrz/gLKiIiIirg9AMifWq1+YBKP2t04gRQq5buNGA6gxMVJbYbN4ofQART58/rjnV2xkli4ERFTKGa47R37160atXKYF/r1q2xd+9es9fJyMhAamqqwY8zybXyTJHr540YwbI9IiKiQi8+HoiOFg0eevcW2+hosR8wDJzkOkiA5Q517dsD7doBjz4qfuTt3LihO8ZVgRMXv6UiplAFTteuXUOofmoaQGhoKFJTU/HgwQOT15kxYwaCgoK0P5GyVthJlK6Vt3On88ZEREREdhYfL8pIjN/0ZXlJfHzujJPxaVOBU+nSwIYNwIED4kd+jpFzogBmnIicpFAFTnkxbtw4pKSkaH8uWepK4wBK18pz1pp6REREZGeyvESWkuiT+4YPN3yzNxU4KcngVKoktq4OnLy8dGMhKiJcOsfJVuXKlcN1OQHyP9evX0dgYCD8/f1NXsfX1xe+vr7OGJ5JStfKU3ocERERuYi5+UtKykuMLz9xQhdU2bKYbOXKwO+/6wInjcZwHSdH0g+cqlQBvL0de39EBUyhCpwaN26MjXJi5H+2bNmCxo0bu2hE1sm18sz9P5ULhjdr5txxERERkQ3i40XWSP8NXbbHzchQfjuRkaJ8LzVVdMPTaMRpDw8RjFhjnHFKSwPu3xenHR04lSgB+PsDDx6wTI+KJJeW6qWlpSExMRGJiYkARLvxxMREXPyvBnjcuHHo06eP9vjXX38d586dw9tvv40TJ05gwYIFWL16NUaOHOmK4Suiv1aeMeO18oiIiKgAsjZ/yVTrXHOqVgUqVhSnT5zQZZsqVQKUVMgYB04y21S8uG7RSEdRqXRZJzaGoCLIpYHTX3/9hfr166N+/foAgFGjRqF+/fqYNGkSAODq1avaIAoAKlasiA0bNmDLli2IiYnBrFmz8MUXXxToVuSAaDX+yiu595taK4+IiIgKECXzlxYvFm/q5haDVamAoCBxOjJSl605cULXXU9pIGIucHL0/CYpPFxsa9Z0zv0RFSAuDZxiY2Oh0Why/SxbtgwAsGzZMiTI1an1rnPo0CFkZGTg7Nmz6Nevn9PHnRdNmojtE0+IxcO3b9ctGE5ERAXL/PnzER0dDT8/PzRq1Aj79u2zePycOXNQvXp1+Pv7IzIyEiNHjsTDhw+dNFpyKKXzlwYMEOeNgyd5vlEjsa1QwTBwsmV+E6ALnJKTgYcPnR84TZgA9O3LDzBUJLl9V72CQmbPfX2BXr3EmnkszyMiKnhWrVqFUaNGYfLkyTh48CBiYmLQunVr3NBfN0fPihUrMHbsWEyePBnHjx/HkiVLsGrVKvzvf/9z8sjJIZS2va1aVZSRlC9vuF+Wl3j9N61cP3A6edL2wCk4WHyo0GjEIrjODpzatAGWLRPznYiKGAZOTlKsmNimp7t2HEREZNns2bMxYMAA9O/fH7Vq1cKiRYsQEBCApUuXmjx+z549aNq0KXr37o3o6Gg8++yz6NWrl9UsFRUStrTHjYsTwcz27bnLS+TUg/xmnFQq0VkPEOV6stuwswInoiKsUHXVK8xkxiktTbfPXFdTIiJyjczMTBw4cADjxo3T7vPw8ECrVq2wd+9ek9dp0qQJvv32W+zbtw+PP/44zp07h40bN+Kll14yez8ZGRnI0OvElpqaar8HQfYl2+MmJ5ue56RSiSyTWg2sXGn+DV0/cCpTRpy+cEF3m7Z0qatUCTh8WAROzs44ERVhzDg5iXHGKT4eiI4GWrQAevcW2+hosZ+IiFzj1q1bUKvVCDVq6xwaGopr8gOqkd69e2PatGl48skn4e3tjcqVKyM2NtZiqd6MGTMQFBSk/YmMjLTr4yA7kd9wdu0qAhxT85c0GtGeu1Ur82/oKSmi5TggmkMEBwOlS+uCptKlxT6l9BtEMHAichoGTk6in3Gy1tWUwRMRUeGRkJCA6dOnY8GCBTh48CDi4+OxYcMGvPPOO2avM27cOKSkpGh/Ll265MQRkyL633DOmSP2GQdOpUuL7e3bhvuN39BltqlMGfFNqkplmGGydU0kBk5ELsHAyUn0M07WupqOGCG+5CIiIucKDg6Gp6cnrst5I/+5fv06ypn5YDpx4kS89NJLePXVV1GnTh107twZ06dPx4wZM5CTk2PyOr6+vggMDDT4oQLE3Dec8vcZEwNs3SoWgzXF+A1dBk76mUV7B06OXvyWiBg4OYsMnDIzrXc1vXRJVAYQEZFz+fj4oEGDBti2bZt2X05ODrZt24bGjRubvM79+/fh4WH4dur53/wWjalvyahgs7RukyTXXlL6hi4zihUq6C63R+B09iybQxA5EZtDOImti3kr7X5KRET2NWrUKPTt2xePPfYYHn/8ccyZMwfp6eno378/AKBPnz4oX748ZsyYAQBo3749Zs+ejfr166NRo0Y4c+YMJk6ciPbt22sDKCpErK3bBIj1k4zWmTTr6lXDxhCS/oK3She/laKiRLnf/fu6fWXL2nYbRGQzBk5O4uMjlnDIzlZ2vNLup0REZF89evTAzZs3MWnSJFy7dg316tXDpk2btA0jLl68aJBhmjBhAlQqFSZMmIDk5GSEhISgffv2eO+991z1ECg/7P3NZVgYsGGDOG2vjJOvryj705875eOTv3ESkVUqTRGrI0hNTUVQUBBSUlKcXlNeqhRw754oQ75xw3wVQGSkWPaBX1QSkbtx5f/ggozPSwGSkCAaQlizeTPwyiuW25RHRIg39BYtRCbru++AHj3E5dnZQM2a4vTx47oFcpVq0UKX9XrkEeDoUduuT0QAbPv/yzlOTiTnOY0ebfm4OXMYNBEREbmEXLfJuIOesdq1gblzxWlTbcoB3Ru6qVI9Ly8R7Bw9anvQBOjmOQGc30TkJAycnEjOc2rUCFizxnRW3csL6NzZueMiIiKi/3h6mg+I9N28CcTFiTf08uUNLytXDnjjDeD550WzCTlnSj9wAkTJna9v3sbJwInI6Rg4OZF+S/K4OPGFFgBMngz88os4nZ0t1noiIiIiFzEXEOmTbcDj4oDz54Ht24EVK8S2QQPgk0+APn1EKZ9aLb4ZtWeAw8CJyOnYHMKJ9BfB1WiAK1fE+b59xRp73t5AVpaYB1WihKtGSURERIiLAzp2FHOTrlwBBg4U33yWKyeCJhk4ASJLFRurO//GG2K7apUInAARhNmzDp+BE5HTMePkRPoZp5QU0c0UEA13cnJ0gdWWLVwAl4iIyOVkQNSkiXjz9vbWNY7QD5yM3bqlO71rl9gal+nlFwMnIqdj4ORE+hknmW0qVQrYuFFknO7eFfteeUWcj493xSiJiIjIwOHDYvvII6L1LWA+cNJodIHTxIm6/fYOnIKDdeUp/7XKJyLHYuDkRPoZJxk4FS8OdO2ae6295GSxn8ETERGRg6nVorX3ypVia1z2kZgotjExuuyOucDp3391izaOHQvMng34+wNt29p3zCqVKCUMCQEefdS+t01EJjFwciL9jJNcX8/cek5y34gRLNsjIiJymPh4UebRogXQu7fYGpd9yMCpXj3rgZPMNgUEiJ+RI4HUVOCFF+w/9q+/Ft/Elilj/9smolwYODmRqYxTRob54zUa4NIlMS+ViIiI7Cw+XlnZh6nA6fp107cpA6fgYN2+vKzTpIRK5bjbJqJcGDg5kQyc9Oc4KSGzU0RERGQnajUwfLj1so/bt0W7cUBZqZ6pwImI3AK/pnAiWaqXni5ajitVtqxDhkNERFR07dyZO9OkT5Z9fPutOF+hgujoJN29K8pGjBewZeBE5LaYcXIiUxmn0qUtL0wOAP36sUkEERGRXSkt5zh4UGzr1RPbkiUBHx9x2lS5HgMnIrfFwMmJ9DNOMnAaPVpsLQVP7LBHRESUT8ad85SWc8gASwZOKpWu/bepcj0GTkRui4GTE+lnnOT/4V69gDVrgPBw89djhz0iIqJ8MNU5r29f0Y3O0jeXZcroFrB9+mndfkvznGTgxE53RG6Hc5ycSGacLl8GHj4Up8PCgIoVgaAgoFUr89fV77AXG+vwoRIREbkH2TnPuAnElSu6fSqV6SYRt2+LbZUqwFNP6fYrCZyYcSJyO8w4OZHMOCUni22pUoCfnzh944ay22CHPSIiIoWsdc5TqURmqHx5y7dz5gzwww+685YCJxlsMXAicjsMnJxIZpwk/fK8sDBlt6H0OCIioiJPSee827eByZOt35Z+vTwzTkRFEgMnJ5IZJ0k/CGrWzHJQpFIBkZHiOCIiIlJAaZnGr79aP0Z/RXoGTkRFEgMnJ7KUcfL0BGbPNn09OW91zhxxHBERESmgtExD6eKKMhCTgZNxO/KcHJbqEbkxBk5OZJxxMu6k17OnbmkIfRERovNeXJzjxkZEROR2mjUTb6LmOufJco6AAGW3JwMxc+3IU1J05Xzsqkfkdhg4OZG/v+H/blNfhJUuLbaLFwMrVgDbtwNJSQyaiIiIbObpCcydK04bB0/65RyZmZZvx7heXr9UT7/xhCzTK1EC8PXN19CJqOBh4OREKpVh1snU2k2lSoltlSpijafYWJbnERER5VlcnCjbMO6cp1/OkZSk228pwJJvyDLjdP++WJxR4vwmIrfGwMnJrAVOJUuK7d27ThkOERGR+4uLA86fF2UcxuUcOTm6wGnBAssBllS8uG7isn65HgMnIrfGBXCdrHhx3VxSU6V6MnBSOk+ViIiIFPD0NFxBXq0GEhKAY8eAjAxx+YABwMCBonve1avijbpZM9OlH+XKifWdrl0DqlYV+2TgxPlNRG6JgZOT6WecGDgRERG5QHy8WBjXeI2n9etFZkk/wDJHP3CS2FGPyK0xcHIymdkvVQrw88t9OQMnIiKifFCrdRmjsmXFvhs3dNmjH38EunY1bOogr9e1q/I2tqbWcmKpHpFbY+DkZDLjZGp+E5A7cNL//2+pYoCIiKjIM5dJksqXBx4+zB006RsxAujY0fqbramW5AyciNwam0M4mcw4mQucZFe9e/fE///oaKBFC6B3b7GNjhb7iYiISE98vMgYmQuaACA5WVdOZ4pGA1y6JL6xtIYZJ6Iih4GTk8mMk7nFzGXG6Z9/TP//T04W+xk8ERER/UetFpkmS5kkW1y9av0YGTjJjk8AAyciN8fAycmCgsQ2IsL05TJw+vtv0///NRrxM2AAsG2bboFyIiKiImvnTsuZJluZ+3ZTHzNOREUOAycne/11oE8f4JVXTF8uAydri5jfuQO0asXSPSIiIkUZIiVUKiAyUkwotiYyUmzPnBFrQQEMnIjcHAMnJ6tdG/jqK6BSJdOXy8BJKZbuERFRkackQ2SNSiW2c+Yo68L0yCOi/j4lRawFpVaLbzUBBk5EboqBUwFja+Aky/lGjGDZHhERFVHNmokaeBn8WKJSiQVqjWvmIyKUtyIHAC8v4IknxOldu4C7d3VvyqVLKx87ERUaDJwKGNlVzxa2NAEiIiJyO56ewNy54rSl4Ele9vnnwPnzwODB4nzz5kBSkvKgSXrySbHdvVvXrS8oCPD2tu12iKhQYOBUwMjmEZKSL88ke5V4ExERFWhqNZCQAKxcKbZqtQh61qwRazWZU6aMLqvk6Ql4/Pcx6Ikn8rZIogycdu3i/CaiIoCBUwHj7a1rWT5/vuX//8auXzd8DyEiInI7lhY5jIsTmaSffhL7ACAkRFdS9++/hqUd586JrbmJx9Y0aiSCrwsXgMREsY+BE5HbYuBUAMl5To0aif//W7daL5f29ARGjuRCuURE5MbMLXJr3Clp5kzxBhoSIrJBO3cCnToBGRlAhw7A/v3iuPwGTiVKAPXqidM//ii2DJyI3BYDpwJIBk737omAqGVLYPFiUbZnrnTPOMPEbntERORWLC1yq98pae1a4PffgeLFgc2bgWrVRCOHlSuBp58G0tKANm2Ao0fFvCYg74EToCvX275dbBk4EbktBk4FkH7gJJkr3TZXks1ue0RE5FasLXIrOyVNmiTOjxgB1K+vu9zPD1i3Dnj8cdE2PDZWZKA8PYEKFfI+Lhk4ZWeLLQMnIrfFwKkAkuXXd+8a7pel29u3AytWAB9/bDkoYrc9IiJyG0o7IJ08Cfj7A8OG5b6sRAngl1/EGkyyC15UlMhI5VXTpobnGTgRuS0GTgWQqYyT5OkpviTr1QsIDVV2e+y2R0REhZ4ti9y+/LKY32RK6dLAr7/qyvPyU6YHAOHhQMWKuvMMnIjcFgOnAshS4KRP6XuIPRZUJyIicimli9x6egKjR1s+JjxcdF568UVg/Pj8j02W6wEMnIjcGAOnAkhp4GTtPUSlAiIjxXFERESFmqVFbvXP9+hhmAEyp2JF4JtvRBlHfumX6zFwInJbDJwKIKWBEwAMGGC6wZB8D5kzJ29r+hERERU45jollSunW8x2zBjnj0s/41SmjPPvn4icIh+zIclRzDWH0BcfL7qymmswFBEhgqa4OLsPj4iIyPnUatHtKCMDWLZM7LtxQ9Sj//MPMGSIyB7Vrev8sdWsCVSpIhpO5KdDHxEVaC7POM2fPx/R0dHw8/NDo0aNsG/fPovHz5kzB9WrV4e/vz8iIyMxcuRIPHz40EmjdQ5rGSdz6/9JU6eKpSkYNBERkVuIjxcru7doIVZ6b9UK6NcP8PUVwdLff4vjGjd2zfg8PICDB4FTp4BixVwzBiJyOJcGTqtWrcKoUaMwefJkHDx4EDExMWjdujVu3Lhh8vgVK1Zg7NixmDx5Mo4fP44lS5Zg1apV+N///ufkkTuWpcDJ0vp/gCjR++ILR42MiIjIycx9W6i/0vuhQ2JfWhqQkOCaBQxLlOD8JiI359LAafbs2RgwYAD69++PWrVqYdGiRQgICMDSpUtNHr9nzx40bdoUvXv3RnR0NJ599ln06tXLapaqsLEUOCld/49rNxERUaFn6dtCuW/AAGD/fnF63jyRlYqOFgEVEZEduSxwyszMxIEDB9CqVSvdYDw80KpVK+zdu9fkdZo0aYIDBw5oA6Vz585h48aNaNeundn7ycjIQGpqqsFPQWcpcFK6JhPXbiIiokJPybeFd+7kDqz0s1FERHbissDp1q1bUKvVCDVaxTU0NBTXrl0zeZ3evXtj2rRpePLJJ+Ht7Y3KlSsjNjbWYqnejBkzEBQUpP2JjIy06+NwBBk43b8PZGYaXsa1m4iIqMjI67eAMpAaMcI1ZXtE5JZc3hzCFgkJCZg+fToWLFiAgwcPIj4+Hhs2bMA777xj9jrjxo1DSkqK9ufSpUtOHHHeBAXpThtnnbh2ExERubWrV4EnngDeey9/3wKydp2I7Mxl7ciDg4Ph6emJ69evG+y/fv06ypUrZ/I6EydOxEsvvYRXX30VAFCnTh2kp6dj4MCBGD9+PDw8cseBvr6+8PX1tf8DcCBPTyAwEEhNFYFT2bKGl82dKyoQjHHtJiIiKvQ+/BD480/gyBHg+nXxbWFysvmuSNawdp2I7MRlGScfHx80aNAA27Zt0+7LycnBtm3b0NhMO9H79+/nCo48/4sQNHn9h1pAhYSIrZzvqk+u/2e8xl5EhNjPNuREVNRER0dj2rRpuHjxoquHQvlx+zbw+efi9P37okPe3LnivLlSC2tYu05EduLSUr1Ro0Zh8eLF+Oqrr3D8+HEMGjQI6enp6N+/PwCgT58+GDdunPb49u3bY+HChfjuu++QlJSELVu2YOLEiWjfvr02gHIXffqI7aRJuec5ASI4euYZ3fklS3RrN6nV4r1m5UrXdWUlInKmESNGID4+HpUqVcIzzzyD7777DhkZGa4eFtlq/nwRMEnr1um+LSxf3vDYiAjdivGmsHadiOzMpYFTjx49MHPmTEyaNAn16tVDYmIiNm3apG0YcfHiRVzVS7FPmDABo0ePxoQJE1CrVi288soraN26NT777DNXPQSHGTUKCA0Fzp0DTD289HRg/XrdeZVKlOcZrxHIrqxEVBSMGDECiYmJ2LdvH2rWrIk33ngDYWFhGDp0KA4ePOjq4ZES6enAJ5+I0/+V5OOnn8S3f3FxwPnzwPbtwIoVYnv+PDB0qOnbYu06ETmASuNuNW5WpKamIigoCCkpKQgMDHT1cCxatAgYNEisp3f2rJj3JK1cKQIjacgQ4Omnxdwn49+ofP9gGR8RuZqz/gdnZWVhwYIFGDNmDLKyslCnTh0MGzYM/fv3hyqvJV8OVJjemxxm3jxg2DCgUiXg2DGgXDkgJQXYtQto2tT0dT78EBgzBvD3Bx480O2PjBRBE9/0iMgKW/7/FqquekXNK68A1aoBt24BM2caXrZypdhWry62+/dbXyOQXVmJyN1lZWVh9erV6NChA0aPHo3HHnsMX3zxBbp06YL//e9/eOGFF1w9RDIlK0v3RvfWW4CfH/Dcc+L8vHnma88PHxbb8eMNs1Gydp2IyI4YOBVg3t7AjBni9KxZwJUr4vSdO8CmTeL0Bx+IbWKi9TUCL10S7z8MnojI3Rw8eNCgPO+RRx7B0aNHsWvXLvTv3x8TJ07E1q1b8cMPPyi6vfnz5yM6Ohp+fn5o1KiRduF1U2JjY6FSqXL9PCc/+JNOt25AvXriDUnfwoXAxYuijWzfvmKfbOqwapX52vPERLF99FEgNhbo1UtsWZ5HRA7AwKmA69xZLGdx/z7w7LOiq+rateLLuZgYoH17UcJnqoGEKSNHcs4TEbmfhg0b4vTp01i4cCGSk5Mxc+ZM1KhRw+CYihUromfPnlZva9WqVRg1ahQmT56MgwcPIiYmBq1bt8aNGzdMHh8fH4+rV69qf44ePQpPT09069bNLo/NbaSliZrxw4dFd6ObN8X+NWvEmxMAjB0ryu7i48U3hsaSk0VNeny8KM07cULsr1fPKQ+BiIo2znEqBE6eFPOXrlwBqlQRgdLBg8D774vS7qefFpUJSnHOExG5iqP+B1+4cAFRUVF2ua1GjRqhYcOG+PTTTwGIpTIiIyPxxhtvYOzYsVavP2fOHEyaNAlXr15FsWLFFN1nYXxvstmRI0Ddurrzjz4KjBsnsklZWcCAAaIbUk6O+IbPXBmFSiU66q1eDTRuLNbvuH497+3KiahI4xwnN1O9ulj4PDoaOHNGBE0AIL84bdBAbIsVU/a+wTlPRORubty4gT///DPX/j///BN//fWX4tvJzMzEgQMH0KpVK+0+Dw8PtGrVCnv37lV0G0uWLEHPnj0tBk0ZGRlITU01+HF7586JbVSUCHYOHhSle1lZQPfuolxPpRJveEpqz9euFefr1WPQREROwcCpkKhUSbyXVKsmzjdtKt57AOCxx8RWloMrDZ4uXRK3SURU2A0ZMgSXjOfNAEhOTsaQIUMU386tW7egVqu1y2JIoaGhuHbtmtXr79u3D0ePHsWrsp22GTNmzEBQUJD2JzIyUvEYCy0ZODVqBGzerGsV26YN8M03unlJesuQWCQbQ8TE2HecRERmMHAqRCIiRKAzbpz4Yk6SGadLl0TjIeM1Ai1R+v5ERFSQ/fPPP3j00Udz7a9fvz7++ecfp41jyZIlqFOnDh5//HGLx40bNw4pKSnaH1NBn9uRgVOlSkD9+sDu3WLdprVrAR8f3XFlyyq7PfkGVr++fcdJRGQGA6dCpmxZYPp0oE4d3b7KlYGgICAjQ2Skzp8HPv5Y2e3JLBURUWHm6+uL69ev59p/9epVeHl5Kb6d4OBgeHp65rqt69evo1y5chavm56eju+++w6vvPKKovEGBgYa/Li9s2fFtlIlsa1dG3jjDSAgQHdMfLyuq545co7T+fPiPDNOROQkDJzcgEqlyzodOCCqHd54Q7yvmCvbU6nE+oDNmjlvnEREjvLss89qszjSvXv38L///Q/PPPOM4tvx8fFBgwYNsG3bNu2+nJwcbNu2DY0bN7Z43e+//x4ZGRl48cUXbX8ARYHMOFWubPry+HjRMS852fxtyDe1sWNFlz5fX92ChkREDsbAyU3IeU5yDrSnJzB3rjhtHDzJ83PmcKkLInIPM2fOxKVLlxAVFYUWLVqgRYsWqFixIq5du4ZZptpaWzBq1CgsXrwYX331FY4fP45BgwYhPT0d/fv3BwD06dMH48aNy3W9JUuWoFOnTihTpoxdHpNbyckRi9ICuoyTPrXa/Cru+sqXFy1hZfavTh3AhowiEVF+8L+Nm5CB04EDun1xceL9ZfhwwwZFEREiaGIrciJyF+XLl8fff/+N5cuX4/Dhw/D390f//v3Rq1cveHt723RbPXr0wM2bNzFp0iRcu3YN9erVw6ZNm7QNIy5evAgPD8PvHU+ePIldu3bh119/tdtjcitXrogFB728xJuQsYQEy530pMWLRTOJiRPFea7fREROxMDJTchSvcOHxVwnX19xPi4O6NhRNJW4elXMaWrWjJkmInI/xYoVw8CBA+1yW0OHDsXQoUNNXpaQkJBrX/Xq1VHElkW0jX4rcuMMUXy8WMNJiUOHROCUmCjOc34TETkRAyc3UbEiULIkcO8ecPy44Zdwnp5AbKxrxkVE5Ez//PMPLl68iMzMTIP9HTp0cNGICIBhRz19cl6T0qBTzmGTgRMzTkTkRHkKnC5dugSVSoWI/9Lt+/btw4oVK1CrVi27fdtHtlGpRIOiXbuAY8f4XkJERcu5c+fQuXNnHDlyBCqVSpv9Uf03qVPN1b5dy1TgpHRek74HD4Dbt3VlfXXr2m+MRERW5Kk5RO/evbF9+3YAwLVr1/DMM89g3759GD9+PKZNm2bXAZJyjzwitseOuXYcRETONnz4cFSsWBE3btxAQEAAjh07hh07duCxxx4zWVpHTmbcihwQNeRK5jXp+/tv3cK3lSvrFtElInKCPAVOR48e1S7ut3r1atSuXRt79uzB8uXLsWzZMnuOj2zAwImIiqq9e/di2rRpCA4OhoeHBzw8PPDkk09ixowZGDZsmKuHR6ZakStdgb1MGeCjj8TpxEQxzwng/CYicro8BU5ZWVnw/a/7wNatW7W14zVq1MBVpf8Iye5q1RJbBk5EVNSo1WqUKFECgFjE9sqVKwCAqKgonDx50pVDI8B0qZ7SFdhXrRKLE3p5iYm8P/0k9rMmnYicLE+B0yOPPIJFixZh586d2LJlC9q0aQMAuHLlCtevcCGZcTp3TpSBm6JWi66vK1eKLcv+icgd1K5dG4f/K+Fq1KgRPvzwQ+zevRvTpk1DJVPrBpHzpKUBN26I0/q/i2bNlK3UHhsrWsXKbwd//11sGTgRkZPlKXD64IMP8NlnnyE2Nha9evVCzH/p8vXr12tL+Mj5QkOB0qXFPNsTJ3JfHh8PREcDLVoAvXuLbXS02E9EVJhNmDABOTk5AIBp06YhKSkJzZo1w8aNG/HJJ5+4eHRFnFz4tnRpIChIt9/WldqNAyUGTkTkZHnqqhcbG4tbt24hNTUVpUqV0u4fOHAgAgIC7DY4so1KJbJOO3eKcr369XWXmev4evky0KULMHUqMH4813ciosKpdevW2tNVqlTBiRMncOfOHZQqVUrbWY9cxFwrcsC2ldr15zSVKmV6IV0iIgfKU8bpwYMHyMjI0AZNFy5cwJw5c3Dy5EmULVvWrgMk25hqEKGk4+vkycw+EVHhlJWVBS8vLxw9etRgf+nSpRk0FQSWAidABEfnzwPbtwMrVohtUpJh0AQYZpjq1TNf4kdE5CB5yjh17NgRcXFxeP3113Hv3j00atQI3t7euHXrFmbPno1BgwbZe5ykkKnASWnH18uXRVZqzZrc71dERAWVt7c3KlSowLWanOHOHcDfX/woZaoVuTElK7XrZ5xYpkdELpCnjNPBgwfRrFkzAMCaNWsQGhqKCxcu4Ouvv2YtuYuZCpxsbXQ4YgSbRhBR4TJ+/Hj873//w507d1w9FPeVkgJUrCiaOtjCWsZJqTJlRLMIgIETEblEnjJO9+/f17Z9/fXXXxEXFwcPDw888cQTuHDhgl0HSLaRgVNSEnD/PhAQoLzjKyDK+S5dEh33WrZ0yBCJiOzu008/xZkzZxAeHo6oqCgUK1bM4PKDBw+6aGRu5NQpIDUVOHBAbJUuPmtqDae8Gj8eWLsW6Ngx/7dFRGSjPAVOVapUwbp169C5c2ds3rwZI0eOBADcuHEDgVzF26VCQsSXcrdvi856jz6q6/ianGx5npO+7t2BxYtZskdEhUOnTp1cPQT3d/Om7vTJk0DDhtavk5Oj66oXFSW+lbt6VXyj16yZ7R2JXntN/BARuUCeAqdJkyahd+/eGDlyJJ5++mk0btwYgMg+1ddv5UZOJzvr7dghyvUefVTX8bVrV+W3c+cO5zsRUeExefJkVw/B/cm1mADxzZySwOnKFSAzU7wRNW8uvsGTIiLEmxPfZIiokMjTHKeuXbvi4sWL+Ouvv7B582bt/pYtW+Ljjz+22+Aob0zNc5IdX8uXt+22ON+JiIgAGAZOJ08qu47sdKhWGwZNgDjftSvbuRJRoZGnwAkAypUrh/r16+PKlSu4/F/Ltscffxw1atSw2+Aob0wFToAIni5cEGs2KSHnO+3cad/xERHZm4eHBzw9Pc3+kB0YZ5yU2LHD/GWydpzf0BFRIZGnUr2cnBy8++67mDVrFtLS0gAAJUqUwOjRozF+/Hh4eOQ5HiM7MBc4AaJaYtIkoHZtYMAAUZJnja1d+YiInO2HH34wOJ+VlYVDhw7hq6++wlSl3xaRZfpznJQGTr/8YvlydiQiokIkT4HT+PHjsWTJErz//vto2rQpAGDXrl2YMmUKHj58iPfee8+ugyTb6HfWS08HjJpLYdUqoFYtYPVqoFUr67dnS1c+IiJX6Giiy1rXrl3xyCOPYNWqVXjllVdcMCo3o59xOn0ayM4GvCx8jMjMBP75R9ltsyMRERUCeUoNffXVV/jiiy8waNAg1K1bF3Xr1sXgwYOxePFiLFu2zM5DJFuFhIgfADh+3PCy/fuBnj2Bl14Saw1GRJhffF2lEktm2LpkhykPHwJZWfm/HSIiWzzxxBPYtm2bq4fhHvQDp8xM4Px5y8cfOiSOU0J2JOJ8JyIqwPIUON25c8fkXKYaNWpw8cECQmad5Lxc6c8/xTYpSddtD8gdPMnzc+bY3i3W2P37YvmOp57K3+0QEdniwYMH+OSTT1De1q44ZJoMnGSWyVqDiF27xNbPz/w3dMY434mICrA8BU4xMTH49NNPc+3/9NNPUbdu3XwPivJPLqpuvOZjYqLYpqaKLJC5bnsREfZrRX7ihOhI+8cffD8kIscoVaoUSpcurf0pVaoUSpQogaVLl+Kjjz5y9fAKP41GN8epQQOxtTbPafduse3WTfl9sCMRERVgeZrj9OGHH+K5557D1q1btWs47d27F5cuXcLGjRvtOkDKG/m+Zi5wAoDr18V6hHFxYhH2nTvzty6hORcu6E6npgKlStnndomIpI8//hgqvayGh4cHQkJC0KhRI5TiP538+/dfICNDnG7WTJQvWAqcNBpdxun114FOndiRiIgKvTwFTs2bN8epU6cwf/58nPjvH2dcXBwGDhyId999F83sMSmG8uXRR8X20CGR5fH0FPN49Uv3ZOAEiMtjY63frlpte4B18aLu9L17DJyIyP769evn6iG4N1mmV7w4IBe6txQ4nT4tMlS+vuKbPF9fICiIHYmIqFDLU+AEAOHh4bm65x0+fBhLlizB559/nu+BUf5Ury666aWnizL0WrXEVn5hCIjAyRbx8cDw4cB/y3YBULbwu37G6d492+6TiEiJL7/8EsWLF0c3o7Kw77//Hvfv30ffvn1dNDI3IQOnkBBAznG2FDjJMr2GDUXQBOg6EiUn69Zw0qdSicv55SsRFVBccMlNeXrq5jkdOCC2+mV6gG2BU3y8aHikHzQByhZ+N844ERHZ24wZMxAcHJxrf9myZTF9+nQXjMjNyPlNZcsC1aqJ07duAbdvmz5eluk1aSLWaFq5UpQrfPyx2O/IjkRERA7CwMmNyXlOMnA6fNjwcqWBk1otMk2mviBUsvA7M05E5GgXL15ExYoVc+2PiorCRf1vbyhvZMapbFlRrhcZKc6b66wnA6clS4AWLYDevcV25EjgzTcd25GIiMhB8lyqRwWfceAkM04hIeLLQ/0lOYzdugW88w4gP4cYZ5r06TdCMjVPyt4Zpz/+AJYvB959V5TMExGVLVsWf//9N6Kjow32Hz58GGXKlHHNoNyJfqkeIMr1Ll0S5XpNmhgee/MmcOqUOG2ckUpOBmbOFCuxh4Q4piMREZGD2BQ4xVn5Juge0wkFigycZIMIGTg98wywYoX5jFN8PNCvn2iiZAtTjZAePDAM0OzxJzJxIrB1q2iA0b9//m+PiAq/Xr16YdiwYShRogSe+m/RuN9//x3Dhw9Hz549XTw6N6BfqgeIwGnLFt08p2XLgI8+EhNpHz40fzsajSjLGz1at6AgEVEhYVPgFGTl6/2goCD06dMnXwMi+6lRAwgIEA0ifv9dvO95eAAtW5oPnORcJlNledaYaoR06ZLheXsETvJ9mh1riUh65513cP78ebRs2RJe/y3QmpOTgz59+nCOkz3ol+oBogMRIP4hf/ONbd9iWStTICIqoGwKnL788ktHjYMcQDaI2LMHWLpU7KteXdeC3DhwsjSXyRJLjZCMpxbkN3C6f19XNmip1JCIihYfHx+sWrUK7777LhITE+Hv7486deogSv7Do/wxDpxkZ72EBECu3zh4sJi79P77ykoW+O0XERUynOPk5ho0EIHT2rXifL16QGioOG0cOO3caXkukynWGiHpN4YA8h84nT2rO83AiYiMVa1aFVWrVnX1MNyPqTlOgC5A6ttXNH/o3l35t29cr4mIChl21XNzciFcWXIeE6MLnO7cAbKydMfm5cs/a42QZMbJ21ts8xs4yfnGAAMnItLp0qULPvjgg1z7P/zww1xrO1EeGM9xCg8HAgPF6c6dgc8+Ex3zlARNKpXoysf1moiokGHg5OZkgwipXj2gTBlddkg/+LD1y7+pU8XcXks9Q2TgVKuW2OY3cDp9WneagRMRSTt27EC7du1y7W/bti127NjhghG5kZyc3IGTSgUsWgSMGSMmze7da1vJAtdrIqJCiIGTm6tZE/D3152vV080iJDVFvrBR7NmIoOkhEoFfPGF9eNkqV5MjNgycCIiR0hLS4OPj0+u/d7e3khNTXXBiNzI3bu6hfr0Fxnu1UvMZ/LzU16yUKYM12siokKLgZOb8/LSBS2hoboyPVPznDw9gblzld2uflMkS2TGqW5dsbVn4HTzpvlFd4moaKlTpw5WrVqVa/93332HWjLlTXkjv6UqWRIwEZwCUF6ysGoVgyYiKrTYHKIIaNBALBpbr55un7kGEXFxQLt2uiZJ1lj6kjEnR9eO3F4ZJ/05Tjk5Yp6WzJ4RUdE1ceJExMXF4ezZs3j66acBANu2bcOKFSuwZs0aF4+ukDMu0zNFliwkJ5ue5yTbr7L9OBEVYsw4FQH9+wPR0cCAAbp95gInwLayc0tfMl6/DmRmitJA+YVvamres0Spqbrx+vmJrTPL9XJynHdfRGSb9u3bY926dThz5gwGDx6M0aNHIzk5Gb/99huqVKni6uEVbsYd9Yyp1aL8QC4CKNutStbarxIRFRIMnIqABg1EE4cuXXT75BeHpgKnpCSxDQ7O/f4nKWmKJMv0ypcXZe1SXqcbnDkjtiEhIhAEnBc4LV8OlCoFbN3qnPsjIts999xz2L17N9LT03Hu3Dl0794db775JmJkypvyxngNJ33x8eIfcosWIjACxLdl+qy1XyUiKiQYOBVR5jJOGo0ucJo8WWzNBU/WvjyUjSGiogBfX12TiryW68n5TdWq6cbvrMBpyxYR8P3+u3Puj4jyZseOHejbty/Cw8Mxa9YsPP300/jjjz9cPazCzVSpnloNTJsmvpEz7qYnywpGjAC2b7fefpWIqJDgHKciylzgdPMmkJ4ugqUBA8RSHcOHG74vli0LLFxo/X1QZpwqVBDbkiWBBw/yHjjJ+U1Vq4oxAs4LnOQaj2lpzrk/IlLu2rVrWLZsGZYsWYLU1FR0794dGRkZWLduHRtD2INxxik+Hhg2TMxnMkelEiuvz5zJ8jwichvMOBVR5jI2MtsUHi6yRHFxwPnz4kvDatXEZR9/LPar1UBCArBypdgaz13SzzgBInAC8p9xqlpV9/7NwImoaGvfvj2qV6+Ov//+G3PmzMGVK1cwb948Vw/LvejPcYqPF3OZLAVNgPLWq0REhQgzTkWUuYyTDJwqVtTt8/QUjZCeeEJkfZKSxHuncSYqOBh48UWgY0cx98lUxgmwT+CUnS1OOztwkpkuIioYfvnlFwwbNgyDBg1C1apVXT0c9yT/0QYHi3/8prrmmaN0fSciokKAGaciSgZOxmshmQqcpMqVxfa338QXjsZl7bduiXlPLVqIucJ//y32OzLjZKq5hSMw40RUMO3atQv//vsvGjRogEaNGuHTTz/FrVu3XD0s9yLnOF27lvsfvzVK13ciIioEXB44zZ8/H9HR0fDz80OjRo2wb98+i8ffu3cPQ4YMQVhYGHx9fVGtWjVsVLroEGmFhIgS9Jwc4PZt3X5LgZPs6Ltrl/UvHJOTRYkfYJ+M0507unFWqcJSPSISnnjiCSxevBhXr17Fa6+9hu+++w7h4eHIycnBli1b8K988VLeyX+0WVnKr6Ok9SoRUSHj0sBp1apVGDVqFCZPnoyDBw8iJiYGrVu3xg0zn4YzMzPxzDPP4Pz581izZg1OnjyJxYsXo3z58k4eeeHn5aVrEa6ftZGBU6VKua8jM06ZmdZvXz+wkr+e/AROMtsUHg4UL+66wImlekQFU7FixfDyyy9j165dOHLkCEaPHo33338fZcuWRYcOHVw9vILv0CFg2bLc34plZ+u+tbK1FJLrNhGRm3Fp4DR79mwMGDAA/fv3R61atbBo0SIEBARg6dKlJo9funQp7ty5g3Xr1qFp06aIjo5G8+bNuUZHHpma56SkVM9WiYlia4/ASb5vO7MduUbDjBNRYVK9enV8+OGHuHz5MlauXOnq4RQOr7wiVkuX/7AlWfaoUgHPPSfWZDK3RoXEdZuIyE25LHDKzMzEgQMH0KpVK91gPDzQqlUr7N271+R11q9fj8aNG2PIkCEIDQ1F7dq1MX36dKiN27npycjIQGpqqsEPCcbzhNRqXSc8U4FTmTJAsWK234+cG2zPwEmO/d9/RYtzR8rI0DWjYOBEVHh4enqiU6dOWL9+vauHUvDJAMl4DpOc3xQcDPj4AHPnivPmgqepU0WdNoMmInJDLgucbt26BbVajVCZOvhPaGgorl27ZvI6586dw5o1a6BWq7Fx40ZMnDgRs2bNwrvvvmv2fmbMmIGgoCDtT2RkpF0fR2FmnLW5fFkECN7eoiTOmEqla0luCzk3WAZOKSm234b+Gk4AEBgo3sMB3fu6o+hPkWDgRERu6eFDsb1713C/fityQAREa9boarClyEixbtOkSSzPIyK35fLmELbIyclB2bJl8fnnn6NBgwbo0aMHxo8fj0WLFpm9zrhx45CSkqL9uXTpkhNHXLAZl+rJMr2oKPPve7aW6wUF6eYG2yPjJAM3lcp585z0AyfOcSIit2QtcJL/cAHDBf5WrBDbpCRmmYjI7blsHafg4GB4enriulE/6evXr6NcuXImrxMWFgZvb2946n2qr1mzJq5du4bMzEz4yBSEHl9fX/j6+tp38G7CXOBkqkxPkoFTuXKiM601I0eKbUKCmHsM5C1wOntWbGVnP0C8j1++7PiW5PqBU0aGaCzl7e3Y+yQicipzgZMs4QsONtwvF/gjIipCXJZx8vHxQYMGDbBt2zbtvpycHGzbtg2NGzc2eZ2mTZvizJkzyMnJ0e47deoUwsLCTAZNZFl+AicZNOlNUTOpUiWxplOLFsD774t9R4+KBXSVysrSBVv6MbUrMk4As05E5GZycnStxo0Dpzt3xFa2YSUiKsJcWqo3atQoLF68GF999RWOHz+OQYMGIT09Hf379wcA9OnTB+PGjdMeP2jQINy5cwfDhw/HqVOnsGHDBkyfPh1Dhgxx1UMo1IwDp3PnxFZJ4ASIuUs//ACUKiXOL1okqjZkgBQeDvTtm3uusVotFtBVGjzpv4/Lcj+AgRMRkV1kZOhOmwucSpd23niIiAoolwZOPXr0wMyZMzFp0iTUq1cPiYmJ2LRpk7ZhxMWLF3FVtmQDEBkZic2bN2P//v2oW7cuhg0bhuHDh2Ps2LGuegiFmgycrl4FpkwBvvtOnK9Rw/x19Evl3ntPrKn02GPivEYD9Oqlq/i4d8/8QrkaDTBihAiirJHv2yVLivWnjMfv7MCJDSKIyK3If9pA7sBJruHEwImIyHVznKShQ4di6NChJi9LSEjIta9x48b4448/HDyqokE/cJo6VZzu3Rto3978dSIjRRZJrQb69BH7Hn8c2LIF2LcPeP11YP9+sf/+fcv3f+kSsHOn9TJ5c+/brso4MXAiIreiJONUpoz4x79zp3jTCAsTnX/YQY+IihCXB07kOvpNkkqWBBYuBHr2tHwdlUosLq+vYUOx3b9fZJJ27VI+Br2EolnmSuwZOBER2YGljJP8B3zypJiwql97HREh1nViNz0iKiIKVTtysi9fX2DMGFFed+SI9aDJHBk4/fMPMG+ebes0yTWeLCloGSfOcSIit6KkVO+DD3JPWE1Otm3CKhFRIceMUxEnGznkR3i4+LlyBRg/Xvn1IiN1azxZwowTEZEDKSnVM0WjEWUII0YAHTuybI+I3B4zTmQXMutkS1AxZ46y91klGSe9DvV2x8CJqOiZP38+oqOj4efnh0aNGmHfvn0Wj7937x6GDBmCsLAw+Pr6olq1ati4caOTRptP+hmnhw+BBw/E6Zyc3IGUMY1GN2GViMjNMXAiu3j8cduOHzJEeVm8uYxTSIjYZmfnbVFdpViqR1S0rFq1CqNGjcLkyZNx8OBBxMTEoHXr1rhhJr2dmZmJZ555BufPn8eaNWtw8uRJLF68GOXLl3fyyPNIP3ACdMGSpdaoxpRMWCUiKuRYqkd2ITNOSum3NbfGXMbJ1xcIChJzqm7ccFy3XBk4qVTiMwQzTkTubfbs2RgwYIB2TcFFixZhw4YNWLp0qcnlL5YuXYo7d+5gz5498Pb2BgBER0c7c8j5YypwCg+3XKZnTMmEVSKiQo4ZJ7ILuZaTJSoVUKyYOG1LhsjSwvXOWMtJBk7BwWLLwInIfWVmZuLAgQNo1aqVdp+HhwdatWqFvXv3mrzO+vXr0bhxYwwZMgShoaGoXbs2pk+fDrWFheoyMjKQmppq8OMy+nOcAF3GSX5r5ekp/oGbolIpn7BKRFTIMXAiuyhVyjCLZPweK8+3bi22tgROltZfdEaDCBk4yS9UWapH5L5u3boFtVqtXYhdCg0NxbVr10xe59y5c1izZg3UajU2btyIiRMnYtasWXj33XfN3s+MGTMQFBSk/YmMjLTr47CJuVI9+a1VhQpia+4fu9IJq0REhRwDJ7IbOc/p+ecB49L+iAhgzRqgUSNx/t49sZZiQgKwcqXYmvty1lLGyRWBEzNORKQvJycHZcuWxeeff44GDRqgR48eGD9+PBYtWmT2OuPGjUNKSor259KlS04csRFrgVOlSuIfuLl/7FzHiYiKCM5xIruZPBnw9wfeeUcENKYWmJefI3buFPtv3tRd39xaigUl41SunNgycCJyX8HBwfD09MT169cN9l+/fh3l5D8BI2FhYfD29oanXtalZs2auHbtGjIzM+Hj45PrOr6+vvD19bXv4PPKWqle6dLiH3PHjqb/sRMRFRHMOJHdVKsGfPGFeD/19ARiY8XiurGx4nx8vG6dp3PnDIMmwPRaihkZutI4SxmnCxfs/Wh05NQDZpyI3J+Pjw8aNGiAbdu2affl5ORg27ZtaNy4scnrNG3aFGfOnEGO3roIp06dQlhYmMmgqcCxlnGS/3xN/WMnIipCGDiRU8THi6DI2lqKgFhLUZbtyeM9PEQHPWNNm4rtunW6pUfsKSdHFyhxjhNR0TBq1CgsXrwYX331FY4fP45BgwYhPT1d22WvT58+GDdunPb4QYMG4c6dOxg+fDhOnTqFDRs2YPr06RgyZIirHoJtrAVO//5rvaaaiKgIYKkeOZxaDQwfrmw5EP21FGNjde/bpUqJ4MlYq1Zi3vLFi8APPwC9e9t16AZBEjNOREVDjx49cPPmTUyaNAnXrl1DvXr1sGnTJm3DiIsXL8JD7x9SZGQkNm/ejJEjR6Ju3booX748hg8fjjFjxrjqIdjGXKleYqLYLl8ufgDzNdVEREUAAydyuJ07gcuXbbuOXEvR0vwmQARTL78MTJkiygTtHTjJ+U0eHroFdxk4Ebm/oUOHYujQoSYvS0hIyLWvcePG+OOPPxw8KgeRGSd/f5G6v3tXlAns3Jn7WFlTzaYQRFQEsVSPHC4vC8rL7I5xib2pTnz9+4uuuNu3A2fP2mPEOjJwKl4cKFFCnGapHhG5FRk46f/jHT7c9LGmaqqJiIoIBk7kcLYuKF+6tG4tRf2MU3w8EB0NtGghMkstWojzf/0FPPusOG7pUnuNWpCBU4kSusV7mXEiIrciAyfZNTA52XKZgH5NNRFREcLAiRyuWTNRFm9u4Xlj5cvrmjXJjFN6uqgOMX4vl1UjdeqI819+CWRn22fcgGHgVLy4OM3AiYjcipzjJL/lkt9YWZOXcgIiokKMgRM5nKenmEsMWA6eZGtx/cBEvn8fOGC6uYTc9913QHCweB//5Zf8j1kyFThlZQGZmfa7DyIil5IZp/v3xVbpt0O2lhMQERVyDJzIKeLiTC88HxIiSuW3bxcld4DokJeVJU7LjJOl93GNRmSiWrQQ55cssd+4TZXqAZznRERuRAZOSr91UqmAyEhdTTURURHBrnrkNNYWns/KAnx8RDbn+++BHj2UV4wAolzv+++BvXvtN2b9wMnbWze+tDTRIp2IqNAzXsfJElk2MGcOF8AloiKHGSdyKnMLz8fHA5Uq6UrgXnhBNH44eVL5bdevL7Y3bugCnvzSD5wAznOiwmH5cuD33109Cio0rl1TfmxEBFuRE1GRxcCJXC4+3nzjh2PHxOngYPPzo2TVSNu2urbl587ZZ2zmAieW6lFBdekS8OKL4ssHIkWUfhM0YQKQlMSgiYiKLAZO5FJqtVguxFLjBwB4802xNQ6ejKtGKlUS5x0VOLElORV0t24ZbonspmVLlucRUZHGwIlcaudOy8uFSBUqmG4uYVw1Urmy2NprIVyW6lFhIxujZWRwfVJSyMfH8uVsBkFEBIDNIcjFlC4Dcv++mBdlqbkE4LjAKTBQbBk4UUEnAydAzPnX7wZJZJKS5hBsBkFExMCJXEvpMiBRUWIrm0uY4+iMk/wQyjlOVFDpB04PHjBwIgVk4PT++8A77xj+gwsMFCuLc14TERFL9ci1mjUT5XaWFsYFgP79RRMJa1iqR0Wd/mfeBw9cNw4qRDIyxLZtW2DoUMPLJk1i0ERE9B8GTuRSnp7A3LnitKXgKTlZdN6zFjzJwOnCBd0iuvnBwIkKG/2Mk/5pIrNkxsnPT9eaVAoOdv54iIgKKAZO5HJxcaLBQ3i4+WNkh70RIwwnvKvVQEICsHKl2JYtK9771WrRljm/XN2O3FS3QSJLjEv1iKySgZOvb+6VvUuXdv54iIgKKAZOVCDExQFffWX5GI1GBEM7d4rz8fFikdwWLYDevcW2UiXdF6T2KNdzZTvy7dvFl7/ffuv4+yL3wcCJbKLR6Er1/PxyB07GGSgioiKMgRMVGDduKDvu6lXLi+bKfY4InJxZqrd5M3D3rsimESnFwIlskpmpO20qcGLGiYhIi131qMBQ2mGvbFmgXz/ri+aePp2/8WRn6ypYXBE4Xbsmtn//7fj7IvfBwIlsot+K3FSpHjNORERazDhRgSE77Jkj12AElC2au39//sYjs02Aa9qRX78utpcvA3fuOP7+yD2wOQQZ2L0baNAA2LXL9OWyTA8wHTgZnyciKsIYOFGBod9hz5jsuDdnjvKSvgsX8jceGTj5+IgfwDUZJ4BZJ1KOGScysHo1cPAgMGyY6TS9fmMIlcowUAoMBLxYmEJEJDFwogIlLg74/vvc+yMiROe9uDjlJX03buSvK53x/CbAuYGTzDgBwOHDjr8/cg9cx4kMyMDo0CFgyxbzl3t5iQmVBw4AHv99NGCZHhGRAQZOVOB07QrUqqU7P2sWkJSkW4NR6aK5Dx8CN2/mfRyWAidHl+rl5Bhm1phxIqWYcSID+qV4H3yQ+/Kffxbb9HTRnrRlS91lbAxBRGSAgRMVSJUq6U4//bQo45MsLZqrUokfe7QkNxU4Oasd+e3bhutVMeNESnGOExnQD5x++81w8md8PDB6dO7r5OSIbXa2Y8dGRFTIMHCiAkk/cDJVLSIXzS1f3nC/LOmrXVuct3fg5KxSPTm/SQaGx47xMwwpw4wTGZCBU0CA2Mqsk1oNDB9u+bqnTxt+g0NEVMQxcKICST9wCgoCEhJE+X1Cgu59PC4OOH9eLBS7YoXYypK+ypXFMWfPinlO48cDjzwCXLmifAzWAqf8zJ+yRs5vqlFDZLkePgTOnHHc/bna5cuGXZEp7xg4kQEZOA0eLLbx8cCpU2IlcWvtSe/f1604TkREDJyoYJKBk7e3mO/UooUov2/RAoiOFu/9gCjbi40FevUSW1nSpx84zZ4NTJ8O/POPrpxfCUulemq14bqR9iYzTmFhQJ064rS7luudOQNERQHdurl6JO6BgRMZkIFT/fpA+/biG5/Zs8VK4kooPY6IqAhg4EQFUt26orFTVhaQnGx4WXKyaCAhgydTZOC0cSPw1lu6/ceOKR+DpcAJcGy5nsw4lSsnngvAfRtEHDggplQcOODqkbgHBk5kQAZOvr5A377i9MGDytuTKj2OiKgIYOBEBVJEhPlOuLJEbsQI8+X3MnC6fVscX7WqOH/0qPIxmAqcvLwAPz9x2pGBk8w4hYYCMTHitLtmnGS10PXrnE5hD2wOQQb0AyfZNefff62vOA6IFcebNXPs+IiIChEGTlQg7dxpuZW4RgNcumS+/F4GTgDQrh3w9dfidH4DJ0CXdXJkS/KilHG6dElsc3KAW7dcO5bCTqPhOk5kRD9wCgwUp1NSrK84rlKJFcf1W5oSERVxDJyoQMpv+X3JksDAgUCHDsDy5cDdu2L/jRu6bI415gInZ3TW0884yTlOly4Bd+447j5dRX9+OqdT5E9WlmHWjoETmQycUlPFNi4OePXV3NfRX3GciIi0vFw9ACJT8lJ+r1aLDNTVq2L/ggXAjz+KwEP/w3mdOsBnn1n/TODKwEk/4xQUJBpinD8PHDkCNG/uuPt1BZlxAsTvrl49lw2l0DMuzWPgRCYDp/R08Q/T01O07gSAZ54B+vcX/zybNWOmiYjIBAZOVCDJ8vvkZNNtv1Uqcbksv4+PF0uS6AdIZcqIOU7Gbt0SzSWsfaFaUDJOgJjndP68mOfkboGT/u9MaTaQTGPgRLmYCpwA8Q+uZEndOgAVKoj2pEREZBZL9ahA0i+/l4vASvK8LL+PjxeBkPGSJKaCJn2WmksArpvjpFbr5vqUKye27jrPKSvLsDyPpXr5Yxw4sTkEGQROvr6Aj484L8v15OWy6w0REZnFwIkKrLg4kRUqX95wv375vVotMk22LkYrm0vMm2c+eJLBS1CQ4X5HZ5xu3hSNElQqXRMsdw2crl41/N0x45Q/zDhRLvqBE5B7npPMODFwIiKyioETFWhxcaJEbft2YMUKsU1K0pXY7dyZO9Nki5EjDRfUlW7fFguzArrmDJKjAyc5vykkRLQ/B4CKFcXWeE2rwk5/fhPAjFN+MXCiXBg4ERHZDQMnKvA8PYHYWFF+HxtrOGfZHh+0TS2o+8cfYlu9ui7rI1kq1Rs1CnjssfyVSBnPbwJEEAX8v707D4+qvNsHfk8mO5CEEAhLAkFFAVFAEATlVUoqqEVpwAVRI1X8qWBBXjeqgtjXQtUi1lpQKmqrLC4Rl1ZcIigoAoLghrixKJCENQlbgJnz++PpM2eZc2bOzJxZkrk/15Vr9pkzE8g593yf5/uIalSo1bVEZgy9DE6Rkf/u5DEyg1OS83qBEyfEeavgZAxWRERkicGJGjUnFrU3W1D344/F6cCB/ve3qjgpCjBvHrBuHfDZZ+Fvj7ajniTD2/Hj6vFOUyArTh07ilMO1YuMDE5y8WjOcUpyMhQBajCSY49ZcSIiChmDEzVqsvuesYFEqIwL6n7yiTg991z/+1oFp9pa9bpIhg+aVZyys8UPEHhh4MZGfk5nny1OjXOeKDSyCiqD04kTasGBkpBZcOJQPSKisDE4UaOm7b7nhF27RFVnzRpxOVDFyThUb/t29bxx7k4ozCpOgDpcTzataArk5ySD0+HD0W3z3tQZK04Ah+slNW1wSksTpxyqR0QUNgYnavRk9738/Mifq107YMMGcbDZsqWY42Qk5zgZD/C1wcnpihOgn+fUVMjg1LWr2va9scxzWrECWLIk3luhJ4OT9v8Cg1MS04YiWZZnxYmIKGwMTtQklJUBL70U/uNdLqC4WAz9k8P0Bg4EUkz+h8iKk3GukVPBKVjFqSkFJ/k5FRWp77exBKeyMvEjf1+JQAan5s3V42AGpyRmVk1icCIiCltCBKcnn3wSJSUlyMzMRP/+/bFGjpMKYtGiRXC5XBgxYkR0N5AahQsuCG++k3FB3UCNIQB1XSltUDJejkbFSTaIaCrB6dgx9b0WFamNPhpDgwi5SLGiJFbQk8EpOxvIytJfR0koUHCqrQWWL1fXOJAL4xIRkaW4B6fFixdj8uTJmDZtGtavX4+ePXti6NChqKmpCfi4rVu34o477sCgQYNitKWU6LTznYzhyeUSP3feqQ71l7QL6ipK8OB0yini9Kef9Ivnxqri1FTmOMlGEOnp4r3J4KQNItXV4tgu0RpGaOe37d8fv+0wMgtOrDglsUDBaeFCYPBgdcG6ceP8F7QjIiKduAenWbNmYdy4cRg7diy6d++OuXPnIjs7G/Pnz7d8jMfjwZgxYzB9+nScdNJJAZ+/oaEBdXV1uh9quuR8J1kVkmQ4evhhdfHcq67yX1B3+3Zg504Rwvr1M3+N4mJxsH/smD4gaYNTdbW4PVTHj6vBqKkP1ZPzmzp0EEMi5fvVVpyuvVYc28l1tRJFYwhOsgsjg1MSMwtO330nTo3/MPbs8V/QjoiIdOIanI4dO4Z169ahtLTUd11KSgpKS0uxatUqy8c9+OCDaNOmDW644YagrzFjxgzk5ub6foqLix3ZdkpcZWXA1q0iFC1Y4B+OuncXp82a+S+oK+c39e6tHngaud2AzOvyy1pAH5wURQSwUMlQ5HbrO6MBTS84ydAp/0saK04nTqjt4b//PrbbFkyiB6dmzVhxIvgHJ49H/FEMRLugHRER6cQ1OO3ZswcejweFhskchYWFqLKY6LBy5Uo888wzmDdvnq3XmDJlCmpra30/P0fSJ5oaDbdbhKLRo/3DUefO4nTrVv/HBVq/SUsO15PB6cQJdaqAbB4RznA9+c++TRv/xhRNLTjJ/4pFReLU2Bzi66/Veet798Z224JJ1OAkt4tznAiAf3BasSLwfybjgnZERKSTGu8NCEV9fT2uvfZazJs3DwVypnwQGRkZyOD6FKRRUiJOt2zxvy3Y/CZJBidZCdm5E/B6xfyp3r3FcUc4wUnObzI2hgDU5hBNZY6TVcVJhsfPPlPvm2jvOVGDE+c4kY4xONntZJJIHU+IiBJIXINTQUEB3G43qg39fKurq9HWOMEDwI8//oitW7di+PDhvuu8Xi8AIDU1FZs3b8bJJ58c3Y2mRk9WnLZvFyNSZDXq8GFg40Zx3m5wkhUnOUyvuBjo2FGcj6TiZPLPv8lXnIxD9RicQsc5TqRjDE7yP1kwdu9HRJRk4jpULz09HX369EFlZaXvOq/Xi8rKSgwYMMDv/l27dsWXX36JDRs2+H4uvfRSDB48GBs2bOD8JbKlXTtRGdIOrwPEnGmvV8wtkgfzVqyCU8eO6mMDBafPPgO2bfO/PlDFSQangwfVIWyNmbHiJMPinj2iScbatep9GZzsYcWJdIzBadCgwKFIu6AdERH5iftQvcmTJ6O8vBx9+/ZFv379MHv2bBw6dAhjx44FAFx33XXo0KEDZsyYgczMTPTo0UP3+Ly8PADwu57IitsNdOokQs8PP4i24rt2Ad9+K24/9dTgzyGD048/irAVSnB65x1g2DDgzDPVCpcUqOKUmwukporAt3u3GjhizeMRQxF37RLHYIMG6eeQ2WWsOLVqpb6/n38GvvhCvS+Dkz0MTqQjv2GRwcntBv7yF+Dqq60fIxe0IyIiP3EPTldeeSV2796NqVOnoqqqCr169cLSpUt9DSO2b9+OFOMseaIIde4sQtOoUf4HvgcOiLWDAgWCTp3EQf7Ro2J+k1lwMutDcugQcPPN4vzXX+uHCgLWi98C4svgggJxnz17Qg9O77wDZGYC558f2uO0KiqAiRP1obCoSKyfJbsW2nHsmFpdk+9DtiT/5RexrcePq/dncLKHC+CSjlk78quuAq65Rnzjo9WhA/DXv4b2H5mIKMnEPTgBwIQJEzBhwgTT25YvXx7wsc8995zzG0RNnlxQ1eygd9MmsXZQoECQmiqaTMiqld2K09Spajc/jweoqdGPnAlUcQLEcL2qqtDnOdXVAcOHi+3evVu0qw5VRYUImsbFaHfsENfLRYTt2LlTXfxW2+dFBqc33xSX27UTla1E7qq3b1/8tsOIFSfSMQtOLpcoX+/fL6pLkyaJ67ds8V8dnIiIdFjKoaTj8QBr1gS/nwwEVutBauc5mQWnXbv0VZPPPhPHKYB6fGJc68k478co3AYRO3eKbTlyBFi/PrTHAuIzmzjRPzQB6nWhLP+iHaanLSjLEPnBB+J06FBxumeP+WvHS6JXnJo1Y3MIgnlwAkRwAtQ/VmlpDE1ERDYwOFHSWbFCVGCCCRYIrIJTmzbiGERR1ArS8ePAuHFidMzVV4v5TYC+OYWiqMHJqjlFuMFJe/9PPw3tsUDw9uqhLv9i9T5lcJLHe8OGiVOPB6ittb+90aYNTgcOJE6oM1vHicEpiVkFp5wccVpTI04zM2O3TUREjRiDEyWdUJYoCRQIZHBat049qC8uFhWUDh3EZRkQXngB2LAByM8HHntMvV1bcdq7Vz3Oad/efHtkcAp1zo82OK1eHdpjAWeXf/nwQ+DRR8V5Y3AyDlE87zx1QeFEmuekDU4eD1BfH79tkU6cEHPHAM5xov9icCIichSDEyWdcJYo0QYCj0c0j5DVIrlobn6+epBvnOckh/vdfruoSMngpK04yfsWFoq5P2bkfKBQK07y+AgILzg5sfzL99+LCtIFF4jhgpmZYp661ePbtROfUyIu/KsNTkBiDNfTVpZYcSIAwYOT/EPCReKJiGxhcKKkM2iQGlzsatNGnFZUiKYQgwcDjzwirpMHpnLhW0AfnA4fBt5/X1y+9FJxKitKZsEp0BpSZkP1/v53sWBvoDClve2XX/Sva8egQWK7XC7z2+0s/zJ5suiWl5oK3HKLaOWuWcsagL7i1LevOGVwskdbWcrM5BwnAitOREQOY3CipON2i667obj+euCuu0SzCKu5Ptq51dqW5B98INqWd+wInHGGuN5sqF64wenRR4FVq0QosWIMVaFWndxu0WEQ8A9P8nKw5V/kPLDFi0XYMxuOqK04nX22OG3VSpwmUme9RA5O2dnid8KKU2SefPJJlJSUIDMzE/3798eaAB1lnnvuObhcLt1PZiKEEQYnIiJHMThRUiorA846y/79f/lFVJgCNQHYtEltIqGtOMnW2sOHqyHDqYrT/v2iizAAbNtm/Th5fJT63wUIwhmuV1YmWo4bq3VFRWorckUBHn4YWLrU//Fy3aaTTrJ+DW1wYsUpNNrgBDA4RWLx4sWYPHkypk2bhvXr16Nnz54YOnQoarRjXg1ycnKwa9cu38+2QP8hY8XuUD0GJyIiWxicKGmdc444HTNGrWpE4uBBMfcJ0Fec3npLnNcOSzOb46Rt0W3FGCI+/1y9TVZ0zMjjI7n4bTjBCRDhaOtWYNkyYMECcbpli7p+08aNwN13AzfdpH+cx6Nug9nivlJhoTiGS01VK06JGJxkSJFBOJGDE5tDhG7WrFkYN24cxo4di+7du2Pu3LnIzs7G/PnzLR/jcrnQtm1b309hoH/osWK34sQ5TkREtiTEArhE8dC5szg9cUKEHidccQUwb54aftauFaGhWTM1tABqcNq/X1QEsrJCqzjt2yeeV7smU6AvuGVo+c1vgMpKsV0nTqgVqFC43aLBgxkZ3n75Rf/8e/aIVuwul/oezGRkAEuWiMfKwJSIwUlWnNq2FY1DEik4ycWNWXEKz7Fjx7Bu3TpMmTLFd11KSgpKS0uxatUqy8cdPHgQnTp1gtfrxVlnnYU//elPOP300y3v39DQgAYZbADU2VkjIVTBgpMc/8qKExGRLaw4UdIqKRGnK1aI44tA83Ps2rdPzIP64gtxWQ7du/BC/bFJXp56Wc5zshOcZGVMUcQxj93gJL9Y/p//EcdMhw8DX39t6y2FRHYfVBR9Jz85TK9Vq+BhbehQ4JJL1MuJHJzk7yoRgpN2DSftKYNTaPbs2QOPx+NXMSosLESVXJjN4LTTTsP8+fPx+uuv44UXXoDX68XAgQPxS4DFz2bMmIHc3FzfT7HVqteRCBac5NhjBiciIlsYnChpyYqTDC6BAkuoHnxQH8SM3eNcLv1wPTuL3wIidOTni/O7d/sHJ7M5WF6vGjoKC9UhcOEO1wtE27Zde14Gp3BGLzE42cM5TvEzYMAAXHfddejVqxfOP/98VFRUoHXr1njqqacsHzNlyhTU1tb6fn6WY3WdFCw4SRyqR0RkC4MTJS0ZnKSePQO33LZLhiBZHXK59BUUSdtZ78AB9cA3WKt0OdRtyxbgu+/U648cMQ8XBw6ola+CAnVu16ef2nk3odF2CTQLTsYFbu1I5K56Mjjt2xe/bZE4x8kZBQUFcLvdqJb/aP+ruroabW3+A05LS0Pv3r3xww8/WN4nIyMDOTk5uh/H2Q1OrDgREdnC4ERJq2VLoEUL9fJpp6ktt52QmytO+/dX14HS0nbWk9WmVq3UA14rsgLz/vsipHXooHajMxuuJ+c35eaK46f+/cVlVpzCoyhqGGksFadA3SBJLz09HX369EFlZaXvOq/Xi8rKSgwYMMDWc3g8Hnz55ZdoF85q205icCIichSDEyUtl0tfdTr1VOuW2+GQz33ZZea3aytOdobpSbLiJNdtOussoFMncd4sOMm5RvJxMjht2gSEOx9961bgscf823JHMzjt3SuGHcaSoojKnvZ1tUEkkYOTPPV6gePH47NNjdXkyZMxb948PP/889i0aRNuueUWHDp0CGPHjgUAXHfddbrmEQ8++CDeffdd/PTTT1i/fj2uueYabNu2DTfeeGO83oIgg5MxGDE4ERGFhcGJkppsEAGI4ASI8LRtGzB9enjP6XIBxcXA3Lliod3Jk83vZ1ZxCiU4ffutOA0WnGTFST6uTRsR6hQF+Oij4K9nZupU8b5eeEF/vVVwknPqwwlOcqie1yuGHcbSG2+IdaemTlWv04ZFbXfEUL32GlBe7txQOquKE8B5TqG68sor8eijj2Lq1Kno1asXNmzYgKVLl/oaRmzfvh27NP/A9+/fj3HjxqFbt264+OKLUVdXh08++QTdu3eP11sQOMeJiMhRDE6U1LQVp9NOU8+73eJg+dVX/cNMcTFw550iIBnnQ8nLs2eL577tNiA93fy1tc0hwglOkt3gpB0uKOdcVVTo73v8uBiuqJ07ZWbrVnGqvZ/Ho1aWAP18p0gqTunp6nFerIfryeGMsksioAanzEy1GhZOcJo2DfjnP4H33otsGyVjcEpPV/89MjiFbsKECdi2bRsaGhqwevVq9JelWgDLly/Hc88957v82GOP+e5bVVWFf//73+jdu3ccttqAQ/WIiBzF4ERJTQannBzzeUhWC74+/LD5kL6iInH9ZZeJxXAXLhSnsjmDVrhD9eTBuhTqUD0AGDlSnC5Zoh/G9dhjwKRJIhgGIp9TBihAhBrt+3RqqB4Qv3lOstGZttIlg1OzZmKenLw91HlE8ndl0eE6ZMbg5HKxQUTSswpOzZrpv/VhcCIisoUL4FJSk1WmHj2su+lZLfhaViYC0ooVIiS0awcMGgS8/roYAqhdwqWoSFRyysrU67RD9eQBeqgVp9atRQALZageILazdWtx27JlYp0prxeQ3ZMDNAMDoAYhbXDSBiXj5Ui66gFiuN5PP8W+s578HWorSmbByeMB6uv9v8i3Ulurzi/TrncVCeMCuIAITocPs+KUtKyCU0qK+MdaW2t+OxERmWLFiZLar38N/O1vYj5SOGSoGj1anL7+ulgA17ju5Y4d4nrt0DgZnBoa1KFgoQans84Sga9jR3HZ7lA9t1sNca++Kk7fe0+EE8B/+7UaGtQKjFlwknOSqqpEGPN61W1orBUnq+CUlaUec4YyXG/7dvW8U8HJuACu9jyDU5KyCk6APuWz4kREZAuDEyU1txsYPx4444zIn8vjASZONB+yJa+bNEkdzpaZqYYMWZEJJzgBasVp/35R+dAyG6oHiCAHiCYFJ07ow2NdnXXHPRmCALF+kbyfDE69eonTEydEhWjvXvU9G7fBrngEJ+2ixFbBCVCrTuEGJ8NyQWEzDtUDuAhuUlMUBiciIocxOBE5ZMWKwJUaRREVjBUr1Otk1Umy0wZdO8epTx9xmpMD5OWJ88aqk9lQPQA4/3wgP1/cvnCh6CAHAKn/HcC7Y4f56xsP9OXryeDUsaP6Wrt2qXN4WrUC0tICvjVL8QhOu3erx52HDwPHjonzTgcnp4fqmQWnSOc4mc3RowSnnbzI4ERE5AgGJyKHGOf42LmfNijl5uoX5LXSurU6H0tWnAC16qQ9KAfMh+oBIsSMGCHOjx8vhtT9z/+o877sBic5XE++r3bt1AV5d+6MvDEEEJ/gZAzBcnhiYwxOkVSc7rtP/NvcsCH856A4kKkfCB6cOMeJiMgWBicih8iwEMr9tBUnO8P0AHEwPHOmaJeubadu1iBCO7/IbJicHK4nh/fdfLO6HVbVs1CC065diRuc3nkHWL/e+nY5v0mSwcgqOO3bZ/+1tc8dzaF6TsxxevNN8Z5l4xBqJEIJTqw4ERHZwuBE5JBBg0TosOrOJxfGHTRIvU5bcSoutv9ad93lv0CvWXA6cEAdZmVsYw4AQ4aIagIgglVZWfDgZKyQ2A1O4XbUA9S5YE511du+HbjoIvFj1UY81OAUbsVp3z79qKpwRaviJH+/FRVi3ho1EjI4paaKLnpGDE5ERCFjcCJyiNstWo4D5uFJUcT6SStWqGFGG5zsVpysmAUnWW3KzTX/0jk9XV3T6cYbxX3kNgWrOMngYJzj1BgqThs3it9HTY15J0LA//1bBaf8fP3tdhiHUzrxvqIRnA4c0LdN/+ijsDePYi1QYwiAQ/WIiMLA4ETkEI9HHERPnOhf3XG7xens2cDgwWKdp4qK8IbqWQkUnAJ1s5s1C/jXv4AHHtBvR7Dg1LevON26VYQQbXCS70vbHCKRgtOmTep52QreKFoVJ49H/Wzlvwsn5jlZreOkvS1UxlD58svhPQ/FQSjBiRUnIiJbGJyIHFBRIcLQ4MEiHO3eLQ72f/MbcbuxK5lc12nzZvW6aAQnq1bkWrm5wDXXiOqTdjusmkPI5+zXT5xu3SoqE/I4LZoVp337nOnwpg1OGzea30cGJxlunApOu3aJ9+B2q404nJjnFI11nOQwPflvg8P1GhGz4OTxAMuXizaa2rTO4EREZAuDE1GEKirMF73dswd46y3zx8h5NY89pl7nVHDatUttnW3VUS8QuxUnGZz27gW+/16cz8sTx2BOByc5HE5RQhsSZ8VOxUm+fxlunOqqJ4fpFRWplblIK05erxqOnByqJ0P4sGHid8Dheo2IMThpv925+mpgzhz1vgxORES2MDgRRSDQorfBKIpo1y3XTYo0OLVuLQ6U5XpRgL2hekZyO/bsAY4e9b9dBqEuXdTQsGqVOJWByel25Glp6jpVkQ7XU5TgFSevVw1OcnFkuxWnL74ALrhAv16XlgxOHTuqgTbS4KT9PUUjOJ1yCvDb34rzHK7XSGiDk9W3O9KyZbHbLiKiRozBiSgCwRa9tSMtDfjVr4Bu3SJ7HpdLHIwD6gGvnaF6Rnl56gG3cbiex6MGlzZtxBfYgBqcZAVFBqeGBnXuUyRd9QDnOuvt3CkaHsgGHj/8oIYhqaZGdLpzuYDu3cV1xuAkA4oxON1zD/Dhh6JdvBkZarXBKdKheto5TPJ3pz0faXDq1Am44gpxnsP1GgltcAr27c5DD3GVYyIiGxiciCJgd9HbQI4cEV/4LlkS+XMZ5zmFM1TP5bIerrd3r6jGuFwijBmDkwxMmZlqoJBC2QYzTjWIkNWmLl1EFUxRgK++0t9Hhpt27dTQaafi9OOPwNKl4vJHH5kHIm3FSVbhIq04yeCUkaHOyQIibw4h5zjJEV4crteIyOB07Fjwb3d27rQukRIRkQ+DE1EE7C56a8ekSZF/6SuDk5xzFM5QPcC6QYQMAq1aiSGGMjjJMKD9PLTn8/NFZS0STgenbt2Anj3FeeM8J3mcWVzsX1GyCk4HDohpI/KLfa9XVGeMojFUz6wVufayExWntDQO12tUZHCyO47YiW+BiIiaOAYnoggEW/TWLjkvKdIvfc87T5w+84w4mA5nqB5gXXGSwUke8MvgJFkFp0jmN0mhBidFAWbOFOFn5Ur1em1wOvNMcd44z0lWnLTBKVhzCI8HeOopcX7wYHH60kv+2yWDU3Gx80P1jMEpkqF6hw6pn7UM5FddJeZvnXtuWJtJsSSDk7Y/fSBOfgtERNREMTgRRSDQorcul/i58061K1wwkX7pO3q0CDM1NcDcuZFXnIzBSQYxGYRiGZzke7ATMhQF+N//BaZMEe/h739Xb7NTcZLBqagoeMUpK0ttSnbwoAgZ//iHuGw2XC+aQ/WMx8iRBCdZbcrJURtzlJaKYaXXXBPWZlIsyeBUWBj8253iYvEtEBERBcTgRBShsjLglVeADh301xcViesffti88mAm0i9909KA++4T5//8Z30jh1DI92JVcYpHcArWJl06cQK44QZ9q/f//Ec0ewDMK05ffKEf0aQdqidDg1VwAvTzuW65BTjpJODss/2H6x06JNaiAvyH6lmNqPrnP4HXXw/8ns3WcAIim+Mkg5Pxd0yNhAxOmZnW3+5Is2frJ8cREZEpBiciB5SViYn0y5YBCxaI0y1bxPWAGN4U6Etfl8u5L32vu06tOsnuZ3KYm112h+rJIVySVXCKtKMeID4fQK3YWJk0CXj2WSAlRQxZbN0aqK0Vw/X271ffQ9eu4ictTdyufV6zoXp1dWI4XqDglJ4O/O534rzsQqedDySfNydHLDwsP8eGBvH8Rm+8AZSXiyFyMviZicYcJ+38JmqEtF31rL7dKS4GXn1V/UNFREQBMTgROcTtFgFp9Ghxqv0CN9iQPiC8L309HmD5cmDhQnHq8eirToA4SJdrYNp5PGDdHMI4VC83V63IAPqwJFuTa+8fCdlqXYYPM4oCvPCCOP/Pf4oQc8kl4vIbb6jVpqIioEULEXRkG3jtPCdtcNK+v5oa9TMyC05XXqkOKRw1Spx++KEa1rTD9ABREWrRQn1urYMHgQkTxPmjRwMP44zGHCcGp0bOuABusG93iIgoKAYnohgJNqQv1OOXigq1TfTVV4vTkhJxvaw6AdbD9AI9XganXbv0lQ6zxWzl6zRrpoYAwPmherLitGuX6LBsZts2UT1KSwMuv1xcd+ml4vTNN/XD9CTjPCePRw2MRUXiuZo3F5e1FThtcLr8cvE53HOPel1Jif9wPWNwAqw7602frg+JVoFRGxaNQz0jCU7aVuTUCBmDExD42x0iIgqKwYkohpz60reiQlQ0jEPpduwQ17/5JnD//eK6U04J/fErVojAoChAVZV6u3GoHqAeWBsP2qPRHCIjQ2zTzp3m99mwQZx27y6qSQDw61+L8z/+qAYYbXAydtarrhbhye1W34OsKMlAlZqqPj8g1hfdskVdLFeSw/XmzRNhz25w2rhRnaMlK15Wc7sWLBBrR6WnA3/4g/42VpyS2NGj4tSq3ExERCFLjfcGECUb+aUvIA7QV6wQVZR27cQcp2BfAns84kDdrJmAooihf5MmAT/9JLr59eoV+uMnTxZD7bZtEwfsstoTqOIU7eCUkiK244cfRAAxq4TI4KR9z82bA0OGAG+/LZpEAIErTrKy0769+rvIyxPXy+Bkt8PzmDHA//0f8PnnwB13qPOY5OcJqJ+N/Gy9XuDmm8XvadQoEWAXLjQPTrt3i98lAEydKuZsaTnRHILBqZEyqzgREVFEWHEiipNAQ+UCWbEicGc5uSbUypXAiBH+AcPu4+WwO3lfRfGf4wQAp50mTjt31j9P8+bioDs93f+2cMnAYTVsTVaNZBiShg/XXzarOH3/vWgeoZ3fJMmKk/wsQlka51//EuefeELtjheo4vTWW8Cnn4rPf/bswN0EJ00C9u4V7+Guu/xv1zaHsLsOKiCOuWVVj8GpkWJwIiJyHIMTURwEGyoXKDzZXevJ6n52H2+c11Nbq84t0g7Vu/Za4K9/Bf74R//nWL4cWLsWaNXK3msGIwOHVWc9s4oTAPzmN/rL2uBUWCjCpaIAffoAr70mrpeBBQg/OAEitMlmHXIR3UDBSVbFysvFfDi5HcawuHSpGKYnuwempfm/tqw4AepxtB3ytbKyQl8DjBIEgxMRkeM4VI8oxoINlQPEUK2LLgJWrxZBR3twbWcBWEA/V0fL7lpRHTuKyoccniZft0UL/QF5s2bAbbeZP4fTjQUCtSQ/cEBtaGCsOBUXA717iyFz+fn+YWDhQtHye8sW8aN9LSCy4AQADzwgAuQ774jL2uCkHaqnKOp9hg3Tb4cxZD//vDgdPx7o29f8dbW/pyNH1IV6jU6cEBWrXr1EYxHtML1A66ZSAmNwIiJyHIMTUYwFGyoHiLkrzZuL+S5m3G61LbaV228H/vIX0QZd23xi0CBRxdixwzy8uVzi9v79xcK9clvNhunFWqCW5HKOUnGxCEdGw4eL4NStm38YOOcc8fjJk0X1BtCHPmODhuxsUU2zOzfN7RbVocGDxXltKNOG4u+/F+EvLU2dB2c1VO+778Rpaan166alqf9WDh/WL9Sr9e67ohlFSgpw+umc39QkMDgRETmOQ/WIYszuUDmr0AQED02S2dA/u2tKGSsdZo0hYi1QxUnObzIO05MmTABGjtSvcaWVkwP84x9ijtH48aJjs2TsqrduXehz0/LzgfXrxWO1IUsbnN59V5w/7zy1qqVtDS8XNFYUEbIAoEuXwK9rZxHc5cvFqdcLjBsnGnAAbEXeqDE4ERE5jsGJKMbsDpWzI1gHPllRmjRJH7bsrCllnFtj1oo81gJVnOT8JuMwPal1a/He5BA4K5dcAvztb/p5WTI4yfBhnC9kZ24aIH5fxrCqHaonh+kNHare3qaNaH/u9aqhu6YGqK8XzxWs8YYclijnbplZtkw9//nnwJNPivOsODViDE5ERI5jcCKKMTlUzom5Ix6PqI4EIrvkrVihvz7YmlJduogD/e3bxZC9RKo4HTgggoNWsIpTJKyGuElWAdUOGUT37wc++ECc1wYnt1sNuLL6J6tNHTtaz1uSpkwRp1OnqsP7tGprRSUMEIvuAmrbdAanRozBiYjIcQxORDGmHSrnBLsBzGyIoFxTavRocaqtYBUUqAuq3nqrOofIGJw8HjHUa+FCcRpqcAhFixbqfCNt1enECeCrr8R5q4pTJIIFJ8A6oNp5bvm5Hz4sgpRskS4Z5znZHaYHADfcIBYBPnoU+N3v/H8/K1aIatYpp4hFk+XcKoDBqVFjcCIichyDE1EcyKFyBQWRP9fJJ9u7XzhDBO+7T3Sj27tXXYNIO1Qv3LWoImE2z2nzZnGc2Lw5cNJJzr+mDGt22J3DJqWk6D/TCy8U12kZg5Ocg2QnOLlcwLx54rP5+GMxDFFLzm+64AJx36eeEsfaqan2np8SFIMTEZHjGJyI4qSsTMyNCXedHJdLhIhbbw089E/eb9Cg0F8jPR345z/FqSQrTpGsRRUJs3lOcn7TmWf6hw4n2Kk4SeEEVG1w0g7Tk4wL/4ZScQJE5ejhh8X5KVOAn35Sb5PzmwYPFqennioC1nvvxXc+G0WIwYmIyHEMTkRxlJ4OzJ0rwk0oc5603e/S06275AFiCNmNN4a/jT166Be3LSy0txZVOPN97DBbBDea85sAe8EpkoCqDSi//rX/7ZEM1ZP+3/8TVaUjR4C77xbXHTggmkEA+iF6ffroL1MjxOBEROQ4BieiOLPqcBeoY562+12g55CmTYtsCN3//i9w6aViGFzPnsHXogp3vo8dZkP1gnXUi1Sw4KQNssE6HZqRVbxevcybb2iDUyityLVSUoAnnhCnr7wCrFoFfPSReL5TTwXatw99uymBMTgRETmOC+ASJYCyMuCyy0TQkIuqDhwIfPKJuKxd68dqwVX5HA89JIKSkRxCpw1cdrndwJIl4rzLZX8eT6jzfewwDtVTFDU4nXFGaAvT2pWZKX6OHhWXW7YUXfCkoiIRmkL9XKVu3cTpiBHmt2uDU1UVcOiQCEDBWpEb9egBjB0rFvm94w6gXz9xPatLTRCDExGR4xiciBKE7HCnFc4B7bx55tcrigg9kyaJgBVqoNAOA7Q7j8fJNaskY8Vp0yZg924RJEaNAnbuVO9bVCSGMYYbaLTy8kRoAYC//x1o29a5gDZpEnD66cDFF5vfLt/zzp3At9+K85066eee2TV9umg//8kn6hBHOb+JmhAGJyIixyXEUL0nn3wSJSUlyMzMRP/+/bFmzRrL+86bNw+DBg1Cy5Yt0bJlS5SWlga8P1EyidUQumBrUUUy3ycYWXH65RfRRvupp8Rlr1cfmgBnG1Voh+u1aGHdxj0c2dkizKalmd9eWChew+NRf3fhdrzr0EEMvQRE5QoAzj8/vOeiBMbgRETkuLgHp8WLF2Py5MmYNm0a1q9fj549e2Lo0KGoqakxvf/y5csxevRoLFu2DKtWrUJxcTEuvPBC7NixI8ZbTpR4YjWETrsWlTE8RTrfJ5gOHcRrNDQA27YBzz9vfV8nG1Vog1OzZpE9V6jcbnUOkuyCF0mr8LvuUod/du0ancogxRmDExGR4+IenGbNmoVx48Zh7Nix6N69O+bOnYvs7GzMnz/f9P4vvvgibr31VvTq1Qtdu3bFP/7xD3i9XlRWVsZ4y4kSTyyH0Fk1pDA2rnBaWpq6/Y88AtTWBr6/U1W2eAYnQJ3ntGqVOI0kOLVoAfz5z+L85ZdHtl2UgDwe9ZsCBiciIsfEdY7TsWPHsG7dOkyZMsV3XUpKCkpLS7FKHh0EcfjwYRw/fhz5+fmmtzc0NKBBfvMGoK6uLrKNJoozOVzLbH6NHEK3Y4d5q3CXS9zu1BA6s6YWTjVkCKS4WAzLs5rPZSbSKlu8g1NxsQhN8s9ZpIvTXn+9aH3etm3Em0aJRrPPw9q1ou98rP5zEhE1YXGtOO3ZswcejweFhv67hYWFqJKzsIO4++670b59e5SWlprePmPGDOTm5vp+iuUsa6JGqKJCtBUfPBi4+mpxqm0zHo8hdLKphVPzfeyQ85xOnLCeF2QUaZUtL089H8+KkxRpcAJEtZDH0U2QNjhdfLH5HwsiIgpZ3IfqRWLmzJlYtGgRXnvtNWRmZpreZ8qUKaitrfX9/Cx7GBM1MhUVotGBsfmDsQGC1RC6ggKxaG1+fnQWpgXE8y5fDixcKE6j9ToyOAFiqFksGlVoK07Z2ZE9Vzi0wcntFsfARKaswpGT3VKIiJJQXINTQUEB3G43qqurdddXV1ejbZDxI48++ihmzpyJd999F2eeeabl/TIyMpCTk6P7IWpsPB4ResyG35k1QCgrA7ZuFY0EJk0CWrcWLbtnz47eF8/BqmFO0haOb7klNlW2eA/V0wankhL7lTZKMh4PcN995rc52S2FiCgJxTU4paeno0+fPrrGDrLRw4ABAywf9/DDD+OPf/wjli5dir59+8ZiU4niKpw24243sG+fCBW7d+vv/8svwMiRwIMPOnP8ZLca5pTu3cXpmWcC554bm0YVMji5XEBWVuTPFyptWHRimB41UStWqAuOmXGqWwoRURKK+wK4kydPRnl5Ofr27Yt+/fph9uzZOHToEMaOHQsAuO6669ChQwfMmDEDAPDnP/8ZU6dOxYIFC1BSUuKbC9W8eXM0b948bu+DKJrCaTMeqEolTZsmGizIRWIDNZ6wEqwaFu6iu4G2pbQUWLwYOOcctaoU7UYVMjhlZ1sPC3SC1fvWVpwYnMhSrNYkICJKQnEPTldeeSV2796NqVOnoqqqCr169cLSpUt9DSO2b9+OlBS1MDZnzhwcO3YMo0aN0j3PtGnT8MADD8Ry04liJpw248GqVNIvv4iq0B13iLlJ2scUFamhyordatjy5cCQIcG3BxAVqokTrbfF5QKuuML/cbJRRTTI5hDRHKYX6H1feimQkiIW+mVwIkuxXJOAiCjJuBQl0PfRTU9dXR1yc3NRW1vL+U7UaHg8Yl5LsDbjW7aoFZaFC8Vco0jIykqg4W52Xyc/X1S3gg2bk8P+jO/TzrZE0759wKmnimD2yivOP7+d9y1D1dtvA8OGOb8NscC/weYc+1w8HhGKjONzJbM/FkRESSyUv7+NuqseUbIIp824E18o25lLbvd19u1T51UdO2befS/UJhixlJ8vguvLLzv/3Hbf9x/+IMJVtKpq1AS43cD48ea3RWtNAiKiJMHgRNRIhNoAQS6GG+l8nGBzyUN9nWnTxDwhs+574TTBiKWMjOjMb7L7vrt1E8HNYvUFIqFfP3FqbL3oZLcUIqIkFPc5TkRkXygNEGSVyjAdMGxWc8nDeR1jxUh2+bP7HE1tXjvn85Oj5AK4ffoAM2ZEp1sKEVESYnAiamRCaYAgq1S//70YZhaJ6moxtM7s+Eu+zrhxYkheuOzOHWpq89o5n58cJYNTZibHdRIROYhD9YiauLIyYNs2YPr08J8jJQW4/fbAC9uWlQEvvRTRpgblcon1jAYNiu7rxFqw4Y5N9X1TlMjglJER3+0gImpiGJyIkoDbDUydCrz6qn49IEAckN95pzg4tzpw93r1l60Wtr3gAmfmVZlJ1HntHo95o4tQBGr+AYg5TjfeGMlWUlJhcCIiigoGJ6IkUlYGbN0KLFsGLFggTrdsAR5+2LzxhBWrDnfaAOC0RJzXXlEhqm9mjS5CZdX8Q5o2LfznpiTD4EREFBUMTkRJRs6RGj1anMrqTVkZ8OOPQOvW9p7HqsNdsAAQivvu0we8RAtNo0b5d8OzqsbZIYOt1bDKSJ6bkgiDExFRVDA4EZHPJ59Yr5tpxazTmxPzqgBgyBD/gAc4MzwuEtFeb2rePPPr472WVTJ58sknUVJSgszMTPTv3x9r1qyx9bhFixbB5XJhxIgR0d3AQBiciIiigsGJiHzCaXdt1ekt0LyqFBt/eVq3BgYO9L/eyeFxQHghLJrrTSX6WlbJYPHixZg8eTKmTZuG9evXo2fPnhg6dChqamoCPm7r1q244447MCjeXTwYnIiIooLBiYh8Qml3bbfTm9m8qiNHglejdu8GTj5ZH4giGR5nFpDCDWHRXHeJazrF36xZszBu3DiMHTsW3bt3x9y5c5GdnY358+dbPsbj8WDMmDGYPn06TjrppBhurQkGJyKiqGBwIiKfYG2xpVA73BnnVaWnW1ejtLSBKJLhcWYBqbBQLLobTgiL5rpLXNMpvo4dO4Z169ahtLTUd11KSgpKS0uxatUqy8c9+OCDaNOmDW644QZbr9PQ0IC6ujrdj2MYnIiIooLBiYh8grXFlpzqcBesIYU2EC1fHt4QNqsq1d69wV/TatheNNdd4ppO8bVnzx54PB4UFhbqri8sLERVVZXpY1auXIlnnnkG86wmp5mYMWMGcnNzfT/FxcURbbcOgxMRUVQwOBGRjlVXvNatRZhwusNdsIYUMhA9/7y959MOYQtUpQok2DwiO+sujRwpHh9qE4dAz52oa1kls/r6elx77bWYN28eCgoKbD9uypQpqK2t9f38/PPPzm0UgxMRUVSkxnsDiCjxlJUBl10mDvx37RLDwgYNis7But25Ov/6l737aYewBWu0EMyOHda3yYA5caL+NdxuEZZmzxY/RUUiCIUSNK2eu6hIPGcitWVvagoKCuB2u1FdXa27vrq6Gm3btvW7/48//oitW7di+PDhvuu8/10xOjU1FZs3b8bJJ5/s97iMjAxkRCvYHD0qXyQ6z09ElKQYnIjIlJyXFG1OzdVxuUSw0A5hi7SBwu23A1lZIqh4PP5BUhswX39dhBpjhUnOmQp1aGMswyup0tPT0adPH1RWVvpainu9XlRWVmLChAl+9+/atSu+/PJL3XX33Xcf6uvr8fjjjzs7BM8uVpyIiKKCwYmI4krO6dmxI/QhdZLVELZIQ9mePSL03HGH6MZnrP7IStKgQcC115o/h6KI7Zs0SQShUIJPrMIr6U2ePBnl5eXo27cv+vXrh9mzZ+PQoUMYO3YsAOC6665Dhw4dMGPGDGRmZqJHjx66x+fl5QGA3/Uxw+BERBQVDE5EFFdyTs+oUSJghBOeCgqAMWOA/HxR8ZHhJNJQJh/zyCP+t2krSfn59htXXHCBvnrVpo24T00Nq0qJ4sorr8Tu3bsxdepUVFVVoVevXli6dKmvYcT27duRYmcxsnhhcCIiigqXooT7HW/jVFdXh9zcXNTW1iInJyfem0NE/1VR4T+nx44WLYD6evWycU6R7KoH6MOTDGk5OUC4naDl8MAZM4Brrgl+/xdeEEP/Ar3PcOZEOclsSKKTQY5/g81F9LkoCnDihHp5yBDxS1y8GLjiCmc3lIioiQnl7y8rTkSUEIxzeqqrxRyjYLShCVArQYsXi06ADQ3AAw8A8+aZN1o4csRe6DEjK0mBugJq3Xpr8JAW7pwoJ5iF13gHObLh+HHz6hIrTkREjmJwIqKEoZ3T4/EAf/lL6MPs5H1Hj9Y3aujQAZg+HejSRT88zm7oCaR1a3tDAu1UtiKZExUJWZkzbn88gxxFoGVLoHfveG8FEVGTwqF6RJSwrIbZhUM2kDBr9CBbiIdr2TJg3z7z4BGJZcti0xzC4wFKSqyHD8ohiVu2RB7k+DfYXMRD9Wpr9ddlZwPp6c5tIBFRExXK398Ent1KRMnOajHe/PzQn0tRxM8jj/gHhHBDk8sFFBerrclfeUU0qnBKpO3U7Qq23lWwBYEpzlwuIC9P/8PQRETkOA7VI6KEZraekccDlJY6/1qhVJ7MWqCXlUU2Z8rIqTWugrEb0GIV5IiIiBIRgxMRJTzjekYeT+RrP5mR86oeekgMvQukQwfzpgnG6lg4zBbztSucrnh2A1qsghxFINptEYmIkhiH6hFRoyPXfgLUyo9T9u8PHpoA4LnnzJslyLWjwt0uq8V87aioEHOVBg8Grr5anJaUiOuNPB5g+XIx30sGUatt1g5JpAQWyj8AIiIKGYMTETVKVvOfYvXlek2N+fWBQp283KqV9fMWFYXXwU420jDOVZJd8bTHzsbj69JSMcRQdvQz2+ZwghzFUCj/AIiIKCzsqkdEjZpxZNKePeqan6H8dZPD45591t78qWAd78zWRCouFgFEO2dL2xo93JFVoXTFe/118+5/ckHgVq2AvXv9t9mpVuT8G2wuos8llm0RiYiaGC6AS0RJwzj/CRAVG7PQctVVwKOPisva4KCtqlxwQeD5U3bnH5k1tdCGIifbjNvtildZKT4Xs/clq01ZWcD770cW5CjGQmmLGIv+9kRETRSDExE1OYFCyznn+IeqoiJ9VeXxx0VVRlZhpFCHrZmFumiw2+1u1Cigvt76dkVRP5fRoyPfLooRtkUkIooJBiciapKsQkuwSpC8j1nVyhiwQuFkszPjc8nhfsEECk1aV1wBzJvn3PA8ijK2RSQiignOcSIisuBU2DGb71RUZN7OPJznat8eOHgQqKsLfdusuFzhNakIhn+DzTkyxynY+FLOcSIi8hPK31921SMisiCrVqNHi9NwQ5MTzc48HuDBB4GRI/2fa+dOZ0OTNGmSfkFgbQvz5cvtLxZMUWanlSPbIhIRRYzBiYgoSjyewM0YAP9wYqaiAujUCZg2zfFNtCT7CTzxhAhKDz7IJYISlscD5OeLf2wFBfrbwu1vT0REfjjHiYgoSpxodiYrVvEaVH377da3yaoZj8vjyGzsZkEBcM01YjIf2yISETmGFScioiiJtNlZoIpVIgilakZRYDUOdO9eMXRv3z6GJiIiBzE4ERFFSaTNzoJVrBKBtmpGMeTUOFAiIrKNwYmIKEoGDRJTTIzz9SWXSyzMa7WYbqyW3bHavlBwiaAYC2UcKBEROYLBiYgoSiJtdhbJsjuyA7VVQwmXS/zceSfQoUP4ryNxiaAY46K3REQxx+BERBRFcjFdYzix0+wsWMXKirz/448DDzwAvPqqeB6z13/4YWDrVmDZMmDBAuCxx0J/rUBVM4oSLnpLRBRzXACXiCgGwl1MV87/B8yns1x5JfDxx/pRW8XFopKlDWV2Xz/YWqpaMqCF0lWPf4PNhfy5cNFbIiJHhPL3l+3IiYhiQC6mGypZsTJ2nNaGIzuhyO7ry+GFo0aJY+9A4amoyD+gUYwE+kVx0VsioqhgxYmIqBEIt2IVLrPlgYqKgHHjgC5dwt8G/g02F/bnYvaLMis5EhGRqVD+/jI4ERGRqWiENf4NNhfR5xLrVE1E1IRwqB4REUUs3OGFFGP8RRERxQS76hEREREREQXB4ERERERERBQEgxMREREREVEQDE5ERERERERBMDgREREREREFweBEREREREQUBIMTERERERFREAxOREREREREQTA4ERERERERBcHgREREREREFASDExERERERURAMTkREREREREEwOBEREREREQWRGu8NiDVFUQAAdXV1cd4SIqLkI//2yr/FJHDfREQUH6Hsl5IuONXX1wMAiouL47wlRETJq76+Hrm5ufHejITBfRMRUXzZ2S+5lCT72s/r9WLnzp1o0aIFXC6XrcfU1dWhuLgYP//8M3JycqK8hYkp2T+DZH//AD8DgJ8BEPlnoCgK6uvr0b59e6SkcLS4xH1T6JL9/QP8DAB+BgA/g1jul5Ku4pSSkoKioqKwHpuTk5OU/yC1kv0zSPb3D/AzAPgZAJF9Bqw0+eO+KXzJ/v4BfgYAPwOAn0Es9kv8uo+IiIiIiCgIBiciIiIiIqIgGJxsyMjIwLRp05CRkRHvTYmbZP8Mkv39A/wMAH4GAD+DRJLsv4tkf/8APwOAnwHAzyCW7z/pmkMQERERERGFihUnIiIiIiKiIBiciIiIiIiIgmBwIiIiIiIiCoLBiYiIiIiIKAgGJxuefPJJlJSUIDMzE/3798eaNWvivUlRMWPGDJx99tlo0aIF2rRpgxEjRmDz5s26+xw9ehTjx49Hq1at0Lx5c4wcORLV1dVx2uLomjlzJlwuFyZNmuS7Lhne/44dO3DNNdegVatWyMrKwhlnnIHPPvvMd7uiKJg6dSratWuHrKwslJaW4vvvv4/jFjvL4/Hg/vvvR+fOnZGVlYWTTz4Zf/zjH6Hto9PUPoOPPvoIw4cPR/v27eFyubBkyRLd7Xbe7759+zBmzBjk5OQgLy8PN9xwAw4ePBjDd5FckmW/BHDfZMR9E/dN3DcJcdk3KRTQokWLlPT0dGX+/PnK119/rYwbN07Jy8tTqqur471pjhs6dKjy7LPPKl999ZWyYcMG5eKLL1Y6duyoHDx40Hefm2++WSkuLlYqKyuVzz77TDnnnHOUgQMHxnGro2PNmjVKSUmJcuaZZyoTJ070Xd/U3/++ffuUTp06Kddff72yevVq5aefflLeeecd5YcffvDdZ+bMmUpubq6yZMkSZePGjcqll16qdO7cWTly5Egct9w5Dz30kNKqVSvlrbfeUrZs2aK8/PLLSvPmzZXHH3/cd5+m9hn85z//Ue69916loqJCAaC89tprutvtvN9hw4YpPXv2VD799FNlxYoVyimnnKKMHj06xu8kOSTTfklRuG/S4r6J+ybum1Tx2DcxOAXRr18/Zfz48b7LHo9Had++vTJjxow4blVs1NTUKACUDz/8UFEURTlw4ICSlpamvPzyy777bNq0SQGgrFq1Kl6b6bj6+nqlS5cuynvvvaecf/75vp1TMrz/u+++WznvvPMsb/d6vUrbtm2VRx55xHfdgQMHlIyMDGXhwoWx2MSou+SSS5Tf/e53uuvKysqUMWPGKIrS9D8D487Jzvv95ptvFADK2rVrffd5++23FZfLpezYsSNm254sknm/pCjcN3Hf5K+p/11WFO6bEmXfxKF6ARw7dgzr1q1DaWmp77qUlBSUlpZi1apVcdyy2KitrQUA5OfnAwDWrVuH48eP6z6Prl27omPHjk3q8xg/fjwuueQS3fsEkuP9v/HGG+jbty8uv/xytGnTBr1798a8efN8t2/ZsgVVVVW6zyA3Nxf9+/dvMp/BwIEDUVlZie+++w4AsHHjRqxcuRIXXXQRgOT4DLTsvN9Vq1YhLy8Pffv29d2ntLQUKSkpWL16dcy3uSlL9v0SwH0T903cNwHcN8Vr35Qa2WY3bXv27IHH40FhYaHu+sLCQnz77bdx2qrY8Hq9mDRpEs4991z06NEDAFBVVYX09HTk5eXp7ltYWIiqqqo4bKXzFi1ahPXr12Pt2rV+tyXD+//pp58wZ84cTJ48GX/4wx+wdu1a/P73v0d6ejrKy8t979Ps/0RT+Qzuuece1NXVoWvXrnC73fB4PHjooYcwZswYAEiKz0DLzvutqqpCmzZtdLenpqYiPz+/SX4m8ZTM+yWA+ybum7hv4r5JiNe+icGJTI0fPx5fffUVVq5cGe9NiZmff/4ZEydOxHvvvYfMzMx4b05ceL1e9O3bF3/6058AAL1798ZXX32FuXPnory8PM5bFxsvvfQSXnzxRSxYsACnn346NmzYgEmTJqF9+/ZJ8xkQJSrum7hvArhv4r4pfjhUL4CCggK43W6/zjTV1dVo27ZtnLYq+iZMmIC33noLy5YtQ1FRke/6tm3b4tixYzhw4IDu/k3l81i3bh1qampw1llnITU1Fampqfjwww/x17/+FampqSgsLGzS7x8A2rVrh+7du+uu69atG7Zv3w4AvvfZlP9P3Hnnnbjnnntw1VVX4YwzzsC1116L22+/HTNmzACQHJ+Blp3327ZtW9TU1OhuP3HiBPbt29ckP5N4Stb9EsB9E/dN3Ddx36SK176JwSmA9PR09OnTB5WVlb7rvF4vKisrMWDAgDhuWXQoioIJEybgtddewwcffIDOnTvrbu/Tpw/S0tJ0n8fmzZuxffv2JvF5DBkyBF9++SU2bNjg++nbty/GjBnjO9+U3z8AnHvuuX5tfr/77jt06tQJANC5c2e0bdtW9xnU1dVh9erVTeYzOHz4MFJS9H8a3W43vF4vgOT4DLTsvN8BAwbgwIEDWLdune8+H3zwAbxeL/r37x/zbW7Kkm2/BHDfxH0T900A901Gcds3hdVSIoksWrRIycjIUJ577jnlm2++UW666SYlLy9PqaqqivemOe6WW25RcnNzleXLlyu7du3y/Rw+fNh3n5tvvlnp2LGj8sEHHyifffaZMmDAAGXAgAFx3Oro0nYuUpSm//7XrFmjpKamKg899JDy/fffKy+++KKSnZ2tvPDCC777zJw5U8nLy1Nef/115YsvvlAuu+yyRt3u1Ki8vFzp0KGDr+VrRUWFUlBQoNx1112++zS1z6C+vl75/PPPlc8//1wBoMyaNUv5/PPPlW3btimKYu/9Dhs2TOndu7eyevVqZeXKlUqXLl3YjjxKkmm/pCjcN5nhvon7Ju6b4rNvYnCy4YknnlA6duyopKenK/369VM+/fTTeG9SVAAw/Xn22Wd99zly5Ihy6623Ki1btlSys7OV3/72t8quXbvit9FRZtw5JcP7f/PNN5UePXooGRkZSteuXZWnn35ad7vX61Xuv/9+pbCwUMnIyFCGDBmibN68OU5b67y6ujpl4sSJSseOHZXMzEzlpJNOUu69916loaHBd5+m9hksW7bM9P9+eXm5oij23u/evXuV0aNHK82bN1dycnKUsWPHKvX19XF4N8khWfZLisJ9kxnum7hv4r4pPvsml6JolhwmIiIiIiIiP5zjREREREREFASDExERERERURAMTkREREREREEwOBEREREREQXB4ERERERERBQEgxMREREREVEQDE5ERERERERBMDgREREREREFweBE1ES5XC4sWbIk3ptBRETkw30TNWYMTkRRcP3118Plcvn9DBs2LN6bRkRESYr7JqLIpMZ7A4iaqmHDhuHZZ5/VXZeRkRGnrSEiIuK+iSgSrDgRRUlGRgbatm2r+2nZsiUAMVRhzpw5uOiii5CVlYWTTjoJr7zyiu7xX375JX71q18hKysLrVq1wk033YSDBw/q7jN//nycfvrpyMjIQLt27TBhwgTd7Xv27MFvf/tbZGdno0uXLnjjjTd8t+3fvx9jxoxB69atkZWVhS5duvjtTImIqGnhvokofAxORHFy//33Y+TIkdi4cSPGjBmDq666Cps2bQIAHDp0CEOHDkXLli2xdu1avPzyy3j//fd1O585c+Zg/PjxuOmmm/Dll1/ijTfewCmnnKJ7jenTp+OKK67AF198gYsvvhhjxozBvn37fK//zTff4O2338amTZswZ84cFBQUxO4DICKihMN9E1EAChE5rry8XHG73UqzZs10Pw899JCiKIoCQLn55pt1j+nfv79yyy23KIqiKE8//bTSsmVL5eDBg77b//3vfyspKSlKVVWVoiiK0r59e+Xee++13AYAyn333ee7fPDgQQWA8vbbbyuKoijDhw9Xxo4d68wbJiKihMd9E1FkOMeJKEoGDx6MOXPm6K7Lz8/3nR8wYIDutgEDBmDDhg0AgE2bNqFnz55o1qyZ7/Zzzz0XXq8Xmzdvhsvlws6dOzFkyJCA23DmmWf6zjdr1gw5OTmoqakBANxyyy0YOXIk1q9fjwsvvBAjRozAwIEDw3qvRETUOHDfRBQ+BieiKGnWrJnf8ASnZGVl2bpfWlqa7rLL5YLX6wUAXHTRRdi2bRv+85//4L333sOQIUMwfvx4PProo45vLxERJQbum4jCxzlORHHy6aef+l3u1q0bAKBbt27YuHEjDh065Lv9448/RkpKCk477TS0aNECJSUlqKysjGgbWrdujfLycrzwwguYPXs2nn766Yiej4iIGjfum4isseJEFCUNDQ2oqqrSXZeamuqb5Pryyy+jb9++OO+88/Diiy9izZo1eOaZZwAAY8aMwbRp01BeXo4HHngAu3fvxm233YZrr70WhYWFAIAHHngAN998M9q0aYOLLroI9fX1+Pjjj3HbbbfZ2r6pU6eiT58+OP3009HQ0IC33nrLt3MkIqKmifsmovAxOBFFydKlS9GuXTvddaeddhq+/fZbAKKr0KJFi3DrrbeiXbt2WLhwIbp37w4AyM7OxjvvvIOJEyfi7LPPRnZ2NkaOHIlZs2b5nqu8vBxHjx7FY489hjvuuAMFBQUYNWqU7e1LT0/HlClTsHXrVmRlZWHQoEFYtGiRA++ciIgSFfdNROFzKYqixHsjiJKNy+XCa6+9hhEjRsR7U4iIiABw30QUDOc4ERERERERBcHgREREREREFASH6hEREREREQXBihMREREREVEQDE5ERERERERBMDgREREREREFweBEREREREQUBIMTERERERFREAxOREREREREQTA4ERERERERBcHgREREREREFMT/B/y1g3mjN3fWAAAAAElFTkSuQmCC"/>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2" name="Google Shape;57;p4"/>
          <p:cNvSpPr txBox="1"/>
          <p:nvPr/>
        </p:nvSpPr>
        <p:spPr>
          <a:xfrm>
            <a:off x="22495476" y="19737672"/>
            <a:ext cx="6066073" cy="41545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2100" b="0" i="0" u="none" strike="noStrike" cap="none" dirty="0" smtClean="0">
                <a:solidFill>
                  <a:srgbClr val="000000"/>
                </a:solidFill>
                <a:latin typeface="Times New Roman" panose="02020603050405020304" pitchFamily="18" charset="0"/>
                <a:cs typeface="Times New Roman" panose="02020603050405020304" pitchFamily="18" charset="0"/>
                <a:sym typeface="Arial"/>
              </a:rPr>
              <a:t>Table : Performance of model through various epochs</a:t>
            </a:r>
            <a:endParaRPr sz="21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869170" y="5817450"/>
            <a:ext cx="11358384" cy="693098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386</TotalTime>
  <Words>538</Words>
  <Application>Microsoft Office PowerPoint</Application>
  <PresentationFormat>Custom</PresentationFormat>
  <Paragraphs>85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Dinesh Chowdary</dc:creator>
  <cp:lastModifiedBy>Dinesh Chowdary</cp:lastModifiedBy>
  <cp:revision>15</cp:revision>
  <dcterms:modified xsi:type="dcterms:W3CDTF">2024-11-17T19:51:47Z</dcterms:modified>
</cp:coreProperties>
</file>